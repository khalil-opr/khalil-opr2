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Visit</c:v>
                </c:pt>
              </c:strCache>
            </c:strRef>
          </c:tx>
          <c:spPr>
            <a:solidFill>
              <a:schemeClr val="accent1"/>
            </a:solidFill>
            <a:ln w="9525" cap="flat">
              <a:solidFill>
                <a:srgbClr val="F9F9F9"/>
              </a:solidFill>
              <a:prstDash val="solid"/>
              <a:round/>
            </a:ln>
            <a:effectLst/>
          </c:spPr>
          <c:dPt>
            <c:idx val="0"/>
            <c:bubble3D val="0"/>
            <c:spPr>
              <a:solidFill>
                <a:srgbClr val="4A3E33"/>
              </a:solidFill>
              <a:effectLst/>
            </c:spPr>
          </c:dPt>
          <c:dPt>
            <c:idx val="1"/>
            <c:bubble3D val="0"/>
            <c:spPr>
              <a:solidFill>
                <a:srgbClr val="C8923C"/>
              </a:solidFill>
              <a:effectLst/>
            </c:spPr>
          </c:dPt>
          <c:dPt>
            <c:idx val="2"/>
            <c:bubble3D val="0"/>
            <c:spPr>
              <a:solidFill>
                <a:srgbClr val="F2CD83"/>
              </a:solidFill>
              <a:effectLst/>
            </c:spPr>
          </c:dPt>
          <c:dLbls>
            <c:dLbl>
              <c:idx val="0"/>
              <c:numFmt formatCode="0%" sourceLinked="0"/>
              <c:spPr/>
              <c:txPr>
                <a:bodyPr/>
                <a:lstStyle/>
                <a:p>
                  <a:pPr>
                    <a:defRPr sz="1200" b="1" i="0" u="none" strike="noStrike">
                      <a:solidFill>
                        <a:srgbClr val="0D0A08"/>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0D0A08"/>
                      </a:solidFill>
                      <a:latin typeface="Arial"/>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0D0A08"/>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Waiting in lines</c:v>
                </c:pt>
                <c:pt idx="1">
                  <c:v>Forms, queues &amp; paperwork</c:v>
                </c:pt>
                <c:pt idx="2">
                  <c:v>With a doctor</c:v>
                </c:pt>
              </c:strCache>
            </c:strRef>
          </c:cat>
          <c:val>
            <c:numRef>
              <c:f>Sheet1!$B$2:$B$4</c:f>
              <c:numCache>
                <c:ptCount val="3"/>
                <c:pt idx="0">
                  <c:v>135</c:v>
                </c:pt>
                <c:pt idx="1">
                  <c:v>50</c:v>
                </c:pt>
                <c:pt idx="2">
                  <c:v>15</c:v>
                </c:pt>
              </c:numCache>
            </c:numRef>
          </c:val>
        </c:ser>
        <c:firstSliceAng val="0"/>
        <c:holeSize val="62"/>
      </c:doughnutChart>
      <c:spPr>
        <a:noFill/>
        <a:ln>
          <a:noFill/>
        </a:ln>
        <a:effectLst/>
      </c:spPr>
    </c:plotArea>
    <c:legend>
      <c:legendPos val="b"/>
      <c:overlay val="0"/>
      <c:txPr>
        <a:bodyPr/>
        <a:lstStyle/>
        <a:p>
          <a:pPr>
            <a:defRPr sz="1200">
              <a:solidFill>
                <a:srgbClr val="A89A86"/>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Normal day</c:v>
                </c:pt>
              </c:strCache>
            </c:strRef>
          </c:tx>
          <c:spPr>
            <a:solidFill>
              <a:srgbClr val="F2CD83"/>
            </a:solidFill>
            <a:effectLst/>
          </c:spPr>
          <c:invertIfNegative val="0"/>
          <c:dLbls>
            <c:numFmt formatCode="#,##0" sourceLinked="0"/>
            <c:txPr>
              <a:bodyPr/>
              <a:lstStyle/>
              <a:p>
                <a:pPr>
                  <a:defRPr b="0" i="0" strike="noStrike" sz="1100" u="none">
                    <a:solidFill>
                      <a:srgbClr val="EFE4D2"/>
                    </a:solidFill>
                    <a:latin typeface="Arial"/>
                  </a:defRPr>
                </a:pPr>
              </a:p>
            </c:txPr>
            <c:showLegendKey val="0"/>
            <c:showVal val="1"/>
            <c:showCatName val="0"/>
            <c:showSerName val="0"/>
            <c:showPercent val="0"/>
            <c:showBubbleSize val="0"/>
            <c:showLeaderLines val="0"/>
          </c:dLbls>
          <c:cat>
            <c:multiLvlStrRef>
              <c:f>Sheet1!$A$2:$A$7</c:f>
              <c:multiLvlStrCache>
                <c:ptCount val="6"/>
                <c:lvl>
                  <c:pt idx="0">
                    <c:v>Traditional</c:v>
                  </c:pt>
                  <c:pt idx="1">
                    <c:v>ChatGPT</c:v>
                  </c:pt>
                  <c:pt idx="2">
                    <c:v>Arena 1</c:v>
                  </c:pt>
                  <c:pt idx="3">
                    <c:v>Arena 2</c:v>
                  </c:pt>
                  <c:pt idx="4">
                    <c:v>Z.ai</c:v>
                  </c:pt>
                  <c:pt idx="5">
                    <c:v>Enhanced</c:v>
                  </c:pt>
                </c:lvl>
              </c:multiLvlStrCache>
            </c:multiLvlStrRef>
          </c:cat>
          <c:val>
            <c:numRef>
              <c:f>Sheet1!$B$2:$B$7</c:f>
              <c:numCache>
                <c:formatCode>General</c:formatCode>
                <c:ptCount val="6"/>
                <c:pt idx="0">
                  <c:v>200</c:v>
                </c:pt>
                <c:pt idx="1">
                  <c:v>118</c:v>
                </c:pt>
                <c:pt idx="2">
                  <c:v>81</c:v>
                </c:pt>
                <c:pt idx="3">
                  <c:v>45</c:v>
                </c:pt>
                <c:pt idx="4">
                  <c:v>47</c:v>
                </c:pt>
                <c:pt idx="5">
                  <c:v>45</c:v>
                </c:pt>
              </c:numCache>
            </c:numRef>
          </c:val>
        </c:ser>
        <c:ser>
          <c:idx val="1"/>
          <c:order val="1"/>
          <c:tx>
            <c:strRef>
              <c:f>Sheet1!$C$1</c:f>
              <c:strCache>
                <c:ptCount val="1"/>
                <c:pt idx="0">
                  <c:v>Busy day</c:v>
                </c:pt>
              </c:strCache>
            </c:strRef>
          </c:tx>
          <c:spPr>
            <a:solidFill>
              <a:srgbClr val="5A4C3E"/>
            </a:solidFill>
            <a:effectLst/>
          </c:spPr>
          <c:invertIfNegative val="0"/>
          <c:dLbls>
            <c:numFmt formatCode="#,##0" sourceLinked="0"/>
            <c:txPr>
              <a:bodyPr/>
              <a:lstStyle/>
              <a:p>
                <a:pPr>
                  <a:defRPr b="0" i="0" strike="noStrike" sz="1100" u="none">
                    <a:solidFill>
                      <a:srgbClr val="EFE4D2"/>
                    </a:solidFill>
                    <a:latin typeface="Arial"/>
                  </a:defRPr>
                </a:pPr>
              </a:p>
            </c:txPr>
            <c:showLegendKey val="0"/>
            <c:showVal val="1"/>
            <c:showCatName val="0"/>
            <c:showSerName val="0"/>
            <c:showPercent val="0"/>
            <c:showBubbleSize val="0"/>
            <c:showLeaderLines val="0"/>
          </c:dLbls>
          <c:cat>
            <c:multiLvlStrRef>
              <c:f>Sheet1!$A$2:$A$7</c:f>
              <c:multiLvlStrCache>
                <c:ptCount val="6"/>
                <c:lvl>
                  <c:pt idx="0">
                    <c:v>Traditional</c:v>
                  </c:pt>
                  <c:pt idx="1">
                    <c:v>ChatGPT</c:v>
                  </c:pt>
                  <c:pt idx="2">
                    <c:v>Arena 1</c:v>
                  </c:pt>
                  <c:pt idx="3">
                    <c:v>Arena 2</c:v>
                  </c:pt>
                  <c:pt idx="4">
                    <c:v>Z.ai</c:v>
                  </c:pt>
                  <c:pt idx="5">
                    <c:v>Enhanced</c:v>
                  </c:pt>
                </c:lvl>
              </c:multiLvlStrCache>
            </c:multiLvlStrRef>
          </c:cat>
          <c:val>
            <c:numRef>
              <c:f>Sheet1!$C$2:$C$7</c:f>
              <c:numCache>
                <c:formatCode>General</c:formatCode>
                <c:ptCount val="6"/>
                <c:pt idx="0">
                  <c:v>290</c:v>
                </c:pt>
                <c:pt idx="1">
                  <c:v>170</c:v>
                </c:pt>
                <c:pt idx="2">
                  <c:v>115</c:v>
                </c:pt>
                <c:pt idx="3">
                  <c:v>95</c:v>
                </c:pt>
                <c:pt idx="4">
                  <c:v>60</c:v>
                </c:pt>
                <c:pt idx="5">
                  <c:v>55</c:v>
                </c:pt>
              </c:numCache>
            </c:numRef>
          </c:val>
        </c:ser>
        <c:dLbls>
          <c:numFmt formatCode="#,##0" sourceLinked="0"/>
          <c:txPr>
            <a:bodyPr/>
            <a:lstStyle/>
            <a:p>
              <a:pPr>
                <a:defRPr b="0" i="0" strike="noStrike" sz="1100" u="none">
                  <a:solidFill>
                    <a:srgbClr val="EFE4D2"/>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89A86"/>
                </a:solidFill>
                <a:latin typeface="Arial"/>
              </a:defRPr>
            </a:pPr>
            <a:endParaRPr lang="en-US"/>
          </a:p>
        </c:txPr>
        <c:crossAx val="2094734552"/>
        <c:crosses val="autoZero"/>
        <c:auto val="1"/>
        <c:lblAlgn val="ctr"/>
        <c:noMultiLvlLbl val="1"/>
      </c:catAx>
      <c:valAx>
        <c:axId val="2094734552"/>
        <c:scaling>
          <c:orientation val="minMax"/>
          <c:max val="300"/>
        </c:scaling>
        <c:delete val="0"/>
        <c:axPos val="l"/>
        <c:majorGridlines>
          <c:spPr>
            <a:ln w="6350" cap="flat">
              <a:solidFill>
                <a:srgbClr val="2A221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E6253"/>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A89A86"/>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Assalam o Alaikum. Aaj main ek AI-assisted hospital workflow present karunga jiska naam hai "Smart Patient Flow". Aam hospital mein ek patient ko taqreeban 200 minute lag jate hain. Is workflow se ye time taqreeban 45 minute reh jata hai. Sab se important baat: har medical faisla doctor hi karega, AI sirf kaam tez karta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Pehle problem samajhte hain. Aam hospital mein 200 minute mein se sirf 15 minute patient doctor ke saath hota hai. Baqi 185 minute lines, forms aur intezar mein chale jate hain. Wajah ye hai ke har kaam ek ke baad ek hota hai: pehle registration, phir triage, phir doctor, phir lab, phir dobara doctor. Ye numbers andaze hain, asal hospital data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hamara question hai. Hospital ne teen cheezen maangi hain: waiting time kam karna, ek step jahan AI khud decision le, aur ek step jahan human doctor zaroori ho. Poori presentation mein main dikhaunga ke hamara workflow teeno cheezen kaise poori karta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Maine same question chaar AI tools ko diya: ChatGPT, Arena ke do models aur Z.ai. ChatGPT simple tha lekin purana tareeqa zyada tha. Arena 1 detailed tha lekin us mein ek labelling ki ghalti thi. Arena 2 sab se tez idea tha lekin us mein safety check nahi tha. Z.ai sab se balanced tha, is liye maine usay base banaya aur baqi teeno ki achi cheezen us mein shamil 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chart har model ka time dikhata hai. Gold bar normal din hai aur grey bar rush wala din. Normal din par Arena 2 aur hamara Enhanced version dono 45 minute par hain. Lekin rush wale din Arena 2 95 minute tak chala jata hai kyun ke us mein staff ki advance planning nahi hai. Enhanced version rush mein bhi sirf 55 minute leta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Poore workflow ka asal idea ek line mein hai: AI queue sambhalta hai, doctor care karta hai. Jo kaam tez, repetitive aur rules par chalte hain, jaise sorting, scheduling aur paperwork, wo AI karta hai. Jo kaam judgement aur zimmedari maangte hain, jaise diagnosis aur treatment, wo sirf doctor karta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poora workflow ek nazar mein hai: 8 steps. Pehle do steps patient ke aane se pehle hote hain, is liye hospital mein un ka time zero hai. Step 3 se 7 tak hospital ke andar taqreeban 45 minute lagte hain. Step 8 patient ke jane ke baad hota hai. Step 4 mein AI decision leta hai aur step 6 mein doctor, yahi hamari do requirements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aur 2 patient ke aane se pehle hote hain. Step 1 mein AI purane data aur season ko dekh kar batata hai ke kal kitne patient aayenge, taake utne hi doctor duty par hon. Roster management approve karti hai. Step 2 mein patient ghar se hi app ya WhatsApp par apni details bhar deta hai. Jis ke paas smartphone nahi, us ki help desk madad karta hai. Hospital mein in dono ka time zero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hamara pehla required step hai: jahan AI khud decision leta hai. Patient 2 minute mein check-in karta hai kyun ke form pehle se bhara hua hai. Phir AI ek minute se kam mein faisla karta hai ke patient Emergency hai, Urgent hai ya Routine. Misaal: chest pain wala foran, high fever wala jaldi, aur halka rash wala normal line mein. AI queue position, doctor, room bhi decide karta hai aur patient ke phone par wait time bhej deta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decision leta hai lekin kabhi akela nahi. Agar case emergency hai, ya AI ko yaqeen nahi, to foran nurse ya doctor case sambhal leta hai. Warna normal flow chalta rehta hai. Staff kisi bhi waqt AI ka faisla badal sakta hai. Agar intezar ke dauran tabiyat bigre to AI patient ko aage kar deta hai. Aur har mahine AI ki ghaltiyan check hoti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sab se bara time saver hai. Purane tareeqe mein har kaam ek ke baad ek hota hai: doctor ka intezar, doctor, phir lab, phir dobara intezar, phir doctor. Ye 120 minute ban jate hain. Naye tareeqe mein patient jab intezar kar raha hota hai, usi waqt test bhi ho raha hota hai. Doctor aata hai to report pehle se ready hoti hai. Sirf 40 minute, yani 80 minute ki bachat. Ye sirf un tests ke liye hai jo hospital ne pehle se approve kiye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hamara doosra required step hai: jahan human doctor zaroori hai. Doctor patient ko examine karta hai, final diagnosis karta hai aur treatment decide karta hai. AI sirf summary aur report ready rakhta hai, us ke mashware sirf advice hain. Ye insaan hi kyun kare? Chaar wajah: clinical judgement, zimmedari, hamdardi, aur patient ki razamandi. Ye cheezen AI nahi de sakta.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mein doctor ke approve karte hi AI discharge note banata hai, prescription pharmacy bhejta hai aur follow-up book kar deta hai. Sirf 3 minute. Room khali hote hi agla patient bula liya jata hai. Step 8 patient ke ghar jane ke baad hota hai: dawai ki reminders, aur agar koi pareshani wala jawab aaye to staff ko alert. Har case se AI seekhta hai aur behtar hota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poora flowchart hai. Upar se neeche parhein. Teal boxes AI ke steps hain, orange box doctor ka step hai, red branch emergency ka rasta hai jahan insaan foran aata hai, aur dashed lines feedback loops hain. Hospital ke andar kul time: 2 jama 30 jama 10 jama 3, yani taqreeban 45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Nateeja: normal din 200 se 45 minute, rush wale din 290 se 55 minute. Yani taqreeban 78 percent kam time. Sab se zyada bachat alag test ke chakkar mein hoti hai, jo ab bilkul khatam ho gaya kyun ke test intezar ke dauran hi ho jata hai. Ye sab andaze hain, asal hospital data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Hospital ke liye fayde: staff demand ke hisaab se, koi room khali nahi rehta, doctor paperwork se free, aur test ke liye doosri line nahi. Patient ke liye fayde: sab se beemar patient pehle, phone par live wait time, reminders ki wajah se kam missed appointments, aur recovery mein koi masla ho to jaldi pakra jata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system tab hi kaam karega jab kuch guardrails hon: patient data ki privacy, records, lab aur pharmacy ka connected hona, system down ho to manual backup, aur staff training ke saath har mahine audit. Kamyabi napne ke liye paanch KPIs: doctor tak pohanchne ka time, hospital mein kul time, missed appointments, AI triage ki accuracy, aur patient satisfaction.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Aakhir mein ek line: AI queue sambhalta hai, doctor care karta hai. Is se intezar kam hota hai, faisle safe rehte hain, aur har patient ko doctor ka zyada waqt milta hai. Shukriya, ab agar koi sawal ho to poochiye.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jp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5-1.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A08"/>
        </a:solidFill>
      </p:bgPr>
    </p:bg>
    <p:spTree>
      <p:nvGrpSpPr>
        <p:cNvPr id="1" name=""/>
        <p:cNvGrpSpPr/>
        <p:nvPr/>
      </p:nvGrpSpPr>
      <p:grpSpPr>
        <a:xfrm>
          <a:off x="0" y="0"/>
          <a:ext cx="0" cy="0"/>
          <a:chOff x="0" y="0"/>
          <a:chExt cx="0" cy="0"/>
        </a:xfrm>
      </p:grpSpPr>
      <p:pic>
        <p:nvPicPr>
          <p:cNvPr id="2" name="Image 0" descr="bg/titl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109728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AI IN HEALTHCARE  ·  CASE PRESENTATION</a:t>
            </a:r>
            <a:endParaRPr lang="en-US" sz="1200" dirty="0"/>
          </a:p>
        </p:txBody>
      </p:sp>
      <p:sp>
        <p:nvSpPr>
          <p:cNvPr id="4" name="Text 1"/>
          <p:cNvSpPr txBox="1"/>
          <p:nvPr/>
        </p:nvSpPr>
        <p:spPr>
          <a:xfrm>
            <a:off x="640080" y="1554480"/>
            <a:ext cx="6858000" cy="2377440"/>
          </a:xfrm>
          <a:prstGeom prst="rect">
            <a:avLst/>
          </a:prstGeom>
          <a:noFill/>
          <a:ln/>
        </p:spPr>
        <p:txBody>
          <a:bodyPr wrap="square" lIns="0" tIns="0" rIns="0" bIns="0" rtlCol="0" anchor="t"/>
          <a:lstStyle/>
          <a:p>
            <a:pPr indent="0" marL="0">
              <a:lnSpc>
                <a:spcPct val="95000"/>
              </a:lnSpc>
              <a:buNone/>
            </a:pPr>
            <a:r>
              <a:rPr lang="en-US" sz="7200" b="1" dirty="0">
                <a:solidFill>
                  <a:srgbClr val="EFE4D2"/>
                </a:solidFill>
                <a:latin typeface="Cambria" pitchFamily="34" charset="0"/>
                <a:ea typeface="Cambria" pitchFamily="34" charset="-122"/>
                <a:cs typeface="Cambria" pitchFamily="34" charset="-120"/>
              </a:rPr>
              <a:t>Smart Patient</a:t>
            </a:r>
            <a:endParaRPr lang="en-US" sz="7200" dirty="0"/>
          </a:p>
          <a:p>
            <a:pPr indent="0" marL="0">
              <a:lnSpc>
                <a:spcPct val="95000"/>
              </a:lnSpc>
              <a:buNone/>
            </a:pPr>
            <a:r>
              <a:rPr lang="en-US" sz="7200" b="1" i="1" dirty="0">
                <a:solidFill>
                  <a:srgbClr val="F2CD83"/>
                </a:solidFill>
                <a:latin typeface="Cambria" pitchFamily="34" charset="0"/>
                <a:ea typeface="Cambria" pitchFamily="34" charset="-122"/>
                <a:cs typeface="Cambria" pitchFamily="34" charset="-120"/>
              </a:rPr>
              <a:t>Flow.</a:t>
            </a:r>
            <a:endParaRPr lang="en-US" sz="7200" dirty="0"/>
          </a:p>
        </p:txBody>
      </p:sp>
      <p:sp>
        <p:nvSpPr>
          <p:cNvPr id="5" name="Text 2"/>
          <p:cNvSpPr txBox="1"/>
          <p:nvPr/>
        </p:nvSpPr>
        <p:spPr>
          <a:xfrm>
            <a:off x="640080" y="4069080"/>
            <a:ext cx="6035040" cy="1005840"/>
          </a:xfrm>
          <a:prstGeom prst="rect">
            <a:avLst/>
          </a:prstGeom>
          <a:noFill/>
          <a:ln/>
        </p:spPr>
        <p:txBody>
          <a:bodyPr wrap="square" lIns="0" tIns="0" rIns="0" bIns="0" rtlCol="0" anchor="t"/>
          <a:lstStyle/>
          <a:p>
            <a:pPr indent="0" marL="0">
              <a:lnSpc>
                <a:spcPct val="115000"/>
              </a:lnSpc>
              <a:buNone/>
            </a:pPr>
            <a:r>
              <a:rPr lang="en-US" sz="1800" dirty="0">
                <a:solidFill>
                  <a:srgbClr val="A89A86"/>
                </a:solidFill>
                <a:latin typeface="Calibri" pitchFamily="34" charset="0"/>
                <a:ea typeface="Calibri" pitchFamily="34" charset="-122"/>
                <a:cs typeface="Calibri" pitchFamily="34" charset="-120"/>
              </a:rPr>
              <a:t>An AI-assisted hospital workflow that cuts a patient’s visit from about 200 minutes to about 45 — while doctors stay in charge of every medical decision.</a:t>
            </a:r>
            <a:endParaRPr lang="en-US" sz="1800" dirty="0"/>
          </a:p>
        </p:txBody>
      </p:sp>
      <p:sp>
        <p:nvSpPr>
          <p:cNvPr id="6" name="Text 3"/>
          <p:cNvSpPr txBox="1"/>
          <p:nvPr/>
        </p:nvSpPr>
        <p:spPr>
          <a:xfrm>
            <a:off x="640080" y="5852160"/>
            <a:ext cx="4572000" cy="320040"/>
          </a:xfrm>
          <a:prstGeom prst="rect">
            <a:avLst/>
          </a:prstGeom>
          <a:noFill/>
          <a:ln/>
        </p:spPr>
        <p:txBody>
          <a:bodyPr wrap="square" lIns="0" tIns="0" rIns="0" bIns="0" rtlCol="0" anchor="t"/>
          <a:lstStyle/>
          <a:p>
            <a:pPr indent="0" marL="0">
              <a:buNone/>
            </a:pPr>
            <a:r>
              <a:rPr lang="en-US" sz="1400" b="1" dirty="0">
                <a:solidFill>
                  <a:srgbClr val="EFE4D2"/>
                </a:solidFill>
                <a:latin typeface="Calibri" pitchFamily="34" charset="0"/>
                <a:ea typeface="Calibri" pitchFamily="34" charset="-122"/>
                <a:cs typeface="Calibri" pitchFamily="34" charset="-120"/>
              </a:rPr>
              <a:t>Presented by Faraz</a:t>
            </a:r>
            <a:endParaRPr lang="en-US" sz="1400" dirty="0"/>
          </a:p>
        </p:txBody>
      </p:sp>
      <p:sp>
        <p:nvSpPr>
          <p:cNvPr id="7" name="Text 4"/>
          <p:cNvSpPr txBox="1"/>
          <p:nvPr/>
        </p:nvSpPr>
        <p:spPr>
          <a:xfrm>
            <a:off x="7955280" y="1737360"/>
            <a:ext cx="3474720" cy="274320"/>
          </a:xfrm>
          <a:prstGeom prst="rect">
            <a:avLst/>
          </a:prstGeom>
          <a:noFill/>
          <a:ln/>
        </p:spPr>
        <p:txBody>
          <a:bodyPr wrap="square" lIns="0" tIns="0" rIns="0" bIns="0" rtlCol="0" anchor="t"/>
          <a:lstStyle/>
          <a:p>
            <a:pPr indent="0" marL="0">
              <a:buNone/>
            </a:pPr>
            <a:r>
              <a:rPr lang="en-US" sz="1200" b="1" spc="400" kern="0" dirty="0">
                <a:solidFill>
                  <a:srgbClr val="6E6253"/>
                </a:solidFill>
                <a:latin typeface="Calibri" pitchFamily="34" charset="0"/>
                <a:ea typeface="Calibri" pitchFamily="34" charset="-122"/>
                <a:cs typeface="Calibri" pitchFamily="34" charset="-120"/>
              </a:rPr>
              <a:t>TODAY</a:t>
            </a:r>
            <a:endParaRPr lang="en-US" sz="1200" dirty="0"/>
          </a:p>
        </p:txBody>
      </p:sp>
      <p:sp>
        <p:nvSpPr>
          <p:cNvPr id="8" name="Text 5"/>
          <p:cNvSpPr txBox="1"/>
          <p:nvPr/>
        </p:nvSpPr>
        <p:spPr>
          <a:xfrm>
            <a:off x="7955280" y="2011680"/>
            <a:ext cx="3474720" cy="731520"/>
          </a:xfrm>
          <a:prstGeom prst="rect">
            <a:avLst/>
          </a:prstGeom>
          <a:noFill/>
          <a:ln/>
        </p:spPr>
        <p:txBody>
          <a:bodyPr wrap="square" lIns="0" tIns="0" rIns="0" bIns="0" rtlCol="0" anchor="t"/>
          <a:lstStyle/>
          <a:p>
            <a:pPr indent="0" marL="0">
              <a:buNone/>
            </a:pPr>
            <a:r>
              <a:rPr lang="en-US" sz="4000" b="1" strike="sngStrike" dirty="0">
                <a:solidFill>
                  <a:srgbClr val="6E6253"/>
                </a:solidFill>
                <a:latin typeface="Cambria" pitchFamily="34" charset="0"/>
                <a:ea typeface="Cambria" pitchFamily="34" charset="-122"/>
                <a:cs typeface="Cambria" pitchFamily="34" charset="-120"/>
              </a:rPr>
              <a:t>200 min</a:t>
            </a:r>
            <a:endParaRPr lang="en-US" sz="4000" dirty="0"/>
          </a:p>
        </p:txBody>
      </p:sp>
      <p:sp>
        <p:nvSpPr>
          <p:cNvPr id="9" name="Text 6"/>
          <p:cNvSpPr txBox="1"/>
          <p:nvPr/>
        </p:nvSpPr>
        <p:spPr>
          <a:xfrm>
            <a:off x="7955280" y="3063240"/>
            <a:ext cx="384048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WITH SMART PATIENT FLOW</a:t>
            </a:r>
            <a:endParaRPr lang="en-US" sz="1200" dirty="0"/>
          </a:p>
        </p:txBody>
      </p:sp>
      <p:sp>
        <p:nvSpPr>
          <p:cNvPr id="10" name="Text 7"/>
          <p:cNvSpPr txBox="1"/>
          <p:nvPr/>
        </p:nvSpPr>
        <p:spPr>
          <a:xfrm>
            <a:off x="7863840" y="3246120"/>
            <a:ext cx="4023360" cy="1737360"/>
          </a:xfrm>
          <a:prstGeom prst="rect">
            <a:avLst/>
          </a:prstGeom>
          <a:noFill/>
          <a:ln/>
        </p:spPr>
        <p:txBody>
          <a:bodyPr wrap="square" lIns="0" tIns="0" rIns="0" bIns="0" rtlCol="0" anchor="t"/>
          <a:lstStyle/>
          <a:p>
            <a:pPr indent="0" marL="0">
              <a:buNone/>
            </a:pPr>
            <a:r>
              <a:rPr lang="en-US" sz="11000" b="1" i="1" dirty="0">
                <a:solidFill>
                  <a:srgbClr val="F2CD83"/>
                </a:solidFill>
                <a:latin typeface="Cambria" pitchFamily="34" charset="0"/>
                <a:ea typeface="Cambria" pitchFamily="34" charset="-122"/>
                <a:cs typeface="Cambria" pitchFamily="34" charset="-120"/>
              </a:rPr>
              <a:t>45</a:t>
            </a:r>
            <a:pPr indent="0" marL="0">
              <a:buNone/>
            </a:pPr>
            <a:r>
              <a:rPr lang="en-US" sz="4000" b="1" i="1" dirty="0">
                <a:solidFill>
                  <a:srgbClr val="F2CD83"/>
                </a:solidFill>
                <a:latin typeface="Cambria" pitchFamily="34" charset="0"/>
                <a:ea typeface="Cambria" pitchFamily="34" charset="-122"/>
                <a:cs typeface="Cambria" pitchFamily="34" charset="-120"/>
              </a:rPr>
              <a:t> min</a:t>
            </a:r>
            <a:endParaRPr lang="en-US" sz="1100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A08"/>
        </a:solidFill>
      </p:bgPr>
    </p:bg>
    <p:spTree>
      <p:nvGrpSpPr>
        <p:cNvPr id="1" name=""/>
        <p:cNvGrpSpPr/>
        <p:nvPr/>
      </p:nvGrpSpPr>
      <p:grpSpPr>
        <a:xfrm>
          <a:off x="0" y="0"/>
          <a:ext cx="0" cy="0"/>
          <a:chOff x="0" y="0"/>
          <a:chExt cx="0" cy="0"/>
        </a:xfrm>
      </p:grpSpPr>
      <p:pic>
        <p:nvPicPr>
          <p:cNvPr id="2" name="Image 0" descr="bg/bl.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02</a:t>
            </a:r>
            <a:endParaRPr lang="en-US" sz="900" dirty="0"/>
          </a:p>
        </p:txBody>
      </p:sp>
      <p:sp>
        <p:nvSpPr>
          <p:cNvPr id="4" name="Text 1"/>
          <p:cNvSpPr txBox="1"/>
          <p:nvPr/>
        </p:nvSpPr>
        <p:spPr>
          <a:xfrm>
            <a:off x="7863840" y="3017520"/>
            <a:ext cx="4114800" cy="3840480"/>
          </a:xfrm>
          <a:prstGeom prst="rect">
            <a:avLst/>
          </a:prstGeom>
          <a:noFill/>
          <a:ln/>
        </p:spPr>
        <p:txBody>
          <a:bodyPr wrap="square" lIns="0" tIns="0" rIns="0" bIns="0" rtlCol="0" anchor="t"/>
          <a:lstStyle/>
          <a:p>
            <a:pPr algn="r" indent="0" marL="0">
              <a:buNone/>
            </a:pPr>
            <a:r>
              <a:rPr lang="en-US" sz="25000" b="1" i="1" dirty="0">
                <a:solidFill>
                  <a:srgbClr val="1C1611"/>
                </a:solidFill>
                <a:latin typeface="Cambria" pitchFamily="34" charset="0"/>
                <a:ea typeface="Cambria" pitchFamily="34" charset="-122"/>
                <a:cs typeface="Cambria" pitchFamily="34" charset="-120"/>
              </a:rPr>
              <a:t>01</a:t>
            </a:r>
            <a:endParaRPr lang="en-US" sz="25000" dirty="0"/>
          </a:p>
        </p:txBody>
      </p:sp>
      <p:sp>
        <p:nvSpPr>
          <p:cNvPr id="5" name="Text 2"/>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01  ·  THE PROBLEM</a:t>
            </a:r>
            <a:endParaRPr lang="en-US" sz="1200" dirty="0"/>
          </a:p>
        </p:txBody>
      </p:sp>
      <p:sp>
        <p:nvSpPr>
          <p:cNvPr id="6" name="Text 3"/>
          <p:cNvSpPr txBox="1"/>
          <p:nvPr/>
        </p:nvSpPr>
        <p:spPr>
          <a:xfrm>
            <a:off x="640080" y="868680"/>
            <a:ext cx="10515600" cy="118872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Patients spend hours. Doctors see them for </a:t>
            </a:r>
            <a:pPr indent="0" marL="0">
              <a:buNone/>
            </a:pPr>
            <a:r>
              <a:rPr lang="en-US" sz="3800" b="1" i="1" dirty="0">
                <a:solidFill>
                  <a:srgbClr val="F2CD83"/>
                </a:solidFill>
                <a:latin typeface="Cambria" pitchFamily="34" charset="0"/>
                <a:ea typeface="Cambria" pitchFamily="34" charset="-122"/>
                <a:cs typeface="Cambria" pitchFamily="34" charset="-120"/>
              </a:rPr>
              <a:t>minutes.</a:t>
            </a:r>
            <a:endParaRPr lang="en-US" sz="3800" dirty="0"/>
          </a:p>
        </p:txBody>
      </p:sp>
      <p:graphicFrame>
        <p:nvGraphicFramePr>
          <p:cNvPr id="7" name="Chart 0" descr=""/>
          <p:cNvGraphicFramePr/>
          <p:nvPr/>
        </p:nvGraphicFramePr>
        <p:xfrm>
          <a:off x="457200" y="2103120"/>
          <a:ext cx="4754880" cy="384048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5852160" y="2103120"/>
            <a:ext cx="5486400" cy="1371600"/>
          </a:xfrm>
          <a:prstGeom prst="rect">
            <a:avLst/>
          </a:prstGeom>
          <a:noFill/>
          <a:ln/>
        </p:spPr>
        <p:txBody>
          <a:bodyPr wrap="square" lIns="0" tIns="0" rIns="0" bIns="0" rtlCol="0" anchor="t"/>
          <a:lstStyle/>
          <a:p>
            <a:pPr indent="0" marL="0">
              <a:buNone/>
            </a:pPr>
            <a:r>
              <a:rPr lang="en-US" sz="9600" b="1" i="1" dirty="0">
                <a:solidFill>
                  <a:srgbClr val="F2CD83"/>
                </a:solidFill>
                <a:latin typeface="Cambria" pitchFamily="34" charset="0"/>
                <a:ea typeface="Cambria" pitchFamily="34" charset="-122"/>
                <a:cs typeface="Cambria" pitchFamily="34" charset="-120"/>
              </a:rPr>
              <a:t>15</a:t>
            </a:r>
            <a:pPr indent="0" marL="0">
              <a:buNone/>
            </a:pPr>
            <a:r>
              <a:rPr lang="en-US" sz="4000" b="1" dirty="0">
                <a:solidFill>
                  <a:srgbClr val="A89A86"/>
                </a:solidFill>
                <a:latin typeface="Cambria" pitchFamily="34" charset="0"/>
                <a:ea typeface="Cambria" pitchFamily="34" charset="-122"/>
                <a:cs typeface="Cambria" pitchFamily="34" charset="-120"/>
              </a:rPr>
              <a:t> / 200</a:t>
            </a:r>
            <a:endParaRPr lang="en-US" sz="9600" dirty="0"/>
          </a:p>
        </p:txBody>
      </p:sp>
      <p:sp>
        <p:nvSpPr>
          <p:cNvPr id="9" name="Text 5"/>
          <p:cNvSpPr txBox="1"/>
          <p:nvPr/>
        </p:nvSpPr>
        <p:spPr>
          <a:xfrm>
            <a:off x="5852160" y="3520440"/>
            <a:ext cx="5303520" cy="731520"/>
          </a:xfrm>
          <a:prstGeom prst="rect">
            <a:avLst/>
          </a:prstGeom>
          <a:noFill/>
          <a:ln/>
        </p:spPr>
        <p:txBody>
          <a:bodyPr wrap="square" lIns="0" tIns="0" rIns="0" bIns="0" rtlCol="0" anchor="t"/>
          <a:lstStyle/>
          <a:p>
            <a:pPr indent="0" marL="0">
              <a:buNone/>
            </a:pPr>
            <a:r>
              <a:rPr lang="en-US" sz="1800" dirty="0">
                <a:solidFill>
                  <a:srgbClr val="EFE4D2"/>
                </a:solidFill>
                <a:latin typeface="Calibri" pitchFamily="34" charset="0"/>
                <a:ea typeface="Calibri" pitchFamily="34" charset="-122"/>
                <a:cs typeface="Calibri" pitchFamily="34" charset="-120"/>
              </a:rPr>
              <a:t>minutes of a typical visit are spent with the doctor. The rest is waiting.</a:t>
            </a:r>
            <a:endParaRPr lang="en-US" sz="1800" dirty="0"/>
          </a:p>
        </p:txBody>
      </p:sp>
      <p:sp>
        <p:nvSpPr>
          <p:cNvPr id="10" name="Shape 6"/>
          <p:cNvSpPr/>
          <p:nvPr/>
        </p:nvSpPr>
        <p:spPr>
          <a:xfrm>
            <a:off x="5852160" y="4343400"/>
            <a:ext cx="438912" cy="438912"/>
          </a:xfrm>
          <a:prstGeom prst="ellipse">
            <a:avLst/>
          </a:prstGeom>
          <a:solidFill>
            <a:srgbClr val="241C16"/>
          </a:solidFill>
          <a:ln w="15875">
            <a:solidFill>
              <a:srgbClr val="F2CD83"/>
            </a:solidFill>
            <a:prstDash val="solid"/>
          </a:ln>
        </p:spPr>
      </p:sp>
      <p:pic>
        <p:nvPicPr>
          <p:cNvPr id="11" name="Image 1" descr="preencoded.png">    </p:cNvPr>
          <p:cNvPicPr>
            <a:picLocks noChangeAspect="1"/>
          </p:cNvPicPr>
          <p:nvPr/>
        </p:nvPicPr>
        <p:blipFill>
          <a:blip r:embed="rId3"/>
          <a:stretch>
            <a:fillRect/>
          </a:stretch>
        </p:blipFill>
        <p:spPr>
          <a:xfrm>
            <a:off x="5961888" y="4453128"/>
            <a:ext cx="219456" cy="219456"/>
          </a:xfrm>
          <a:prstGeom prst="rect">
            <a:avLst/>
          </a:prstGeom>
        </p:spPr>
      </p:pic>
      <p:sp>
        <p:nvSpPr>
          <p:cNvPr id="12" name="Text 7"/>
          <p:cNvSpPr txBox="1"/>
          <p:nvPr/>
        </p:nvSpPr>
        <p:spPr>
          <a:xfrm>
            <a:off x="6446520" y="4416552"/>
            <a:ext cx="5029200" cy="365760"/>
          </a:xfrm>
          <a:prstGeom prst="rect">
            <a:avLst/>
          </a:prstGeom>
          <a:noFill/>
          <a:ln/>
        </p:spPr>
        <p:txBody>
          <a:bodyPr wrap="square" lIns="0" tIns="0" rIns="0" bIns="0" rtlCol="0" anchor="t"/>
          <a:lstStyle/>
          <a:p>
            <a:pPr indent="0" marL="0">
              <a:buNone/>
            </a:pPr>
            <a:r>
              <a:rPr lang="en-US" sz="1400" dirty="0">
                <a:solidFill>
                  <a:srgbClr val="A89A86"/>
                </a:solidFill>
                <a:latin typeface="Calibri" pitchFamily="34" charset="0"/>
                <a:ea typeface="Calibri" pitchFamily="34" charset="-122"/>
                <a:cs typeface="Calibri" pitchFamily="34" charset="-120"/>
              </a:rPr>
              <a:t>Long queues at every step: registration, triage, doctor, lab.</a:t>
            </a:r>
            <a:endParaRPr lang="en-US" sz="1400" dirty="0"/>
          </a:p>
        </p:txBody>
      </p:sp>
      <p:sp>
        <p:nvSpPr>
          <p:cNvPr id="13" name="Shape 8"/>
          <p:cNvSpPr/>
          <p:nvPr/>
        </p:nvSpPr>
        <p:spPr>
          <a:xfrm>
            <a:off x="5852160" y="4910328"/>
            <a:ext cx="438912" cy="438912"/>
          </a:xfrm>
          <a:prstGeom prst="ellipse">
            <a:avLst/>
          </a:prstGeom>
          <a:solidFill>
            <a:srgbClr val="241C16"/>
          </a:solidFill>
          <a:ln w="15875">
            <a:solidFill>
              <a:srgbClr val="F2CD83"/>
            </a:solidFill>
            <a:prstDash val="solid"/>
          </a:ln>
        </p:spPr>
      </p:sp>
      <p:pic>
        <p:nvPicPr>
          <p:cNvPr id="14" name="Image 2" descr="preencoded.png">    </p:cNvPr>
          <p:cNvPicPr>
            <a:picLocks noChangeAspect="1"/>
          </p:cNvPicPr>
          <p:nvPr/>
        </p:nvPicPr>
        <p:blipFill>
          <a:blip r:embed="rId4"/>
          <a:stretch>
            <a:fillRect/>
          </a:stretch>
        </p:blipFill>
        <p:spPr>
          <a:xfrm>
            <a:off x="5961888" y="5020056"/>
            <a:ext cx="219456" cy="219456"/>
          </a:xfrm>
          <a:prstGeom prst="rect">
            <a:avLst/>
          </a:prstGeom>
        </p:spPr>
      </p:pic>
      <p:sp>
        <p:nvSpPr>
          <p:cNvPr id="15" name="Text 9"/>
          <p:cNvSpPr txBox="1"/>
          <p:nvPr/>
        </p:nvSpPr>
        <p:spPr>
          <a:xfrm>
            <a:off x="6446520" y="4983480"/>
            <a:ext cx="5029200" cy="365760"/>
          </a:xfrm>
          <a:prstGeom prst="rect">
            <a:avLst/>
          </a:prstGeom>
          <a:noFill/>
          <a:ln/>
        </p:spPr>
        <p:txBody>
          <a:bodyPr wrap="square" lIns="0" tIns="0" rIns="0" bIns="0" rtlCol="0" anchor="t"/>
          <a:lstStyle/>
          <a:p>
            <a:pPr indent="0" marL="0">
              <a:buNone/>
            </a:pPr>
            <a:r>
              <a:rPr lang="en-US" sz="1400" dirty="0">
                <a:solidFill>
                  <a:srgbClr val="A89A86"/>
                </a:solidFill>
                <a:latin typeface="Calibri" pitchFamily="34" charset="0"/>
                <a:ea typeface="Calibri" pitchFamily="34" charset="-122"/>
                <a:cs typeface="Calibri" pitchFamily="34" charset="-120"/>
              </a:rPr>
              <a:t>Everything happens one after another, never together.</a:t>
            </a:r>
            <a:endParaRPr lang="en-US" sz="1400" dirty="0"/>
          </a:p>
        </p:txBody>
      </p:sp>
      <p:sp>
        <p:nvSpPr>
          <p:cNvPr id="16" name="Shape 10"/>
          <p:cNvSpPr/>
          <p:nvPr/>
        </p:nvSpPr>
        <p:spPr>
          <a:xfrm>
            <a:off x="5852160" y="5477256"/>
            <a:ext cx="438912" cy="438912"/>
          </a:xfrm>
          <a:prstGeom prst="ellipse">
            <a:avLst/>
          </a:prstGeom>
          <a:solidFill>
            <a:srgbClr val="241C16"/>
          </a:solidFill>
          <a:ln w="15875">
            <a:solidFill>
              <a:srgbClr val="F2CD83"/>
            </a:solidFill>
            <a:prstDash val="solid"/>
          </a:ln>
        </p:spPr>
      </p:sp>
      <p:pic>
        <p:nvPicPr>
          <p:cNvPr id="17" name="Image 3" descr="preencoded.png">    </p:cNvPr>
          <p:cNvPicPr>
            <a:picLocks noChangeAspect="1"/>
          </p:cNvPicPr>
          <p:nvPr/>
        </p:nvPicPr>
        <p:blipFill>
          <a:blip r:embed="rId5"/>
          <a:stretch>
            <a:fillRect/>
          </a:stretch>
        </p:blipFill>
        <p:spPr>
          <a:xfrm>
            <a:off x="5961888" y="5586984"/>
            <a:ext cx="219456" cy="219456"/>
          </a:xfrm>
          <a:prstGeom prst="rect">
            <a:avLst/>
          </a:prstGeom>
        </p:spPr>
      </p:pic>
      <p:sp>
        <p:nvSpPr>
          <p:cNvPr id="18" name="Text 11"/>
          <p:cNvSpPr txBox="1"/>
          <p:nvPr/>
        </p:nvSpPr>
        <p:spPr>
          <a:xfrm>
            <a:off x="6446520" y="5550408"/>
            <a:ext cx="5029200" cy="365760"/>
          </a:xfrm>
          <a:prstGeom prst="rect">
            <a:avLst/>
          </a:prstGeom>
          <a:noFill/>
          <a:ln/>
        </p:spPr>
        <p:txBody>
          <a:bodyPr wrap="square" lIns="0" tIns="0" rIns="0" bIns="0" rtlCol="0" anchor="t"/>
          <a:lstStyle/>
          <a:p>
            <a:pPr indent="0" marL="0">
              <a:buNone/>
            </a:pPr>
            <a:r>
              <a:rPr lang="en-US" sz="1400" dirty="0">
                <a:solidFill>
                  <a:srgbClr val="A89A86"/>
                </a:solidFill>
                <a:latin typeface="Calibri" pitchFamily="34" charset="0"/>
                <a:ea typeface="Calibri" pitchFamily="34" charset="-122"/>
                <a:cs typeface="Calibri" pitchFamily="34" charset="-120"/>
              </a:rPr>
              <a:t>Doctors lose time on paperwork instead of patients.</a:t>
            </a:r>
            <a:endParaRPr lang="en-US" sz="1400" dirty="0"/>
          </a:p>
        </p:txBody>
      </p:sp>
      <p:sp>
        <p:nvSpPr>
          <p:cNvPr id="19" name="Text 12"/>
          <p:cNvSpPr txBox="1"/>
          <p:nvPr/>
        </p:nvSpPr>
        <p:spPr>
          <a:xfrm>
            <a:off x="640080" y="6126480"/>
            <a:ext cx="10881360" cy="228600"/>
          </a:xfrm>
          <a:prstGeom prst="rect">
            <a:avLst/>
          </a:prstGeom>
          <a:noFill/>
          <a:ln/>
        </p:spPr>
        <p:txBody>
          <a:bodyPr wrap="square" lIns="0" tIns="0" rIns="0" bIns="0" rtlCol="0" anchor="t"/>
          <a:lstStyle/>
          <a:p>
            <a:pPr indent="0" marL="0">
              <a:buNone/>
            </a:pPr>
            <a:r>
              <a:rPr lang="en-US" sz="1000" i="1" dirty="0">
                <a:solidFill>
                  <a:srgbClr val="6E6253"/>
                </a:solidFill>
                <a:latin typeface="Calibri" pitchFamily="34" charset="0"/>
                <a:ea typeface="Calibri" pitchFamily="34" charset="-122"/>
                <a:cs typeface="Calibri" pitchFamily="34" charset="-120"/>
              </a:rPr>
              <a:t>Times are illustrative estimates for a routine OPD visit needing one blood test, not measured hospital data.</a:t>
            </a:r>
            <a:endParaRPr lang="en-US" sz="1000"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A08"/>
        </a:solidFill>
      </p:bgPr>
    </p:bg>
    <p:spTree>
      <p:nvGrpSpPr>
        <p:cNvPr id="1" name=""/>
        <p:cNvGrpSpPr/>
        <p:nvPr/>
      </p:nvGrpSpPr>
      <p:grpSpPr>
        <a:xfrm>
          <a:off x="0" y="0"/>
          <a:ext cx="0" cy="0"/>
          <a:chOff x="0" y="0"/>
          <a:chExt cx="0" cy="0"/>
        </a:xfrm>
      </p:grpSpPr>
      <p:pic>
        <p:nvPicPr>
          <p:cNvPr id="2" name="Image 0" descr="bg/t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03</a:t>
            </a:r>
            <a:endParaRPr lang="en-US" sz="900" dirty="0"/>
          </a:p>
        </p:txBody>
      </p:sp>
      <p:sp>
        <p:nvSpPr>
          <p:cNvPr id="4" name="Text 1"/>
          <p:cNvSpPr txBox="1"/>
          <p:nvPr/>
        </p:nvSpPr>
        <p:spPr>
          <a:xfrm>
            <a:off x="7863840" y="3017520"/>
            <a:ext cx="4114800" cy="3840480"/>
          </a:xfrm>
          <a:prstGeom prst="rect">
            <a:avLst/>
          </a:prstGeom>
          <a:noFill/>
          <a:ln/>
        </p:spPr>
        <p:txBody>
          <a:bodyPr wrap="square" lIns="0" tIns="0" rIns="0" bIns="0" rtlCol="0" anchor="t"/>
          <a:lstStyle/>
          <a:p>
            <a:pPr algn="r" indent="0" marL="0">
              <a:buNone/>
            </a:pPr>
            <a:r>
              <a:rPr lang="en-US" sz="25000" b="1" i="1" dirty="0">
                <a:solidFill>
                  <a:srgbClr val="1C1611"/>
                </a:solidFill>
                <a:latin typeface="Cambria" pitchFamily="34" charset="0"/>
                <a:ea typeface="Cambria" pitchFamily="34" charset="-122"/>
                <a:cs typeface="Cambria" pitchFamily="34" charset="-120"/>
              </a:rPr>
              <a:t>02</a:t>
            </a:r>
            <a:endParaRPr lang="en-US" sz="25000" dirty="0"/>
          </a:p>
        </p:txBody>
      </p:sp>
      <p:sp>
        <p:nvSpPr>
          <p:cNvPr id="5" name="Text 2"/>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02  ·  THE TASK</a:t>
            </a:r>
            <a:endParaRPr lang="en-US" sz="1200" dirty="0"/>
          </a:p>
        </p:txBody>
      </p:sp>
      <p:sp>
        <p:nvSpPr>
          <p:cNvPr id="6" name="Text 3"/>
          <p:cNvSpPr txBox="1"/>
          <p:nvPr/>
        </p:nvSpPr>
        <p:spPr>
          <a:xfrm>
            <a:off x="640080" y="868680"/>
            <a:ext cx="10515600" cy="91440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What the hospital </a:t>
            </a:r>
            <a:pPr indent="0" marL="0">
              <a:buNone/>
            </a:pPr>
            <a:r>
              <a:rPr lang="en-US" sz="3800" b="1" i="1" dirty="0">
                <a:solidFill>
                  <a:srgbClr val="F2CD83"/>
                </a:solidFill>
                <a:latin typeface="Cambria" pitchFamily="34" charset="0"/>
                <a:ea typeface="Cambria" pitchFamily="34" charset="-122"/>
                <a:cs typeface="Cambria" pitchFamily="34" charset="-120"/>
              </a:rPr>
              <a:t>asked for</a:t>
            </a:r>
            <a:endParaRPr lang="en-US" sz="3800" dirty="0"/>
          </a:p>
        </p:txBody>
      </p:sp>
      <p:sp>
        <p:nvSpPr>
          <p:cNvPr id="7" name="Shape 4"/>
          <p:cNvSpPr/>
          <p:nvPr/>
        </p:nvSpPr>
        <p:spPr>
          <a:xfrm>
            <a:off x="640080" y="1874520"/>
            <a:ext cx="10881360" cy="1325880"/>
          </a:xfrm>
          <a:prstGeom prst="roundRect">
            <a:avLst>
              <a:gd name="adj" fmla="val 8276"/>
            </a:avLst>
          </a:prstGeom>
          <a:solidFill>
            <a:srgbClr val="1A1410"/>
          </a:solidFill>
          <a:ln w="12700">
            <a:solidFill>
              <a:srgbClr val="3A2F26"/>
            </a:solidFill>
            <a:prstDash val="solid"/>
          </a:ln>
        </p:spPr>
      </p:sp>
      <p:sp>
        <p:nvSpPr>
          <p:cNvPr id="8" name="Text 5"/>
          <p:cNvSpPr txBox="1"/>
          <p:nvPr/>
        </p:nvSpPr>
        <p:spPr>
          <a:xfrm>
            <a:off x="914400" y="2057400"/>
            <a:ext cx="10332720" cy="1005840"/>
          </a:xfrm>
          <a:prstGeom prst="rect">
            <a:avLst/>
          </a:prstGeom>
          <a:noFill/>
          <a:ln/>
        </p:spPr>
        <p:txBody>
          <a:bodyPr wrap="square" lIns="0" tIns="0" rIns="0" bIns="0" rtlCol="0" anchor="t"/>
          <a:lstStyle/>
          <a:p>
            <a:pPr indent="0" marL="0">
              <a:lnSpc>
                <a:spcPct val="110000"/>
              </a:lnSpc>
              <a:buNone/>
            </a:pPr>
            <a:r>
              <a:rPr lang="en-US" sz="1700" i="1" dirty="0">
                <a:solidFill>
                  <a:srgbClr val="EFE4D2"/>
                </a:solidFill>
                <a:latin typeface="Cambria" pitchFamily="34" charset="0"/>
                <a:ea typeface="Cambria" pitchFamily="34" charset="-122"/>
                <a:cs typeface="Cambria" pitchFamily="34" charset="-120"/>
              </a:rPr>
              <a:t>“A hospital wants to reduce patient waiting times. Design a simple AI-assisted workflow and explain how it can improve efficiency and patient management. Include one step where AI automates decision-making and one where human doctors are required.”</a:t>
            </a:r>
            <a:endParaRPr lang="en-US" sz="1700" dirty="0"/>
          </a:p>
        </p:txBody>
      </p:sp>
      <p:sp>
        <p:nvSpPr>
          <p:cNvPr id="9" name="Shape 6"/>
          <p:cNvSpPr/>
          <p:nvPr/>
        </p:nvSpPr>
        <p:spPr>
          <a:xfrm>
            <a:off x="640080" y="3566160"/>
            <a:ext cx="3474720" cy="2286000"/>
          </a:xfrm>
          <a:prstGeom prst="roundRect">
            <a:avLst>
              <a:gd name="adj" fmla="val 4800"/>
            </a:avLst>
          </a:prstGeom>
          <a:solidFill>
            <a:srgbClr val="241C16"/>
          </a:solidFill>
          <a:ln w="12700">
            <a:solidFill>
              <a:srgbClr val="3A2F26"/>
            </a:solidFill>
            <a:prstDash val="solid"/>
          </a:ln>
        </p:spPr>
      </p:sp>
      <p:sp>
        <p:nvSpPr>
          <p:cNvPr id="10" name="Shape 7"/>
          <p:cNvSpPr/>
          <p:nvPr/>
        </p:nvSpPr>
        <p:spPr>
          <a:xfrm>
            <a:off x="914400" y="3794760"/>
            <a:ext cx="731520" cy="731520"/>
          </a:xfrm>
          <a:prstGeom prst="ellipse">
            <a:avLst/>
          </a:prstGeom>
          <a:solidFill>
            <a:srgbClr val="241C16"/>
          </a:solidFill>
          <a:ln w="15875">
            <a:solidFill>
              <a:srgbClr val="F2CD83"/>
            </a:solidFill>
            <a:prstDash val="solid"/>
          </a:ln>
        </p:spPr>
      </p:sp>
      <p:pic>
        <p:nvPicPr>
          <p:cNvPr id="11" name="Image 1" descr="preencoded.png">    </p:cNvPr>
          <p:cNvPicPr>
            <a:picLocks noChangeAspect="1"/>
          </p:cNvPicPr>
          <p:nvPr/>
        </p:nvPicPr>
        <p:blipFill>
          <a:blip r:embed="rId2"/>
          <a:stretch>
            <a:fillRect/>
          </a:stretch>
        </p:blipFill>
        <p:spPr>
          <a:xfrm>
            <a:off x="1097280" y="3977640"/>
            <a:ext cx="365760" cy="365760"/>
          </a:xfrm>
          <a:prstGeom prst="rect">
            <a:avLst/>
          </a:prstGeom>
        </p:spPr>
      </p:pic>
      <p:sp>
        <p:nvSpPr>
          <p:cNvPr id="12" name="Text 8"/>
          <p:cNvSpPr txBox="1"/>
          <p:nvPr/>
        </p:nvSpPr>
        <p:spPr>
          <a:xfrm>
            <a:off x="914400" y="4663440"/>
            <a:ext cx="3017520" cy="411480"/>
          </a:xfrm>
          <a:prstGeom prst="rect">
            <a:avLst/>
          </a:prstGeom>
          <a:noFill/>
          <a:ln/>
        </p:spPr>
        <p:txBody>
          <a:bodyPr wrap="square" lIns="0" tIns="0" rIns="0" bIns="0" rtlCol="0" anchor="t"/>
          <a:lstStyle/>
          <a:p>
            <a:pPr indent="0" marL="0">
              <a:buNone/>
            </a:pPr>
            <a:r>
              <a:rPr lang="en-US" sz="2000" b="1" dirty="0">
                <a:solidFill>
                  <a:srgbClr val="F2CD83"/>
                </a:solidFill>
                <a:latin typeface="Cambria" pitchFamily="34" charset="0"/>
                <a:ea typeface="Cambria" pitchFamily="34" charset="-122"/>
                <a:cs typeface="Cambria" pitchFamily="34" charset="-120"/>
              </a:rPr>
              <a:t>Reduce waiting time</a:t>
            </a:r>
            <a:endParaRPr lang="en-US" sz="2000" dirty="0"/>
          </a:p>
        </p:txBody>
      </p:sp>
      <p:sp>
        <p:nvSpPr>
          <p:cNvPr id="13" name="Text 9"/>
          <p:cNvSpPr txBox="1"/>
          <p:nvPr/>
        </p:nvSpPr>
        <p:spPr>
          <a:xfrm>
            <a:off x="914400" y="5120640"/>
            <a:ext cx="2971800" cy="685800"/>
          </a:xfrm>
          <a:prstGeom prst="rect">
            <a:avLst/>
          </a:prstGeom>
          <a:noFill/>
          <a:ln/>
        </p:spPr>
        <p:txBody>
          <a:bodyPr wrap="square" lIns="0" tIns="0" rIns="0" bIns="0" rtlCol="0" anchor="t"/>
          <a:lstStyle/>
          <a:p>
            <a:pPr indent="0" marL="0">
              <a:buNone/>
            </a:pPr>
            <a:r>
              <a:rPr lang="en-US" sz="1400" dirty="0">
                <a:solidFill>
                  <a:srgbClr val="A89A86"/>
                </a:solidFill>
                <a:latin typeface="Calibri" pitchFamily="34" charset="0"/>
                <a:ea typeface="Calibri" pitchFamily="34" charset="-122"/>
                <a:cs typeface="Calibri" pitchFamily="34" charset="-120"/>
              </a:rPr>
              <a:t>Get patients through faster and manage them better.</a:t>
            </a:r>
            <a:endParaRPr lang="en-US" sz="1400" dirty="0"/>
          </a:p>
        </p:txBody>
      </p:sp>
      <p:sp>
        <p:nvSpPr>
          <p:cNvPr id="14" name="Shape 10"/>
          <p:cNvSpPr/>
          <p:nvPr/>
        </p:nvSpPr>
        <p:spPr>
          <a:xfrm>
            <a:off x="4343400" y="3566160"/>
            <a:ext cx="3474720" cy="2286000"/>
          </a:xfrm>
          <a:prstGeom prst="roundRect">
            <a:avLst>
              <a:gd name="adj" fmla="val 4800"/>
            </a:avLst>
          </a:prstGeom>
          <a:solidFill>
            <a:srgbClr val="241C16"/>
          </a:solidFill>
          <a:ln w="12700">
            <a:solidFill>
              <a:srgbClr val="3A2F26"/>
            </a:solidFill>
            <a:prstDash val="solid"/>
          </a:ln>
        </p:spPr>
      </p:sp>
      <p:sp>
        <p:nvSpPr>
          <p:cNvPr id="15" name="Shape 11"/>
          <p:cNvSpPr/>
          <p:nvPr/>
        </p:nvSpPr>
        <p:spPr>
          <a:xfrm>
            <a:off x="4617720" y="3794760"/>
            <a:ext cx="731520" cy="731520"/>
          </a:xfrm>
          <a:prstGeom prst="ellipse">
            <a:avLst/>
          </a:prstGeom>
          <a:solidFill>
            <a:srgbClr val="241C16"/>
          </a:solidFill>
          <a:ln w="15875">
            <a:solidFill>
              <a:srgbClr val="6CC7B8"/>
            </a:solidFill>
            <a:prstDash val="solid"/>
          </a:ln>
        </p:spPr>
      </p:sp>
      <p:pic>
        <p:nvPicPr>
          <p:cNvPr id="16" name="Image 2" descr="preencoded.png">    </p:cNvPr>
          <p:cNvPicPr>
            <a:picLocks noChangeAspect="1"/>
          </p:cNvPicPr>
          <p:nvPr/>
        </p:nvPicPr>
        <p:blipFill>
          <a:blip r:embed="rId3"/>
          <a:stretch>
            <a:fillRect/>
          </a:stretch>
        </p:blipFill>
        <p:spPr>
          <a:xfrm>
            <a:off x="4800600" y="3977640"/>
            <a:ext cx="365760" cy="365760"/>
          </a:xfrm>
          <a:prstGeom prst="rect">
            <a:avLst/>
          </a:prstGeom>
        </p:spPr>
      </p:pic>
      <p:sp>
        <p:nvSpPr>
          <p:cNvPr id="17" name="Text 12"/>
          <p:cNvSpPr txBox="1"/>
          <p:nvPr/>
        </p:nvSpPr>
        <p:spPr>
          <a:xfrm>
            <a:off x="4617720" y="4663440"/>
            <a:ext cx="3017520" cy="411480"/>
          </a:xfrm>
          <a:prstGeom prst="rect">
            <a:avLst/>
          </a:prstGeom>
          <a:noFill/>
          <a:ln/>
        </p:spPr>
        <p:txBody>
          <a:bodyPr wrap="square" lIns="0" tIns="0" rIns="0" bIns="0" rtlCol="0" anchor="t"/>
          <a:lstStyle/>
          <a:p>
            <a:pPr indent="0" marL="0">
              <a:buNone/>
            </a:pPr>
            <a:r>
              <a:rPr lang="en-US" sz="2000" b="1" dirty="0">
                <a:solidFill>
                  <a:srgbClr val="6CC7B8"/>
                </a:solidFill>
                <a:latin typeface="Cambria" pitchFamily="34" charset="0"/>
                <a:ea typeface="Cambria" pitchFamily="34" charset="-122"/>
                <a:cs typeface="Cambria" pitchFamily="34" charset="-120"/>
              </a:rPr>
              <a:t>One AI decision step</a:t>
            </a:r>
            <a:endParaRPr lang="en-US" sz="2000" dirty="0"/>
          </a:p>
        </p:txBody>
      </p:sp>
      <p:sp>
        <p:nvSpPr>
          <p:cNvPr id="18" name="Text 13"/>
          <p:cNvSpPr txBox="1"/>
          <p:nvPr/>
        </p:nvSpPr>
        <p:spPr>
          <a:xfrm>
            <a:off x="4617720" y="5120640"/>
            <a:ext cx="2971800" cy="685800"/>
          </a:xfrm>
          <a:prstGeom prst="rect">
            <a:avLst/>
          </a:prstGeom>
          <a:noFill/>
          <a:ln/>
        </p:spPr>
        <p:txBody>
          <a:bodyPr wrap="square" lIns="0" tIns="0" rIns="0" bIns="0" rtlCol="0" anchor="t"/>
          <a:lstStyle/>
          <a:p>
            <a:pPr indent="0" marL="0">
              <a:buNone/>
            </a:pPr>
            <a:r>
              <a:rPr lang="en-US" sz="1400" dirty="0">
                <a:solidFill>
                  <a:srgbClr val="A89A86"/>
                </a:solidFill>
                <a:latin typeface="Calibri" pitchFamily="34" charset="0"/>
                <a:ea typeface="Calibri" pitchFamily="34" charset="-122"/>
                <a:cs typeface="Calibri" pitchFamily="34" charset="-120"/>
              </a:rPr>
              <a:t>A step where AI decides on its own, without waiting for a person.</a:t>
            </a:r>
            <a:endParaRPr lang="en-US" sz="1400" dirty="0"/>
          </a:p>
        </p:txBody>
      </p:sp>
      <p:sp>
        <p:nvSpPr>
          <p:cNvPr id="19" name="Shape 14"/>
          <p:cNvSpPr/>
          <p:nvPr/>
        </p:nvSpPr>
        <p:spPr>
          <a:xfrm>
            <a:off x="8046720" y="3566160"/>
            <a:ext cx="3474720" cy="2286000"/>
          </a:xfrm>
          <a:prstGeom prst="roundRect">
            <a:avLst>
              <a:gd name="adj" fmla="val 4800"/>
            </a:avLst>
          </a:prstGeom>
          <a:solidFill>
            <a:srgbClr val="241C16"/>
          </a:solidFill>
          <a:ln w="12700">
            <a:solidFill>
              <a:srgbClr val="3A2F26"/>
            </a:solidFill>
            <a:prstDash val="solid"/>
          </a:ln>
        </p:spPr>
      </p:sp>
      <p:sp>
        <p:nvSpPr>
          <p:cNvPr id="20" name="Shape 15"/>
          <p:cNvSpPr/>
          <p:nvPr/>
        </p:nvSpPr>
        <p:spPr>
          <a:xfrm>
            <a:off x="8321040" y="3794760"/>
            <a:ext cx="731520" cy="731520"/>
          </a:xfrm>
          <a:prstGeom prst="ellipse">
            <a:avLst/>
          </a:prstGeom>
          <a:solidFill>
            <a:srgbClr val="241C16"/>
          </a:solidFill>
          <a:ln w="15875">
            <a:solidFill>
              <a:srgbClr val="F2CD83"/>
            </a:solidFill>
            <a:prstDash val="solid"/>
          </a:ln>
        </p:spPr>
      </p:sp>
      <p:pic>
        <p:nvPicPr>
          <p:cNvPr id="21" name="Image 3" descr="preencoded.png">    </p:cNvPr>
          <p:cNvPicPr>
            <a:picLocks noChangeAspect="1"/>
          </p:cNvPicPr>
          <p:nvPr/>
        </p:nvPicPr>
        <p:blipFill>
          <a:blip r:embed="rId4"/>
          <a:stretch>
            <a:fillRect/>
          </a:stretch>
        </p:blipFill>
        <p:spPr>
          <a:xfrm>
            <a:off x="8503920" y="3977640"/>
            <a:ext cx="365760" cy="365760"/>
          </a:xfrm>
          <a:prstGeom prst="rect">
            <a:avLst/>
          </a:prstGeom>
        </p:spPr>
      </p:pic>
      <p:sp>
        <p:nvSpPr>
          <p:cNvPr id="22" name="Text 16"/>
          <p:cNvSpPr txBox="1"/>
          <p:nvPr/>
        </p:nvSpPr>
        <p:spPr>
          <a:xfrm>
            <a:off x="8321040" y="4663440"/>
            <a:ext cx="3017520" cy="411480"/>
          </a:xfrm>
          <a:prstGeom prst="rect">
            <a:avLst/>
          </a:prstGeom>
          <a:noFill/>
          <a:ln/>
        </p:spPr>
        <p:txBody>
          <a:bodyPr wrap="square" lIns="0" tIns="0" rIns="0" bIns="0" rtlCol="0" anchor="t"/>
          <a:lstStyle/>
          <a:p>
            <a:pPr indent="0" marL="0">
              <a:buNone/>
            </a:pPr>
            <a:r>
              <a:rPr lang="en-US" sz="2000" b="1" dirty="0">
                <a:solidFill>
                  <a:srgbClr val="F2CD83"/>
                </a:solidFill>
                <a:latin typeface="Cambria" pitchFamily="34" charset="0"/>
                <a:ea typeface="Cambria" pitchFamily="34" charset="-122"/>
                <a:cs typeface="Cambria" pitchFamily="34" charset="-120"/>
              </a:rPr>
              <a:t>One human-doctor step</a:t>
            </a:r>
            <a:endParaRPr lang="en-US" sz="2000" dirty="0"/>
          </a:p>
        </p:txBody>
      </p:sp>
      <p:sp>
        <p:nvSpPr>
          <p:cNvPr id="23" name="Text 17"/>
          <p:cNvSpPr txBox="1"/>
          <p:nvPr/>
        </p:nvSpPr>
        <p:spPr>
          <a:xfrm>
            <a:off x="8321040" y="5120640"/>
            <a:ext cx="2971800" cy="685800"/>
          </a:xfrm>
          <a:prstGeom prst="rect">
            <a:avLst/>
          </a:prstGeom>
          <a:noFill/>
          <a:ln/>
        </p:spPr>
        <p:txBody>
          <a:bodyPr wrap="square" lIns="0" tIns="0" rIns="0" bIns="0" rtlCol="0" anchor="t"/>
          <a:lstStyle/>
          <a:p>
            <a:pPr indent="0" marL="0">
              <a:buNone/>
            </a:pPr>
            <a:r>
              <a:rPr lang="en-US" sz="1400" dirty="0">
                <a:solidFill>
                  <a:srgbClr val="A89A86"/>
                </a:solidFill>
                <a:latin typeface="Calibri" pitchFamily="34" charset="0"/>
                <a:ea typeface="Calibri" pitchFamily="34" charset="-122"/>
                <a:cs typeface="Calibri" pitchFamily="34" charset="-120"/>
              </a:rPr>
              <a:t>A step AI must never take over: the doctor decides.</a:t>
            </a:r>
            <a:endParaRPr lang="en-US" sz="1400" dirty="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A08"/>
        </a:solidFill>
      </p:bgPr>
    </p:bg>
    <p:spTree>
      <p:nvGrpSpPr>
        <p:cNvPr id="1" name=""/>
        <p:cNvGrpSpPr/>
        <p:nvPr/>
      </p:nvGrpSpPr>
      <p:grpSpPr>
        <a:xfrm>
          <a:off x="0" y="0"/>
          <a:ext cx="0" cy="0"/>
          <a:chOff x="0" y="0"/>
          <a:chExt cx="0" cy="0"/>
        </a:xfrm>
      </p:grpSpPr>
      <p:pic>
        <p:nvPicPr>
          <p:cNvPr id="2" name="Image 0" descr="bg/plain.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04</a:t>
            </a:r>
            <a:endParaRPr lang="en-US" sz="900" dirty="0"/>
          </a:p>
        </p:txBody>
      </p:sp>
      <p:sp>
        <p:nvSpPr>
          <p:cNvPr id="4" name="Text 1"/>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03  ·  FOUR AI ANSWERS COMPARED</a:t>
            </a:r>
            <a:endParaRPr lang="en-US" sz="1200" dirty="0"/>
          </a:p>
        </p:txBody>
      </p:sp>
      <p:sp>
        <p:nvSpPr>
          <p:cNvPr id="5" name="Text 2"/>
          <p:cNvSpPr txBox="1"/>
          <p:nvPr/>
        </p:nvSpPr>
        <p:spPr>
          <a:xfrm>
            <a:off x="640080" y="868680"/>
            <a:ext cx="10515600" cy="91440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Four AIs, four </a:t>
            </a:r>
            <a:pPr indent="0" marL="0">
              <a:buNone/>
            </a:pPr>
            <a:r>
              <a:rPr lang="en-US" sz="3800" b="1" i="1" dirty="0">
                <a:solidFill>
                  <a:srgbClr val="F2CD83"/>
                </a:solidFill>
                <a:latin typeface="Cambria" pitchFamily="34" charset="0"/>
                <a:ea typeface="Cambria" pitchFamily="34" charset="-122"/>
                <a:cs typeface="Cambria" pitchFamily="34" charset="-120"/>
              </a:rPr>
              <a:t>approaches</a:t>
            </a:r>
            <a:endParaRPr lang="en-US" sz="3800" dirty="0"/>
          </a:p>
        </p:txBody>
      </p:sp>
      <p:sp>
        <p:nvSpPr>
          <p:cNvPr id="6" name="Shape 3"/>
          <p:cNvSpPr/>
          <p:nvPr/>
        </p:nvSpPr>
        <p:spPr>
          <a:xfrm>
            <a:off x="640080" y="1920240"/>
            <a:ext cx="2578608" cy="4023360"/>
          </a:xfrm>
          <a:prstGeom prst="roundRect">
            <a:avLst>
              <a:gd name="adj" fmla="val 4255"/>
            </a:avLst>
          </a:prstGeom>
          <a:solidFill>
            <a:srgbClr val="1A1410"/>
          </a:solidFill>
          <a:ln w="12700">
            <a:solidFill>
              <a:srgbClr val="3A2F26"/>
            </a:solidFill>
            <a:prstDash val="solid"/>
          </a:ln>
        </p:spPr>
      </p:sp>
      <p:sp>
        <p:nvSpPr>
          <p:cNvPr id="7" name="Text 4"/>
          <p:cNvSpPr txBox="1"/>
          <p:nvPr/>
        </p:nvSpPr>
        <p:spPr>
          <a:xfrm>
            <a:off x="868680" y="2331720"/>
            <a:ext cx="2194560" cy="457200"/>
          </a:xfrm>
          <a:prstGeom prst="rect">
            <a:avLst/>
          </a:prstGeom>
          <a:noFill/>
          <a:ln/>
        </p:spPr>
        <p:txBody>
          <a:bodyPr wrap="square" lIns="0" tIns="0" rIns="0" bIns="0" rtlCol="0" anchor="t"/>
          <a:lstStyle/>
          <a:p>
            <a:pPr indent="0" marL="0">
              <a:buNone/>
            </a:pPr>
            <a:r>
              <a:rPr lang="en-US" sz="2400" b="1" dirty="0">
                <a:solidFill>
                  <a:srgbClr val="EFE4D2"/>
                </a:solidFill>
                <a:latin typeface="Cambria" pitchFamily="34" charset="0"/>
                <a:ea typeface="Cambria" pitchFamily="34" charset="-122"/>
                <a:cs typeface="Cambria" pitchFamily="34" charset="-120"/>
              </a:rPr>
              <a:t>ChatGPT</a:t>
            </a:r>
            <a:endParaRPr lang="en-US" sz="2400" dirty="0"/>
          </a:p>
        </p:txBody>
      </p:sp>
      <p:sp>
        <p:nvSpPr>
          <p:cNvPr id="8" name="Text 5"/>
          <p:cNvSpPr txBox="1"/>
          <p:nvPr/>
        </p:nvSpPr>
        <p:spPr>
          <a:xfrm>
            <a:off x="868680" y="2788920"/>
            <a:ext cx="2194560" cy="274320"/>
          </a:xfrm>
          <a:prstGeom prst="rect">
            <a:avLst/>
          </a:prstGeom>
          <a:noFill/>
          <a:ln/>
        </p:spPr>
        <p:txBody>
          <a:bodyPr wrap="square" lIns="0" tIns="0" rIns="0" bIns="0" rtlCol="0" anchor="t"/>
          <a:lstStyle/>
          <a:p>
            <a:pPr indent="0" marL="0">
              <a:buNone/>
            </a:pPr>
            <a:r>
              <a:rPr lang="en-US" sz="1300" i="1" dirty="0">
                <a:solidFill>
                  <a:srgbClr val="C8923C"/>
                </a:solidFill>
                <a:latin typeface="Calibri" pitchFamily="34" charset="0"/>
                <a:ea typeface="Calibri" pitchFamily="34" charset="-122"/>
                <a:cs typeface="Calibri" pitchFamily="34" charset="-120"/>
              </a:rPr>
              <a:t>Simple &amp; clear</a:t>
            </a:r>
            <a:endParaRPr lang="en-US" sz="1300" dirty="0"/>
          </a:p>
        </p:txBody>
      </p:sp>
      <p:sp>
        <p:nvSpPr>
          <p:cNvPr id="9" name="Text 6"/>
          <p:cNvSpPr txBox="1"/>
          <p:nvPr/>
        </p:nvSpPr>
        <p:spPr>
          <a:xfrm>
            <a:off x="868680" y="3200400"/>
            <a:ext cx="2148840" cy="868680"/>
          </a:xfrm>
          <a:prstGeom prst="rect">
            <a:avLst/>
          </a:prstGeom>
          <a:noFill/>
          <a:ln/>
        </p:spPr>
        <p:txBody>
          <a:bodyPr wrap="square" lIns="0" tIns="0" rIns="0" bIns="0" rtlCol="0" anchor="t"/>
          <a:lstStyle/>
          <a:p>
            <a:pPr indent="0" marL="0">
              <a:buNone/>
            </a:pPr>
            <a:r>
              <a:rPr lang="en-US" sz="1300" b="1" dirty="0">
                <a:solidFill>
                  <a:srgbClr val="6CC7B8"/>
                </a:solidFill>
                <a:latin typeface="Calibri" pitchFamily="34" charset="0"/>
                <a:ea typeface="Calibri" pitchFamily="34" charset="-122"/>
                <a:cs typeface="Calibri" pitchFamily="34" charset="-120"/>
              </a:rPr>
              <a:t>+  </a:t>
            </a:r>
            <a:pPr indent="0" marL="0">
              <a:buNone/>
            </a:pPr>
            <a:r>
              <a:rPr lang="en-US" sz="1300" dirty="0">
                <a:solidFill>
                  <a:srgbClr val="EFE4D2"/>
                </a:solidFill>
                <a:latin typeface="Calibri" pitchFamily="34" charset="0"/>
                <a:ea typeface="Calibri" pitchFamily="34" charset="-122"/>
                <a:cs typeface="Calibri" pitchFamily="34" charset="-120"/>
              </a:rPr>
              <a:t>Easy to follow; covers both required steps.</a:t>
            </a:r>
            <a:endParaRPr lang="en-US" sz="1300" dirty="0"/>
          </a:p>
        </p:txBody>
      </p:sp>
      <p:sp>
        <p:nvSpPr>
          <p:cNvPr id="10" name="Text 7"/>
          <p:cNvSpPr txBox="1"/>
          <p:nvPr/>
        </p:nvSpPr>
        <p:spPr>
          <a:xfrm>
            <a:off x="868680" y="4114800"/>
            <a:ext cx="2148840" cy="868680"/>
          </a:xfrm>
          <a:prstGeom prst="rect">
            <a:avLst/>
          </a:prstGeom>
          <a:noFill/>
          <a:ln/>
        </p:spPr>
        <p:txBody>
          <a:bodyPr wrap="square" lIns="0" tIns="0" rIns="0" bIns="0" rtlCol="0" anchor="t"/>
          <a:lstStyle/>
          <a:p>
            <a:pPr indent="0" marL="0">
              <a:buNone/>
            </a:pPr>
            <a:r>
              <a:rPr lang="en-US" sz="1300" b="1" dirty="0">
                <a:solidFill>
                  <a:srgbClr val="E48475"/>
                </a:solidFill>
                <a:latin typeface="Calibri" pitchFamily="34" charset="0"/>
                <a:ea typeface="Calibri" pitchFamily="34" charset="-122"/>
                <a:cs typeface="Calibri" pitchFamily="34" charset="-120"/>
              </a:rPr>
              <a:t>–  </a:t>
            </a:r>
            <a:pPr indent="0" marL="0">
              <a:buNone/>
            </a:pPr>
            <a:r>
              <a:rPr lang="en-US" sz="1300" dirty="0">
                <a:solidFill>
                  <a:srgbClr val="A89A86"/>
                </a:solidFill>
                <a:latin typeface="Calibri" pitchFamily="34" charset="0"/>
                <a:ea typeface="Calibri" pitchFamily="34" charset="-122"/>
                <a:cs typeface="Calibri" pitchFamily="34" charset="-120"/>
              </a:rPr>
              <a:t>Tests and discharge still happen the old way.</a:t>
            </a:r>
            <a:endParaRPr lang="en-US" sz="1300" dirty="0"/>
          </a:p>
        </p:txBody>
      </p:sp>
      <p:sp>
        <p:nvSpPr>
          <p:cNvPr id="11" name="Text 8"/>
          <p:cNvSpPr txBox="1"/>
          <p:nvPr/>
        </p:nvSpPr>
        <p:spPr>
          <a:xfrm>
            <a:off x="868680" y="5120640"/>
            <a:ext cx="2194560" cy="640080"/>
          </a:xfrm>
          <a:prstGeom prst="rect">
            <a:avLst/>
          </a:prstGeom>
          <a:noFill/>
          <a:ln/>
        </p:spPr>
        <p:txBody>
          <a:bodyPr wrap="square" lIns="0" tIns="0" rIns="0" bIns="0" rtlCol="0" anchor="t"/>
          <a:lstStyle/>
          <a:p>
            <a:pPr indent="0" marL="0">
              <a:buNone/>
            </a:pPr>
            <a:r>
              <a:rPr lang="en-US" sz="3400" b="1" i="1" dirty="0">
                <a:solidFill>
                  <a:srgbClr val="F2CD83"/>
                </a:solidFill>
                <a:latin typeface="Cambria" pitchFamily="34" charset="0"/>
                <a:ea typeface="Cambria" pitchFamily="34" charset="-122"/>
                <a:cs typeface="Cambria" pitchFamily="34" charset="-120"/>
              </a:rPr>
              <a:t>118</a:t>
            </a:r>
            <a:pPr indent="0" marL="0">
              <a:buNone/>
            </a:pPr>
            <a:r>
              <a:rPr lang="en-US" sz="1400" b="1" dirty="0">
                <a:solidFill>
                  <a:srgbClr val="A89A86"/>
                </a:solidFill>
                <a:latin typeface="Cambria" pitchFamily="34" charset="0"/>
                <a:ea typeface="Cambria" pitchFamily="34" charset="-122"/>
                <a:cs typeface="Cambria" pitchFamily="34" charset="-120"/>
              </a:rPr>
              <a:t> min</a:t>
            </a:r>
            <a:endParaRPr lang="en-US" sz="3400" dirty="0"/>
          </a:p>
        </p:txBody>
      </p:sp>
      <p:sp>
        <p:nvSpPr>
          <p:cNvPr id="12" name="Shape 9"/>
          <p:cNvSpPr/>
          <p:nvPr/>
        </p:nvSpPr>
        <p:spPr>
          <a:xfrm>
            <a:off x="3401568" y="1920240"/>
            <a:ext cx="2578608" cy="4023360"/>
          </a:xfrm>
          <a:prstGeom prst="roundRect">
            <a:avLst>
              <a:gd name="adj" fmla="val 4255"/>
            </a:avLst>
          </a:prstGeom>
          <a:solidFill>
            <a:srgbClr val="1A1410"/>
          </a:solidFill>
          <a:ln w="12700">
            <a:solidFill>
              <a:srgbClr val="3A2F26"/>
            </a:solidFill>
            <a:prstDash val="solid"/>
          </a:ln>
        </p:spPr>
      </p:sp>
      <p:sp>
        <p:nvSpPr>
          <p:cNvPr id="13" name="Text 10"/>
          <p:cNvSpPr txBox="1"/>
          <p:nvPr/>
        </p:nvSpPr>
        <p:spPr>
          <a:xfrm>
            <a:off x="3630168" y="2331720"/>
            <a:ext cx="2194560" cy="457200"/>
          </a:xfrm>
          <a:prstGeom prst="rect">
            <a:avLst/>
          </a:prstGeom>
          <a:noFill/>
          <a:ln/>
        </p:spPr>
        <p:txBody>
          <a:bodyPr wrap="square" lIns="0" tIns="0" rIns="0" bIns="0" rtlCol="0" anchor="t"/>
          <a:lstStyle/>
          <a:p>
            <a:pPr indent="0" marL="0">
              <a:buNone/>
            </a:pPr>
            <a:r>
              <a:rPr lang="en-US" sz="2400" b="1" dirty="0">
                <a:solidFill>
                  <a:srgbClr val="EFE4D2"/>
                </a:solidFill>
                <a:latin typeface="Cambria" pitchFamily="34" charset="0"/>
                <a:ea typeface="Cambria" pitchFamily="34" charset="-122"/>
                <a:cs typeface="Cambria" pitchFamily="34" charset="-120"/>
              </a:rPr>
              <a:t>Arena 1</a:t>
            </a:r>
            <a:endParaRPr lang="en-US" sz="2400" dirty="0"/>
          </a:p>
        </p:txBody>
      </p:sp>
      <p:sp>
        <p:nvSpPr>
          <p:cNvPr id="14" name="Text 11"/>
          <p:cNvSpPr txBox="1"/>
          <p:nvPr/>
        </p:nvSpPr>
        <p:spPr>
          <a:xfrm>
            <a:off x="3630168" y="2788920"/>
            <a:ext cx="2194560" cy="274320"/>
          </a:xfrm>
          <a:prstGeom prst="rect">
            <a:avLst/>
          </a:prstGeom>
          <a:noFill/>
          <a:ln/>
        </p:spPr>
        <p:txBody>
          <a:bodyPr wrap="square" lIns="0" tIns="0" rIns="0" bIns="0" rtlCol="0" anchor="t"/>
          <a:lstStyle/>
          <a:p>
            <a:pPr indent="0" marL="0">
              <a:buNone/>
            </a:pPr>
            <a:r>
              <a:rPr lang="en-US" sz="1300" i="1" dirty="0">
                <a:solidFill>
                  <a:srgbClr val="C8923C"/>
                </a:solidFill>
                <a:latin typeface="Calibri" pitchFamily="34" charset="0"/>
                <a:ea typeface="Calibri" pitchFamily="34" charset="-122"/>
                <a:cs typeface="Calibri" pitchFamily="34" charset="-120"/>
              </a:rPr>
              <a:t>Detailed, 7 steps</a:t>
            </a:r>
            <a:endParaRPr lang="en-US" sz="1300" dirty="0"/>
          </a:p>
        </p:txBody>
      </p:sp>
      <p:sp>
        <p:nvSpPr>
          <p:cNvPr id="15" name="Text 12"/>
          <p:cNvSpPr txBox="1"/>
          <p:nvPr/>
        </p:nvSpPr>
        <p:spPr>
          <a:xfrm>
            <a:off x="3630168" y="3200400"/>
            <a:ext cx="2148840" cy="868680"/>
          </a:xfrm>
          <a:prstGeom prst="rect">
            <a:avLst/>
          </a:prstGeom>
          <a:noFill/>
          <a:ln/>
        </p:spPr>
        <p:txBody>
          <a:bodyPr wrap="square" lIns="0" tIns="0" rIns="0" bIns="0" rtlCol="0" anchor="t"/>
          <a:lstStyle/>
          <a:p>
            <a:pPr indent="0" marL="0">
              <a:buNone/>
            </a:pPr>
            <a:r>
              <a:rPr lang="en-US" sz="1300" b="1" dirty="0">
                <a:solidFill>
                  <a:srgbClr val="6CC7B8"/>
                </a:solidFill>
                <a:latin typeface="Calibri" pitchFamily="34" charset="0"/>
                <a:ea typeface="Calibri" pitchFamily="34" charset="-122"/>
                <a:cs typeface="Calibri" pitchFamily="34" charset="-120"/>
              </a:rPr>
              <a:t>+  </a:t>
            </a:r>
            <a:pPr indent="0" marL="0">
              <a:buNone/>
            </a:pPr>
            <a:r>
              <a:rPr lang="en-US" sz="1300" dirty="0">
                <a:solidFill>
                  <a:srgbClr val="EFE4D2"/>
                </a:solidFill>
                <a:latin typeface="Calibri" pitchFamily="34" charset="0"/>
                <a:ea typeface="Calibri" pitchFamily="34" charset="-122"/>
                <a:cs typeface="Calibri" pitchFamily="34" charset="-120"/>
              </a:rPr>
              <a:t>Strong scheduling and paperwork automation.</a:t>
            </a:r>
            <a:endParaRPr lang="en-US" sz="1300" dirty="0"/>
          </a:p>
        </p:txBody>
      </p:sp>
      <p:sp>
        <p:nvSpPr>
          <p:cNvPr id="16" name="Text 13"/>
          <p:cNvSpPr txBox="1"/>
          <p:nvPr/>
        </p:nvSpPr>
        <p:spPr>
          <a:xfrm>
            <a:off x="3630168" y="4114800"/>
            <a:ext cx="2148840" cy="868680"/>
          </a:xfrm>
          <a:prstGeom prst="rect">
            <a:avLst/>
          </a:prstGeom>
          <a:noFill/>
          <a:ln/>
        </p:spPr>
        <p:txBody>
          <a:bodyPr wrap="square" lIns="0" tIns="0" rIns="0" bIns="0" rtlCol="0" anchor="t"/>
          <a:lstStyle/>
          <a:p>
            <a:pPr indent="0" marL="0">
              <a:buNone/>
            </a:pPr>
            <a:r>
              <a:rPr lang="en-US" sz="1300" b="1" dirty="0">
                <a:solidFill>
                  <a:srgbClr val="E48475"/>
                </a:solidFill>
                <a:latin typeface="Calibri" pitchFamily="34" charset="0"/>
                <a:ea typeface="Calibri" pitchFamily="34" charset="-122"/>
                <a:cs typeface="Calibri" pitchFamily="34" charset="-120"/>
              </a:rPr>
              <a:t>–  </a:t>
            </a:r>
            <a:pPr indent="0" marL="0">
              <a:buNone/>
            </a:pPr>
            <a:r>
              <a:rPr lang="en-US" sz="1300" dirty="0">
                <a:solidFill>
                  <a:srgbClr val="A89A86"/>
                </a:solidFill>
                <a:latin typeface="Calibri" pitchFamily="34" charset="0"/>
                <a:ea typeface="Calibri" pitchFamily="34" charset="-122"/>
                <a:cs typeface="Calibri" pitchFamily="34" charset="-120"/>
              </a:rPr>
              <a:t>Mislabels its AI step; tests still wait until after the doctor.</a:t>
            </a:r>
            <a:endParaRPr lang="en-US" sz="1300" dirty="0"/>
          </a:p>
        </p:txBody>
      </p:sp>
      <p:sp>
        <p:nvSpPr>
          <p:cNvPr id="17" name="Text 14"/>
          <p:cNvSpPr txBox="1"/>
          <p:nvPr/>
        </p:nvSpPr>
        <p:spPr>
          <a:xfrm>
            <a:off x="3630168" y="5120640"/>
            <a:ext cx="2194560" cy="640080"/>
          </a:xfrm>
          <a:prstGeom prst="rect">
            <a:avLst/>
          </a:prstGeom>
          <a:noFill/>
          <a:ln/>
        </p:spPr>
        <p:txBody>
          <a:bodyPr wrap="square" lIns="0" tIns="0" rIns="0" bIns="0" rtlCol="0" anchor="t"/>
          <a:lstStyle/>
          <a:p>
            <a:pPr indent="0" marL="0">
              <a:buNone/>
            </a:pPr>
            <a:r>
              <a:rPr lang="en-US" sz="3400" b="1" i="1" dirty="0">
                <a:solidFill>
                  <a:srgbClr val="F2CD83"/>
                </a:solidFill>
                <a:latin typeface="Cambria" pitchFamily="34" charset="0"/>
                <a:ea typeface="Cambria" pitchFamily="34" charset="-122"/>
                <a:cs typeface="Cambria" pitchFamily="34" charset="-120"/>
              </a:rPr>
              <a:t>81</a:t>
            </a:r>
            <a:pPr indent="0" marL="0">
              <a:buNone/>
            </a:pPr>
            <a:r>
              <a:rPr lang="en-US" sz="1400" b="1" dirty="0">
                <a:solidFill>
                  <a:srgbClr val="A89A86"/>
                </a:solidFill>
                <a:latin typeface="Cambria" pitchFamily="34" charset="0"/>
                <a:ea typeface="Cambria" pitchFamily="34" charset="-122"/>
                <a:cs typeface="Cambria" pitchFamily="34" charset="-120"/>
              </a:rPr>
              <a:t> min</a:t>
            </a:r>
            <a:endParaRPr lang="en-US" sz="3400" dirty="0"/>
          </a:p>
        </p:txBody>
      </p:sp>
      <p:sp>
        <p:nvSpPr>
          <p:cNvPr id="18" name="Shape 15"/>
          <p:cNvSpPr/>
          <p:nvPr/>
        </p:nvSpPr>
        <p:spPr>
          <a:xfrm>
            <a:off x="6163056" y="1920240"/>
            <a:ext cx="2578608" cy="4023360"/>
          </a:xfrm>
          <a:prstGeom prst="roundRect">
            <a:avLst>
              <a:gd name="adj" fmla="val 4255"/>
            </a:avLst>
          </a:prstGeom>
          <a:solidFill>
            <a:srgbClr val="1A1410"/>
          </a:solidFill>
          <a:ln w="12700">
            <a:solidFill>
              <a:srgbClr val="3A2F26"/>
            </a:solidFill>
            <a:prstDash val="solid"/>
          </a:ln>
        </p:spPr>
      </p:sp>
      <p:sp>
        <p:nvSpPr>
          <p:cNvPr id="19" name="Text 16"/>
          <p:cNvSpPr txBox="1"/>
          <p:nvPr/>
        </p:nvSpPr>
        <p:spPr>
          <a:xfrm>
            <a:off x="6391656" y="2331720"/>
            <a:ext cx="2194560" cy="457200"/>
          </a:xfrm>
          <a:prstGeom prst="rect">
            <a:avLst/>
          </a:prstGeom>
          <a:noFill/>
          <a:ln/>
        </p:spPr>
        <p:txBody>
          <a:bodyPr wrap="square" lIns="0" tIns="0" rIns="0" bIns="0" rtlCol="0" anchor="t"/>
          <a:lstStyle/>
          <a:p>
            <a:pPr indent="0" marL="0">
              <a:buNone/>
            </a:pPr>
            <a:r>
              <a:rPr lang="en-US" sz="2400" b="1" dirty="0">
                <a:solidFill>
                  <a:srgbClr val="EFE4D2"/>
                </a:solidFill>
                <a:latin typeface="Cambria" pitchFamily="34" charset="0"/>
                <a:ea typeface="Cambria" pitchFamily="34" charset="-122"/>
                <a:cs typeface="Cambria" pitchFamily="34" charset="-120"/>
              </a:rPr>
              <a:t>Arena 2</a:t>
            </a:r>
            <a:endParaRPr lang="en-US" sz="2400" dirty="0"/>
          </a:p>
        </p:txBody>
      </p:sp>
      <p:sp>
        <p:nvSpPr>
          <p:cNvPr id="20" name="Text 17"/>
          <p:cNvSpPr txBox="1"/>
          <p:nvPr/>
        </p:nvSpPr>
        <p:spPr>
          <a:xfrm>
            <a:off x="6391656" y="2788920"/>
            <a:ext cx="2194560" cy="274320"/>
          </a:xfrm>
          <a:prstGeom prst="rect">
            <a:avLst/>
          </a:prstGeom>
          <a:noFill/>
          <a:ln/>
        </p:spPr>
        <p:txBody>
          <a:bodyPr wrap="square" lIns="0" tIns="0" rIns="0" bIns="0" rtlCol="0" anchor="t"/>
          <a:lstStyle/>
          <a:p>
            <a:pPr indent="0" marL="0">
              <a:buNone/>
            </a:pPr>
            <a:r>
              <a:rPr lang="en-US" sz="1300" i="1" dirty="0">
                <a:solidFill>
                  <a:srgbClr val="C8923C"/>
                </a:solidFill>
                <a:latin typeface="Calibri" pitchFamily="34" charset="0"/>
                <a:ea typeface="Calibri" pitchFamily="34" charset="-122"/>
                <a:cs typeface="Calibri" pitchFamily="34" charset="-120"/>
              </a:rPr>
              <a:t>Zero-wait pipeline</a:t>
            </a:r>
            <a:endParaRPr lang="en-US" sz="1300" dirty="0"/>
          </a:p>
        </p:txBody>
      </p:sp>
      <p:sp>
        <p:nvSpPr>
          <p:cNvPr id="21" name="Text 18"/>
          <p:cNvSpPr txBox="1"/>
          <p:nvPr/>
        </p:nvSpPr>
        <p:spPr>
          <a:xfrm>
            <a:off x="6391656" y="3200400"/>
            <a:ext cx="2148840" cy="868680"/>
          </a:xfrm>
          <a:prstGeom prst="rect">
            <a:avLst/>
          </a:prstGeom>
          <a:noFill/>
          <a:ln/>
        </p:spPr>
        <p:txBody>
          <a:bodyPr wrap="square" lIns="0" tIns="0" rIns="0" bIns="0" rtlCol="0" anchor="t"/>
          <a:lstStyle/>
          <a:p>
            <a:pPr indent="0" marL="0">
              <a:buNone/>
            </a:pPr>
            <a:r>
              <a:rPr lang="en-US" sz="1300" b="1" dirty="0">
                <a:solidFill>
                  <a:srgbClr val="6CC7B8"/>
                </a:solidFill>
                <a:latin typeface="Calibri" pitchFamily="34" charset="0"/>
                <a:ea typeface="Calibri" pitchFamily="34" charset="-122"/>
                <a:cs typeface="Calibri" pitchFamily="34" charset="-120"/>
              </a:rPr>
              <a:t>+  </a:t>
            </a:r>
            <a:pPr indent="0" marL="0">
              <a:buNone/>
            </a:pPr>
            <a:r>
              <a:rPr lang="en-US" sz="1300" dirty="0">
                <a:solidFill>
                  <a:srgbClr val="EFE4D2"/>
                </a:solidFill>
                <a:latin typeface="Calibri" pitchFamily="34" charset="0"/>
                <a:ea typeface="Calibri" pitchFamily="34" charset="-122"/>
                <a:cs typeface="Calibri" pitchFamily="34" charset="-120"/>
              </a:rPr>
              <a:t>Runs tests while the patient waits: fastest idea.</a:t>
            </a:r>
            <a:endParaRPr lang="en-US" sz="1300" dirty="0"/>
          </a:p>
        </p:txBody>
      </p:sp>
      <p:sp>
        <p:nvSpPr>
          <p:cNvPr id="22" name="Text 19"/>
          <p:cNvSpPr txBox="1"/>
          <p:nvPr/>
        </p:nvSpPr>
        <p:spPr>
          <a:xfrm>
            <a:off x="6391656" y="4114800"/>
            <a:ext cx="2148840" cy="868680"/>
          </a:xfrm>
          <a:prstGeom prst="rect">
            <a:avLst/>
          </a:prstGeom>
          <a:noFill/>
          <a:ln/>
        </p:spPr>
        <p:txBody>
          <a:bodyPr wrap="square" lIns="0" tIns="0" rIns="0" bIns="0" rtlCol="0" anchor="t"/>
          <a:lstStyle/>
          <a:p>
            <a:pPr indent="0" marL="0">
              <a:buNone/>
            </a:pPr>
            <a:r>
              <a:rPr lang="en-US" sz="1300" b="1" dirty="0">
                <a:solidFill>
                  <a:srgbClr val="E48475"/>
                </a:solidFill>
                <a:latin typeface="Calibri" pitchFamily="34" charset="0"/>
                <a:ea typeface="Calibri" pitchFamily="34" charset="-122"/>
                <a:cs typeface="Calibri" pitchFamily="34" charset="-120"/>
              </a:rPr>
              <a:t>–  </a:t>
            </a:r>
            <a:pPr indent="0" marL="0">
              <a:buNone/>
            </a:pPr>
            <a:r>
              <a:rPr lang="en-US" sz="1300" dirty="0">
                <a:solidFill>
                  <a:srgbClr val="A89A86"/>
                </a:solidFill>
                <a:latin typeface="Calibri" pitchFamily="34" charset="0"/>
                <a:ea typeface="Calibri" pitchFamily="34" charset="-122"/>
                <a:cs typeface="Calibri" pitchFamily="34" charset="-120"/>
              </a:rPr>
              <a:t>No human check on AI, no staff planning for busy days.</a:t>
            </a:r>
            <a:endParaRPr lang="en-US" sz="1300" dirty="0"/>
          </a:p>
        </p:txBody>
      </p:sp>
      <p:sp>
        <p:nvSpPr>
          <p:cNvPr id="23" name="Text 20"/>
          <p:cNvSpPr txBox="1"/>
          <p:nvPr/>
        </p:nvSpPr>
        <p:spPr>
          <a:xfrm>
            <a:off x="6391656" y="5120640"/>
            <a:ext cx="2194560" cy="640080"/>
          </a:xfrm>
          <a:prstGeom prst="rect">
            <a:avLst/>
          </a:prstGeom>
          <a:noFill/>
          <a:ln/>
        </p:spPr>
        <p:txBody>
          <a:bodyPr wrap="square" lIns="0" tIns="0" rIns="0" bIns="0" rtlCol="0" anchor="t"/>
          <a:lstStyle/>
          <a:p>
            <a:pPr indent="0" marL="0">
              <a:buNone/>
            </a:pPr>
            <a:r>
              <a:rPr lang="en-US" sz="3400" b="1" i="1" dirty="0">
                <a:solidFill>
                  <a:srgbClr val="F2CD83"/>
                </a:solidFill>
                <a:latin typeface="Cambria" pitchFamily="34" charset="0"/>
                <a:ea typeface="Cambria" pitchFamily="34" charset="-122"/>
                <a:cs typeface="Cambria" pitchFamily="34" charset="-120"/>
              </a:rPr>
              <a:t>45</a:t>
            </a:r>
            <a:pPr indent="0" marL="0">
              <a:buNone/>
            </a:pPr>
            <a:r>
              <a:rPr lang="en-US" sz="1400" b="1" dirty="0">
                <a:solidFill>
                  <a:srgbClr val="A89A86"/>
                </a:solidFill>
                <a:latin typeface="Cambria" pitchFamily="34" charset="0"/>
                <a:ea typeface="Cambria" pitchFamily="34" charset="-122"/>
                <a:cs typeface="Cambria" pitchFamily="34" charset="-120"/>
              </a:rPr>
              <a:t> min</a:t>
            </a:r>
            <a:endParaRPr lang="en-US" sz="3400" dirty="0"/>
          </a:p>
        </p:txBody>
      </p:sp>
      <p:sp>
        <p:nvSpPr>
          <p:cNvPr id="24" name="Shape 21"/>
          <p:cNvSpPr/>
          <p:nvPr/>
        </p:nvSpPr>
        <p:spPr>
          <a:xfrm>
            <a:off x="8924544" y="1920240"/>
            <a:ext cx="2578608" cy="4023360"/>
          </a:xfrm>
          <a:prstGeom prst="roundRect">
            <a:avLst>
              <a:gd name="adj" fmla="val 4255"/>
            </a:avLst>
          </a:prstGeom>
          <a:solidFill>
            <a:srgbClr val="2A2016"/>
          </a:solidFill>
          <a:ln w="12700">
            <a:solidFill>
              <a:srgbClr val="C8923C"/>
            </a:solidFill>
            <a:prstDash val="solid"/>
          </a:ln>
        </p:spPr>
      </p:sp>
      <p:sp>
        <p:nvSpPr>
          <p:cNvPr id="25" name="Text 22"/>
          <p:cNvSpPr txBox="1"/>
          <p:nvPr/>
        </p:nvSpPr>
        <p:spPr>
          <a:xfrm>
            <a:off x="9153144" y="2057400"/>
            <a:ext cx="2194560" cy="228600"/>
          </a:xfrm>
          <a:prstGeom prst="rect">
            <a:avLst/>
          </a:prstGeom>
          <a:noFill/>
          <a:ln/>
        </p:spPr>
        <p:txBody>
          <a:bodyPr wrap="square" lIns="0" tIns="0" rIns="0" bIns="0" rtlCol="0" anchor="t"/>
          <a:lstStyle/>
          <a:p>
            <a:pPr indent="0" marL="0">
              <a:buNone/>
            </a:pPr>
            <a:r>
              <a:rPr lang="en-US" sz="900" b="1" spc="200" kern="0" dirty="0">
                <a:solidFill>
                  <a:srgbClr val="F2CD83"/>
                </a:solidFill>
                <a:latin typeface="Calibri" pitchFamily="34" charset="0"/>
                <a:ea typeface="Calibri" pitchFamily="34" charset="-122"/>
                <a:cs typeface="Calibri" pitchFamily="34" charset="-120"/>
              </a:rPr>
              <a:t>BEST STARTING POINT</a:t>
            </a:r>
            <a:endParaRPr lang="en-US" sz="900" dirty="0"/>
          </a:p>
        </p:txBody>
      </p:sp>
      <p:sp>
        <p:nvSpPr>
          <p:cNvPr id="26" name="Text 23"/>
          <p:cNvSpPr txBox="1"/>
          <p:nvPr/>
        </p:nvSpPr>
        <p:spPr>
          <a:xfrm>
            <a:off x="9153144" y="2331720"/>
            <a:ext cx="2194560" cy="457200"/>
          </a:xfrm>
          <a:prstGeom prst="rect">
            <a:avLst/>
          </a:prstGeom>
          <a:noFill/>
          <a:ln/>
        </p:spPr>
        <p:txBody>
          <a:bodyPr wrap="square" lIns="0" tIns="0" rIns="0" bIns="0" rtlCol="0" anchor="t"/>
          <a:lstStyle/>
          <a:p>
            <a:pPr indent="0" marL="0">
              <a:buNone/>
            </a:pPr>
            <a:r>
              <a:rPr lang="en-US" sz="2400" b="1" dirty="0">
                <a:solidFill>
                  <a:srgbClr val="EFE4D2"/>
                </a:solidFill>
                <a:latin typeface="Cambria" pitchFamily="34" charset="0"/>
                <a:ea typeface="Cambria" pitchFamily="34" charset="-122"/>
                <a:cs typeface="Cambria" pitchFamily="34" charset="-120"/>
              </a:rPr>
              <a:t>Z.ai</a:t>
            </a:r>
            <a:endParaRPr lang="en-US" sz="2400" dirty="0"/>
          </a:p>
        </p:txBody>
      </p:sp>
      <p:sp>
        <p:nvSpPr>
          <p:cNvPr id="27" name="Text 24"/>
          <p:cNvSpPr txBox="1"/>
          <p:nvPr/>
        </p:nvSpPr>
        <p:spPr>
          <a:xfrm>
            <a:off x="9153144" y="2788920"/>
            <a:ext cx="2194560" cy="274320"/>
          </a:xfrm>
          <a:prstGeom prst="rect">
            <a:avLst/>
          </a:prstGeom>
          <a:noFill/>
          <a:ln/>
        </p:spPr>
        <p:txBody>
          <a:bodyPr wrap="square" lIns="0" tIns="0" rIns="0" bIns="0" rtlCol="0" anchor="t"/>
          <a:lstStyle/>
          <a:p>
            <a:pPr indent="0" marL="0">
              <a:buNone/>
            </a:pPr>
            <a:r>
              <a:rPr lang="en-US" sz="1300" i="1" dirty="0">
                <a:solidFill>
                  <a:srgbClr val="C8923C"/>
                </a:solidFill>
                <a:latin typeface="Calibri" pitchFamily="34" charset="0"/>
                <a:ea typeface="Calibri" pitchFamily="34" charset="-122"/>
                <a:cs typeface="Calibri" pitchFamily="34" charset="-120"/>
              </a:rPr>
              <a:t>Balanced &amp; realistic</a:t>
            </a:r>
            <a:endParaRPr lang="en-US" sz="1300" dirty="0"/>
          </a:p>
        </p:txBody>
      </p:sp>
      <p:sp>
        <p:nvSpPr>
          <p:cNvPr id="28" name="Text 25"/>
          <p:cNvSpPr txBox="1"/>
          <p:nvPr/>
        </p:nvSpPr>
        <p:spPr>
          <a:xfrm>
            <a:off x="9153144" y="3200400"/>
            <a:ext cx="2148840" cy="868680"/>
          </a:xfrm>
          <a:prstGeom prst="rect">
            <a:avLst/>
          </a:prstGeom>
          <a:noFill/>
          <a:ln/>
        </p:spPr>
        <p:txBody>
          <a:bodyPr wrap="square" lIns="0" tIns="0" rIns="0" bIns="0" rtlCol="0" anchor="t"/>
          <a:lstStyle/>
          <a:p>
            <a:pPr indent="0" marL="0">
              <a:buNone/>
            </a:pPr>
            <a:r>
              <a:rPr lang="en-US" sz="1300" b="1" dirty="0">
                <a:solidFill>
                  <a:srgbClr val="6CC7B8"/>
                </a:solidFill>
                <a:latin typeface="Calibri" pitchFamily="34" charset="0"/>
                <a:ea typeface="Calibri" pitchFamily="34" charset="-122"/>
                <a:cs typeface="Calibri" pitchFamily="34" charset="-120"/>
              </a:rPr>
              <a:t>+  </a:t>
            </a:r>
            <a:pPr indent="0" marL="0">
              <a:buNone/>
            </a:pPr>
            <a:r>
              <a:rPr lang="en-US" sz="1300" dirty="0">
                <a:solidFill>
                  <a:srgbClr val="EFE4D2"/>
                </a:solidFill>
                <a:latin typeface="Calibri" pitchFamily="34" charset="0"/>
                <a:ea typeface="Calibri" pitchFamily="34" charset="-122"/>
                <a:cs typeface="Calibri" pitchFamily="34" charset="-120"/>
              </a:rPr>
              <a:t>Staff forecasting, emergency alerts, learning loop.</a:t>
            </a:r>
            <a:endParaRPr lang="en-US" sz="1300" dirty="0"/>
          </a:p>
        </p:txBody>
      </p:sp>
      <p:sp>
        <p:nvSpPr>
          <p:cNvPr id="29" name="Text 26"/>
          <p:cNvSpPr txBox="1"/>
          <p:nvPr/>
        </p:nvSpPr>
        <p:spPr>
          <a:xfrm>
            <a:off x="9153144" y="4114800"/>
            <a:ext cx="2148840" cy="868680"/>
          </a:xfrm>
          <a:prstGeom prst="rect">
            <a:avLst/>
          </a:prstGeom>
          <a:noFill/>
          <a:ln/>
        </p:spPr>
        <p:txBody>
          <a:bodyPr wrap="square" lIns="0" tIns="0" rIns="0" bIns="0" rtlCol="0" anchor="t"/>
          <a:lstStyle/>
          <a:p>
            <a:pPr indent="0" marL="0">
              <a:buNone/>
            </a:pPr>
            <a:r>
              <a:rPr lang="en-US" sz="1300" b="1" dirty="0">
                <a:solidFill>
                  <a:srgbClr val="E48475"/>
                </a:solidFill>
                <a:latin typeface="Calibri" pitchFamily="34" charset="0"/>
                <a:ea typeface="Calibri" pitchFamily="34" charset="-122"/>
                <a:cs typeface="Calibri" pitchFamily="34" charset="-120"/>
              </a:rPr>
              <a:t>–  </a:t>
            </a:r>
            <a:pPr indent="0" marL="0">
              <a:buNone/>
            </a:pPr>
            <a:r>
              <a:rPr lang="en-US" sz="1300" dirty="0">
                <a:solidFill>
                  <a:srgbClr val="A89A86"/>
                </a:solidFill>
                <a:latin typeface="Calibri" pitchFamily="34" charset="0"/>
                <a:ea typeface="Calibri" pitchFamily="34" charset="-122"/>
                <a:cs typeface="Calibri" pitchFamily="34" charset="-120"/>
              </a:rPr>
              <a:t>Leaves out privacy and a backup plan.</a:t>
            </a:r>
            <a:endParaRPr lang="en-US" sz="1300" dirty="0"/>
          </a:p>
        </p:txBody>
      </p:sp>
      <p:sp>
        <p:nvSpPr>
          <p:cNvPr id="30" name="Text 27"/>
          <p:cNvSpPr txBox="1"/>
          <p:nvPr/>
        </p:nvSpPr>
        <p:spPr>
          <a:xfrm>
            <a:off x="9153144" y="5120640"/>
            <a:ext cx="2194560" cy="640080"/>
          </a:xfrm>
          <a:prstGeom prst="rect">
            <a:avLst/>
          </a:prstGeom>
          <a:noFill/>
          <a:ln/>
        </p:spPr>
        <p:txBody>
          <a:bodyPr wrap="square" lIns="0" tIns="0" rIns="0" bIns="0" rtlCol="0" anchor="t"/>
          <a:lstStyle/>
          <a:p>
            <a:pPr indent="0" marL="0">
              <a:buNone/>
            </a:pPr>
            <a:r>
              <a:rPr lang="en-US" sz="3400" b="1" i="1" dirty="0">
                <a:solidFill>
                  <a:srgbClr val="F2CD83"/>
                </a:solidFill>
                <a:latin typeface="Cambria" pitchFamily="34" charset="0"/>
                <a:ea typeface="Cambria" pitchFamily="34" charset="-122"/>
                <a:cs typeface="Cambria" pitchFamily="34" charset="-120"/>
              </a:rPr>
              <a:t>47</a:t>
            </a:r>
            <a:pPr indent="0" marL="0">
              <a:buNone/>
            </a:pPr>
            <a:r>
              <a:rPr lang="en-US" sz="1400" b="1" dirty="0">
                <a:solidFill>
                  <a:srgbClr val="A89A86"/>
                </a:solidFill>
                <a:latin typeface="Cambria" pitchFamily="34" charset="0"/>
                <a:ea typeface="Cambria" pitchFamily="34" charset="-122"/>
                <a:cs typeface="Cambria" pitchFamily="34" charset="-120"/>
              </a:rPr>
              <a:t> min</a:t>
            </a:r>
            <a:endParaRPr lang="en-US" sz="3400" dirty="0"/>
          </a:p>
        </p:txBody>
      </p:sp>
      <p:sp>
        <p:nvSpPr>
          <p:cNvPr id="31" name="Text 28"/>
          <p:cNvSpPr txBox="1"/>
          <p:nvPr/>
        </p:nvSpPr>
        <p:spPr>
          <a:xfrm>
            <a:off x="640080" y="6126480"/>
            <a:ext cx="10881360" cy="228600"/>
          </a:xfrm>
          <a:prstGeom prst="rect">
            <a:avLst/>
          </a:prstGeom>
          <a:noFill/>
          <a:ln/>
        </p:spPr>
        <p:txBody>
          <a:bodyPr wrap="square" lIns="0" tIns="0" rIns="0" bIns="0" rtlCol="0" anchor="t"/>
          <a:lstStyle/>
          <a:p>
            <a:pPr indent="0" marL="0">
              <a:buNone/>
            </a:pPr>
            <a:r>
              <a:rPr lang="en-US" sz="1000" i="1" dirty="0">
                <a:solidFill>
                  <a:srgbClr val="6E6253"/>
                </a:solidFill>
                <a:latin typeface="Calibri" pitchFamily="34" charset="0"/>
                <a:ea typeface="Calibri" pitchFamily="34" charset="-122"/>
                <a:cs typeface="Calibri" pitchFamily="34" charset="-120"/>
              </a:rPr>
              <a:t>Estimated time per patient on a normal day.</a:t>
            </a:r>
            <a:endParaRPr lang="en-US" sz="1000" dirty="0"/>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A08"/>
        </a:solidFill>
      </p:bgPr>
    </p:bg>
    <p:spTree>
      <p:nvGrpSpPr>
        <p:cNvPr id="1" name=""/>
        <p:cNvGrpSpPr/>
        <p:nvPr/>
      </p:nvGrpSpPr>
      <p:grpSpPr>
        <a:xfrm>
          <a:off x="0" y="0"/>
          <a:ext cx="0" cy="0"/>
          <a:chOff x="0" y="0"/>
          <a:chExt cx="0" cy="0"/>
        </a:xfrm>
      </p:grpSpPr>
      <p:pic>
        <p:nvPicPr>
          <p:cNvPr id="2" name="Image 0" descr="bg/t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05</a:t>
            </a:r>
            <a:endParaRPr lang="en-US" sz="900" dirty="0"/>
          </a:p>
        </p:txBody>
      </p:sp>
      <p:sp>
        <p:nvSpPr>
          <p:cNvPr id="4" name="Text 1"/>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04  ·  TIME COMPARISON</a:t>
            </a:r>
            <a:endParaRPr lang="en-US" sz="1200" dirty="0"/>
          </a:p>
        </p:txBody>
      </p:sp>
      <p:sp>
        <p:nvSpPr>
          <p:cNvPr id="5" name="Text 2"/>
          <p:cNvSpPr txBox="1"/>
          <p:nvPr/>
        </p:nvSpPr>
        <p:spPr>
          <a:xfrm>
            <a:off x="640080" y="868680"/>
            <a:ext cx="10515600" cy="91440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Minutes per patient, </a:t>
            </a:r>
            <a:pPr indent="0" marL="0">
              <a:buNone/>
            </a:pPr>
            <a:r>
              <a:rPr lang="en-US" sz="3800" b="1" i="1" dirty="0">
                <a:solidFill>
                  <a:srgbClr val="F2CD83"/>
                </a:solidFill>
                <a:latin typeface="Cambria" pitchFamily="34" charset="0"/>
                <a:ea typeface="Cambria" pitchFamily="34" charset="-122"/>
                <a:cs typeface="Cambria" pitchFamily="34" charset="-120"/>
              </a:rPr>
              <a:t>model by model</a:t>
            </a:r>
            <a:endParaRPr lang="en-US" sz="3800" dirty="0"/>
          </a:p>
        </p:txBody>
      </p:sp>
      <p:graphicFrame>
        <p:nvGraphicFramePr>
          <p:cNvPr id="6" name="Chart 0" descr=""/>
          <p:cNvGraphicFramePr/>
          <p:nvPr/>
        </p:nvGraphicFramePr>
        <p:xfrm>
          <a:off x="457200" y="1828800"/>
          <a:ext cx="7589520" cy="420624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8412480" y="2011680"/>
            <a:ext cx="3108960" cy="3840480"/>
          </a:xfrm>
          <a:prstGeom prst="roundRect">
            <a:avLst>
              <a:gd name="adj" fmla="val 3529"/>
            </a:avLst>
          </a:prstGeom>
          <a:solidFill>
            <a:srgbClr val="2A2016"/>
          </a:solidFill>
          <a:ln w="12700">
            <a:solidFill>
              <a:srgbClr val="C8923C"/>
            </a:solidFill>
            <a:prstDash val="solid"/>
          </a:ln>
        </p:spPr>
      </p:sp>
      <p:sp>
        <p:nvSpPr>
          <p:cNvPr id="8" name="Text 4"/>
          <p:cNvSpPr txBox="1"/>
          <p:nvPr/>
        </p:nvSpPr>
        <p:spPr>
          <a:xfrm>
            <a:off x="8686800" y="2240280"/>
            <a:ext cx="2651760" cy="274320"/>
          </a:xfrm>
          <a:prstGeom prst="rect">
            <a:avLst/>
          </a:prstGeom>
          <a:noFill/>
          <a:ln/>
        </p:spPr>
        <p:txBody>
          <a:bodyPr wrap="square" lIns="0" tIns="0" rIns="0" bIns="0" rtlCol="0" anchor="t"/>
          <a:lstStyle/>
          <a:p>
            <a:pPr indent="0" marL="0">
              <a:buNone/>
            </a:pPr>
            <a:r>
              <a:rPr lang="en-US" sz="1100" b="1" spc="300" kern="0" dirty="0">
                <a:solidFill>
                  <a:srgbClr val="F2CD83"/>
                </a:solidFill>
                <a:latin typeface="Calibri" pitchFamily="34" charset="0"/>
                <a:ea typeface="Calibri" pitchFamily="34" charset="-122"/>
                <a:cs typeface="Calibri" pitchFamily="34" charset="-120"/>
              </a:rPr>
              <a:t>THE WINNER</a:t>
            </a:r>
            <a:endParaRPr lang="en-US" sz="1100" dirty="0"/>
          </a:p>
        </p:txBody>
      </p:sp>
      <p:sp>
        <p:nvSpPr>
          <p:cNvPr id="9" name="Text 5"/>
          <p:cNvSpPr txBox="1"/>
          <p:nvPr/>
        </p:nvSpPr>
        <p:spPr>
          <a:xfrm>
            <a:off x="8686800" y="2560320"/>
            <a:ext cx="2651760" cy="457200"/>
          </a:xfrm>
          <a:prstGeom prst="rect">
            <a:avLst/>
          </a:prstGeom>
          <a:noFill/>
          <a:ln/>
        </p:spPr>
        <p:txBody>
          <a:bodyPr wrap="square" lIns="0" tIns="0" rIns="0" bIns="0" rtlCol="0" anchor="t"/>
          <a:lstStyle/>
          <a:p>
            <a:pPr indent="0" marL="0">
              <a:buNone/>
            </a:pPr>
            <a:r>
              <a:rPr lang="en-US" sz="2200" b="1" dirty="0">
                <a:solidFill>
                  <a:srgbClr val="EFE4D2"/>
                </a:solidFill>
                <a:latin typeface="Cambria" pitchFamily="34" charset="0"/>
                <a:ea typeface="Cambria" pitchFamily="34" charset="-122"/>
                <a:cs typeface="Cambria" pitchFamily="34" charset="-120"/>
              </a:rPr>
              <a:t>Enhanced version</a:t>
            </a:r>
            <a:endParaRPr lang="en-US" sz="2200" dirty="0"/>
          </a:p>
        </p:txBody>
      </p:sp>
      <p:sp>
        <p:nvSpPr>
          <p:cNvPr id="10" name="Text 6"/>
          <p:cNvSpPr txBox="1"/>
          <p:nvPr/>
        </p:nvSpPr>
        <p:spPr>
          <a:xfrm>
            <a:off x="8686800" y="3154680"/>
            <a:ext cx="265176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A89A86"/>
                </a:solidFill>
                <a:latin typeface="Calibri" pitchFamily="34" charset="0"/>
                <a:ea typeface="Calibri" pitchFamily="34" charset="-122"/>
                <a:cs typeface="Calibri" pitchFamily="34" charset="-120"/>
              </a:rPr>
              <a:t>Ties for fastest on a normal day (45 min).</a:t>
            </a:r>
            <a:endParaRPr lang="en-US" sz="1400" dirty="0"/>
          </a:p>
          <a:p>
            <a:pPr marL="342900" indent="-342900">
              <a:spcAft>
                <a:spcPts val="800"/>
              </a:spcAft>
              <a:buSzPct val="100000"/>
              <a:buChar char="•"/>
            </a:pPr>
            <a:r>
              <a:rPr lang="en-US" sz="1400" dirty="0">
                <a:solidFill>
                  <a:srgbClr val="A89A86"/>
                </a:solidFill>
                <a:latin typeface="Calibri" pitchFamily="34" charset="0"/>
                <a:ea typeface="Calibri" pitchFamily="34" charset="-122"/>
                <a:cs typeface="Calibri" pitchFamily="34" charset="-120"/>
              </a:rPr>
              <a:t>Holds up best on busy days (55 min).</a:t>
            </a:r>
            <a:endParaRPr lang="en-US" sz="1400" dirty="0"/>
          </a:p>
          <a:p>
            <a:pPr marL="342900" indent="-342900">
              <a:spcAft>
                <a:spcPts val="800"/>
              </a:spcAft>
              <a:buSzPct val="100000"/>
              <a:buChar char="•"/>
            </a:pPr>
            <a:r>
              <a:rPr lang="en-US" sz="1400" dirty="0">
                <a:solidFill>
                  <a:srgbClr val="A89A86"/>
                </a:solidFill>
                <a:latin typeface="Calibri" pitchFamily="34" charset="0"/>
                <a:ea typeface="Calibri" pitchFamily="34" charset="-122"/>
                <a:cs typeface="Calibri" pitchFamily="34" charset="-120"/>
              </a:rPr>
              <a:t>Arena 2 is fast too, but jumps to 95 min when the hospital is busy.</a:t>
            </a:r>
            <a:endParaRPr lang="en-US" sz="1400" dirty="0"/>
          </a:p>
        </p:txBody>
      </p:sp>
      <p:sp>
        <p:nvSpPr>
          <p:cNvPr id="11" name="Text 7"/>
          <p:cNvSpPr txBox="1"/>
          <p:nvPr/>
        </p:nvSpPr>
        <p:spPr>
          <a:xfrm>
            <a:off x="640080" y="6126480"/>
            <a:ext cx="10881360" cy="228600"/>
          </a:xfrm>
          <a:prstGeom prst="rect">
            <a:avLst/>
          </a:prstGeom>
          <a:noFill/>
          <a:ln/>
        </p:spPr>
        <p:txBody>
          <a:bodyPr wrap="square" lIns="0" tIns="0" rIns="0" bIns="0" rtlCol="0" anchor="t"/>
          <a:lstStyle/>
          <a:p>
            <a:pPr indent="0" marL="0">
              <a:buNone/>
            </a:pPr>
            <a:r>
              <a:rPr lang="en-US" sz="1000" i="1" dirty="0">
                <a:solidFill>
                  <a:srgbClr val="6E6253"/>
                </a:solidFill>
                <a:latin typeface="Calibri" pitchFamily="34" charset="0"/>
                <a:ea typeface="Calibri" pitchFamily="34" charset="-122"/>
                <a:cs typeface="Calibri" pitchFamily="34" charset="-120"/>
              </a:rPr>
              <a:t>Illustrative estimates for comparison, not measured hospital data.</a:t>
            </a:r>
            <a:endParaRPr lang="en-US" sz="1000" dirty="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A08"/>
        </a:solidFill>
      </p:bgPr>
    </p:bg>
    <p:spTree>
      <p:nvGrpSpPr>
        <p:cNvPr id="1" name=""/>
        <p:cNvGrpSpPr/>
        <p:nvPr/>
      </p:nvGrpSpPr>
      <p:grpSpPr>
        <a:xfrm>
          <a:off x="0" y="0"/>
          <a:ext cx="0" cy="0"/>
          <a:chOff x="0" y="0"/>
          <a:chExt cx="0" cy="0"/>
        </a:xfrm>
      </p:grpSpPr>
      <p:pic>
        <p:nvPicPr>
          <p:cNvPr id="2" name="Image 0" descr="bg/cente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06</a:t>
            </a:r>
            <a:endParaRPr lang="en-US" sz="900" dirty="0"/>
          </a:p>
        </p:txBody>
      </p:sp>
      <p:sp>
        <p:nvSpPr>
          <p:cNvPr id="4" name="Text 1"/>
          <p:cNvSpPr txBox="1"/>
          <p:nvPr/>
        </p:nvSpPr>
        <p:spPr>
          <a:xfrm>
            <a:off x="640080" y="82296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05  ·  THE BIG IDEA</a:t>
            </a:r>
            <a:endParaRPr lang="en-US" sz="1200" dirty="0"/>
          </a:p>
        </p:txBody>
      </p:sp>
      <p:sp>
        <p:nvSpPr>
          <p:cNvPr id="5" name="Text 2"/>
          <p:cNvSpPr txBox="1"/>
          <p:nvPr/>
        </p:nvSpPr>
        <p:spPr>
          <a:xfrm>
            <a:off x="640080" y="1188720"/>
            <a:ext cx="10881360" cy="914400"/>
          </a:xfrm>
          <a:prstGeom prst="rect">
            <a:avLst/>
          </a:prstGeom>
          <a:noFill/>
          <a:ln/>
        </p:spPr>
        <p:txBody>
          <a:bodyPr wrap="square" lIns="0" tIns="0" rIns="0" bIns="0" rtlCol="0" anchor="t"/>
          <a:lstStyle/>
          <a:p>
            <a:pPr algn="ctr" indent="0" marL="0">
              <a:buNone/>
            </a:pPr>
            <a:r>
              <a:rPr lang="en-US" sz="4000" b="1" dirty="0">
                <a:solidFill>
                  <a:srgbClr val="EFE4D2"/>
                </a:solidFill>
                <a:latin typeface="Cambria" pitchFamily="34" charset="0"/>
                <a:ea typeface="Cambria" pitchFamily="34" charset="-122"/>
                <a:cs typeface="Cambria" pitchFamily="34" charset="-120"/>
              </a:rPr>
              <a:t>AI takes the </a:t>
            </a:r>
            <a:pPr algn="ctr" indent="0" marL="0">
              <a:buNone/>
            </a:pPr>
            <a:r>
              <a:rPr lang="en-US" sz="4000" b="1" i="1" dirty="0">
                <a:solidFill>
                  <a:srgbClr val="6CC7B8"/>
                </a:solidFill>
                <a:latin typeface="Cambria" pitchFamily="34" charset="0"/>
                <a:ea typeface="Cambria" pitchFamily="34" charset="-122"/>
                <a:cs typeface="Cambria" pitchFamily="34" charset="-120"/>
              </a:rPr>
              <a:t>queue.</a:t>
            </a:r>
            <a:pPr algn="ctr" indent="0" marL="0">
              <a:buNone/>
            </a:pPr>
            <a:r>
              <a:rPr lang="en-US" sz="4000" b="1" dirty="0">
                <a:solidFill>
                  <a:srgbClr val="EFE4D2"/>
                </a:solidFill>
                <a:latin typeface="Cambria" pitchFamily="34" charset="0"/>
                <a:ea typeface="Cambria" pitchFamily="34" charset="-122"/>
                <a:cs typeface="Cambria" pitchFamily="34" charset="-120"/>
              </a:rPr>
              <a:t>  Doctors take the </a:t>
            </a:r>
            <a:pPr algn="ctr" indent="0" marL="0">
              <a:buNone/>
            </a:pPr>
            <a:r>
              <a:rPr lang="en-US" sz="4000" b="1" i="1" dirty="0">
                <a:solidFill>
                  <a:srgbClr val="F2CD83"/>
                </a:solidFill>
                <a:latin typeface="Cambria" pitchFamily="34" charset="0"/>
                <a:ea typeface="Cambria" pitchFamily="34" charset="-122"/>
                <a:cs typeface="Cambria" pitchFamily="34" charset="-120"/>
              </a:rPr>
              <a:t>care.</a:t>
            </a:r>
            <a:endParaRPr lang="en-US" sz="4000" dirty="0"/>
          </a:p>
        </p:txBody>
      </p:sp>
      <p:sp>
        <p:nvSpPr>
          <p:cNvPr id="6" name="Shape 3"/>
          <p:cNvSpPr/>
          <p:nvPr/>
        </p:nvSpPr>
        <p:spPr>
          <a:xfrm>
            <a:off x="640080" y="2514600"/>
            <a:ext cx="5193792" cy="3429000"/>
          </a:xfrm>
          <a:prstGeom prst="roundRect">
            <a:avLst>
              <a:gd name="adj" fmla="val 3200"/>
            </a:avLst>
          </a:prstGeom>
          <a:solidFill>
            <a:srgbClr val="1A1410"/>
          </a:solidFill>
          <a:ln w="12700">
            <a:solidFill>
              <a:srgbClr val="3A2F26"/>
            </a:solidFill>
            <a:prstDash val="solid"/>
          </a:ln>
        </p:spPr>
      </p:sp>
      <p:sp>
        <p:nvSpPr>
          <p:cNvPr id="7" name="Shape 4"/>
          <p:cNvSpPr/>
          <p:nvPr/>
        </p:nvSpPr>
        <p:spPr>
          <a:xfrm>
            <a:off x="960120" y="2743200"/>
            <a:ext cx="731520" cy="731520"/>
          </a:xfrm>
          <a:prstGeom prst="ellipse">
            <a:avLst/>
          </a:prstGeom>
          <a:solidFill>
            <a:srgbClr val="241C16"/>
          </a:solidFill>
          <a:ln w="15875">
            <a:solidFill>
              <a:srgbClr val="6CC7B8"/>
            </a:solidFill>
            <a:prstDash val="solid"/>
          </a:ln>
        </p:spPr>
      </p:sp>
      <p:pic>
        <p:nvPicPr>
          <p:cNvPr id="8" name="Image 1" descr="preencoded.png">    </p:cNvPr>
          <p:cNvPicPr>
            <a:picLocks noChangeAspect="1"/>
          </p:cNvPicPr>
          <p:nvPr/>
        </p:nvPicPr>
        <p:blipFill>
          <a:blip r:embed="rId2"/>
          <a:stretch>
            <a:fillRect/>
          </a:stretch>
        </p:blipFill>
        <p:spPr>
          <a:xfrm>
            <a:off x="1143000" y="2926080"/>
            <a:ext cx="365760" cy="365760"/>
          </a:xfrm>
          <a:prstGeom prst="rect">
            <a:avLst/>
          </a:prstGeom>
        </p:spPr>
      </p:pic>
      <p:sp>
        <p:nvSpPr>
          <p:cNvPr id="9" name="Text 5"/>
          <p:cNvSpPr txBox="1"/>
          <p:nvPr/>
        </p:nvSpPr>
        <p:spPr>
          <a:xfrm>
            <a:off x="1874520" y="2761488"/>
            <a:ext cx="3657600" cy="411480"/>
          </a:xfrm>
          <a:prstGeom prst="rect">
            <a:avLst/>
          </a:prstGeom>
          <a:noFill/>
          <a:ln/>
        </p:spPr>
        <p:txBody>
          <a:bodyPr wrap="square" lIns="0" tIns="0" rIns="0" bIns="0" rtlCol="0" anchor="t"/>
          <a:lstStyle/>
          <a:p>
            <a:pPr indent="0" marL="0">
              <a:buNone/>
            </a:pPr>
            <a:r>
              <a:rPr lang="en-US" sz="2400" b="1" dirty="0">
                <a:solidFill>
                  <a:srgbClr val="6CC7B8"/>
                </a:solidFill>
                <a:latin typeface="Cambria" pitchFamily="34" charset="0"/>
                <a:ea typeface="Cambria" pitchFamily="34" charset="-122"/>
                <a:cs typeface="Cambria" pitchFamily="34" charset="-120"/>
              </a:rPr>
              <a:t>AI handles</a:t>
            </a:r>
            <a:endParaRPr lang="en-US" sz="2400" dirty="0"/>
          </a:p>
        </p:txBody>
      </p:sp>
      <p:sp>
        <p:nvSpPr>
          <p:cNvPr id="10" name="Text 6"/>
          <p:cNvSpPr txBox="1"/>
          <p:nvPr/>
        </p:nvSpPr>
        <p:spPr>
          <a:xfrm>
            <a:off x="1874520" y="3182112"/>
            <a:ext cx="3749040" cy="274320"/>
          </a:xfrm>
          <a:prstGeom prst="rect">
            <a:avLst/>
          </a:prstGeom>
          <a:noFill/>
          <a:ln/>
        </p:spPr>
        <p:txBody>
          <a:bodyPr wrap="square" lIns="0" tIns="0" rIns="0" bIns="0" rtlCol="0" anchor="t"/>
          <a:lstStyle/>
          <a:p>
            <a:pPr indent="0" marL="0">
              <a:buNone/>
            </a:pPr>
            <a:r>
              <a:rPr lang="en-US" sz="1300" i="1" dirty="0">
                <a:solidFill>
                  <a:srgbClr val="A89A86"/>
                </a:solidFill>
                <a:latin typeface="Calibri" pitchFamily="34" charset="0"/>
                <a:ea typeface="Calibri" pitchFamily="34" charset="-122"/>
                <a:cs typeface="Calibri" pitchFamily="34" charset="-120"/>
              </a:rPr>
              <a:t>Fast, repetitive, rule-based work</a:t>
            </a:r>
            <a:endParaRPr lang="en-US" sz="1300" dirty="0"/>
          </a:p>
        </p:txBody>
      </p:sp>
      <p:sp>
        <p:nvSpPr>
          <p:cNvPr id="11" name="Text 7"/>
          <p:cNvSpPr txBox="1"/>
          <p:nvPr/>
        </p:nvSpPr>
        <p:spPr>
          <a:xfrm>
            <a:off x="1005840" y="3794760"/>
            <a:ext cx="4480560" cy="19202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EFE4D2"/>
                </a:solidFill>
                <a:latin typeface="Calibri" pitchFamily="34" charset="0"/>
                <a:ea typeface="Calibri" pitchFamily="34" charset="-122"/>
                <a:cs typeface="Calibri" pitchFamily="34" charset="-120"/>
              </a:rPr>
              <a:t>Forecasting patient numbers</a:t>
            </a:r>
            <a:endParaRPr lang="en-US" sz="1700" dirty="0"/>
          </a:p>
          <a:p>
            <a:pPr marL="342900" indent="-342900">
              <a:spcAft>
                <a:spcPts val="1000"/>
              </a:spcAft>
              <a:buSzPct val="100000"/>
              <a:buChar char="•"/>
            </a:pPr>
            <a:r>
              <a:rPr lang="en-US" sz="1700" dirty="0">
                <a:solidFill>
                  <a:srgbClr val="EFE4D2"/>
                </a:solidFill>
                <a:latin typeface="Calibri" pitchFamily="34" charset="0"/>
                <a:ea typeface="Calibri" pitchFamily="34" charset="-122"/>
                <a:cs typeface="Calibri" pitchFamily="34" charset="-120"/>
              </a:rPr>
              <a:t>Sorting patients by urgency</a:t>
            </a:r>
            <a:endParaRPr lang="en-US" sz="1700" dirty="0"/>
          </a:p>
          <a:p>
            <a:pPr marL="342900" indent="-342900">
              <a:spcAft>
                <a:spcPts val="1000"/>
              </a:spcAft>
              <a:buSzPct val="100000"/>
              <a:buChar char="•"/>
            </a:pPr>
            <a:r>
              <a:rPr lang="en-US" sz="1700" dirty="0">
                <a:solidFill>
                  <a:srgbClr val="EFE4D2"/>
                </a:solidFill>
                <a:latin typeface="Calibri" pitchFamily="34" charset="0"/>
                <a:ea typeface="Calibri" pitchFamily="34" charset="-122"/>
                <a:cs typeface="Calibri" pitchFamily="34" charset="-120"/>
              </a:rPr>
              <a:t>Scheduling doctors &amp; rooms</a:t>
            </a:r>
            <a:endParaRPr lang="en-US" sz="1700" dirty="0"/>
          </a:p>
          <a:p>
            <a:pPr marL="342900" indent="-342900">
              <a:spcAft>
                <a:spcPts val="1000"/>
              </a:spcAft>
              <a:buSzPct val="100000"/>
              <a:buChar char="•"/>
            </a:pPr>
            <a:r>
              <a:rPr lang="en-US" sz="1700" dirty="0">
                <a:solidFill>
                  <a:srgbClr val="EFE4D2"/>
                </a:solidFill>
                <a:latin typeface="Calibri" pitchFamily="34" charset="0"/>
                <a:ea typeface="Calibri" pitchFamily="34" charset="-122"/>
                <a:cs typeface="Calibri" pitchFamily="34" charset="-120"/>
              </a:rPr>
              <a:t>Paperwork, reminders, follow-up</a:t>
            </a:r>
            <a:endParaRPr lang="en-US" sz="1700" dirty="0"/>
          </a:p>
        </p:txBody>
      </p:sp>
      <p:sp>
        <p:nvSpPr>
          <p:cNvPr id="12" name="Shape 8"/>
          <p:cNvSpPr/>
          <p:nvPr/>
        </p:nvSpPr>
        <p:spPr>
          <a:xfrm>
            <a:off x="6355080" y="2514600"/>
            <a:ext cx="5193792" cy="3429000"/>
          </a:xfrm>
          <a:prstGeom prst="roundRect">
            <a:avLst>
              <a:gd name="adj" fmla="val 3200"/>
            </a:avLst>
          </a:prstGeom>
          <a:solidFill>
            <a:srgbClr val="1A1410"/>
          </a:solidFill>
          <a:ln w="12700">
            <a:solidFill>
              <a:srgbClr val="3A2F26"/>
            </a:solidFill>
            <a:prstDash val="solid"/>
          </a:ln>
        </p:spPr>
      </p:sp>
      <p:sp>
        <p:nvSpPr>
          <p:cNvPr id="13" name="Shape 9"/>
          <p:cNvSpPr/>
          <p:nvPr/>
        </p:nvSpPr>
        <p:spPr>
          <a:xfrm>
            <a:off x="6675120" y="2743200"/>
            <a:ext cx="731520" cy="731520"/>
          </a:xfrm>
          <a:prstGeom prst="ellipse">
            <a:avLst/>
          </a:prstGeom>
          <a:solidFill>
            <a:srgbClr val="241C16"/>
          </a:solidFill>
          <a:ln w="15875">
            <a:solidFill>
              <a:srgbClr val="F2CD83"/>
            </a:solidFill>
            <a:prstDash val="solid"/>
          </a:ln>
        </p:spPr>
      </p:sp>
      <p:pic>
        <p:nvPicPr>
          <p:cNvPr id="14" name="Image 2" descr="preencoded.png">    </p:cNvPr>
          <p:cNvPicPr>
            <a:picLocks noChangeAspect="1"/>
          </p:cNvPicPr>
          <p:nvPr/>
        </p:nvPicPr>
        <p:blipFill>
          <a:blip r:embed="rId3"/>
          <a:stretch>
            <a:fillRect/>
          </a:stretch>
        </p:blipFill>
        <p:spPr>
          <a:xfrm>
            <a:off x="6858000" y="2926080"/>
            <a:ext cx="365760" cy="365760"/>
          </a:xfrm>
          <a:prstGeom prst="rect">
            <a:avLst/>
          </a:prstGeom>
        </p:spPr>
      </p:pic>
      <p:sp>
        <p:nvSpPr>
          <p:cNvPr id="15" name="Text 10"/>
          <p:cNvSpPr txBox="1"/>
          <p:nvPr/>
        </p:nvSpPr>
        <p:spPr>
          <a:xfrm>
            <a:off x="7589520" y="2761488"/>
            <a:ext cx="3657600" cy="411480"/>
          </a:xfrm>
          <a:prstGeom prst="rect">
            <a:avLst/>
          </a:prstGeom>
          <a:noFill/>
          <a:ln/>
        </p:spPr>
        <p:txBody>
          <a:bodyPr wrap="square" lIns="0" tIns="0" rIns="0" bIns="0" rtlCol="0" anchor="t"/>
          <a:lstStyle/>
          <a:p>
            <a:pPr indent="0" marL="0">
              <a:buNone/>
            </a:pPr>
            <a:r>
              <a:rPr lang="en-US" sz="2400" b="1" dirty="0">
                <a:solidFill>
                  <a:srgbClr val="F2CD83"/>
                </a:solidFill>
                <a:latin typeface="Cambria" pitchFamily="34" charset="0"/>
                <a:ea typeface="Cambria" pitchFamily="34" charset="-122"/>
                <a:cs typeface="Cambria" pitchFamily="34" charset="-120"/>
              </a:rPr>
              <a:t>Doctors handle</a:t>
            </a:r>
            <a:endParaRPr lang="en-US" sz="2400" dirty="0"/>
          </a:p>
        </p:txBody>
      </p:sp>
      <p:sp>
        <p:nvSpPr>
          <p:cNvPr id="16" name="Text 11"/>
          <p:cNvSpPr txBox="1"/>
          <p:nvPr/>
        </p:nvSpPr>
        <p:spPr>
          <a:xfrm>
            <a:off x="7589520" y="3182112"/>
            <a:ext cx="3749040" cy="274320"/>
          </a:xfrm>
          <a:prstGeom prst="rect">
            <a:avLst/>
          </a:prstGeom>
          <a:noFill/>
          <a:ln/>
        </p:spPr>
        <p:txBody>
          <a:bodyPr wrap="square" lIns="0" tIns="0" rIns="0" bIns="0" rtlCol="0" anchor="t"/>
          <a:lstStyle/>
          <a:p>
            <a:pPr indent="0" marL="0">
              <a:buNone/>
            </a:pPr>
            <a:r>
              <a:rPr lang="en-US" sz="1300" i="1" dirty="0">
                <a:solidFill>
                  <a:srgbClr val="A89A86"/>
                </a:solidFill>
                <a:latin typeface="Calibri" pitchFamily="34" charset="0"/>
                <a:ea typeface="Calibri" pitchFamily="34" charset="-122"/>
                <a:cs typeface="Calibri" pitchFamily="34" charset="-120"/>
              </a:rPr>
              <a:t>Judgement, responsibility, people</a:t>
            </a:r>
            <a:endParaRPr lang="en-US" sz="1300" dirty="0"/>
          </a:p>
        </p:txBody>
      </p:sp>
      <p:sp>
        <p:nvSpPr>
          <p:cNvPr id="17" name="Text 12"/>
          <p:cNvSpPr txBox="1"/>
          <p:nvPr/>
        </p:nvSpPr>
        <p:spPr>
          <a:xfrm>
            <a:off x="6720840" y="3794760"/>
            <a:ext cx="4480560" cy="19202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EFE4D2"/>
                </a:solidFill>
                <a:latin typeface="Calibri" pitchFamily="34" charset="0"/>
                <a:ea typeface="Calibri" pitchFamily="34" charset="-122"/>
                <a:cs typeface="Calibri" pitchFamily="34" charset="-120"/>
              </a:rPr>
              <a:t>Examining the patient</a:t>
            </a:r>
            <a:endParaRPr lang="en-US" sz="1700" dirty="0"/>
          </a:p>
          <a:p>
            <a:pPr marL="342900" indent="-342900">
              <a:spcAft>
                <a:spcPts val="1000"/>
              </a:spcAft>
              <a:buSzPct val="100000"/>
              <a:buChar char="•"/>
            </a:pPr>
            <a:r>
              <a:rPr lang="en-US" sz="1700" dirty="0">
                <a:solidFill>
                  <a:srgbClr val="EFE4D2"/>
                </a:solidFill>
                <a:latin typeface="Calibri" pitchFamily="34" charset="0"/>
                <a:ea typeface="Calibri" pitchFamily="34" charset="-122"/>
                <a:cs typeface="Calibri" pitchFamily="34" charset="-120"/>
              </a:rPr>
              <a:t>Making the diagnosis</a:t>
            </a:r>
            <a:endParaRPr lang="en-US" sz="1700" dirty="0"/>
          </a:p>
          <a:p>
            <a:pPr marL="342900" indent="-342900">
              <a:spcAft>
                <a:spcPts val="1000"/>
              </a:spcAft>
              <a:buSzPct val="100000"/>
              <a:buChar char="•"/>
            </a:pPr>
            <a:r>
              <a:rPr lang="en-US" sz="1700" dirty="0">
                <a:solidFill>
                  <a:srgbClr val="EFE4D2"/>
                </a:solidFill>
                <a:latin typeface="Calibri" pitchFamily="34" charset="0"/>
                <a:ea typeface="Calibri" pitchFamily="34" charset="-122"/>
                <a:cs typeface="Calibri" pitchFamily="34" charset="-120"/>
              </a:rPr>
              <a:t>Deciding the treatment</a:t>
            </a:r>
            <a:endParaRPr lang="en-US" sz="1700" dirty="0"/>
          </a:p>
          <a:p>
            <a:pPr marL="342900" indent="-342900">
              <a:spcAft>
                <a:spcPts val="1000"/>
              </a:spcAft>
              <a:buSzPct val="100000"/>
              <a:buChar char="•"/>
            </a:pPr>
            <a:r>
              <a:rPr lang="en-US" sz="1700" dirty="0">
                <a:solidFill>
                  <a:srgbClr val="EFE4D2"/>
                </a:solidFill>
                <a:latin typeface="Calibri" pitchFamily="34" charset="0"/>
                <a:ea typeface="Calibri" pitchFamily="34" charset="-122"/>
                <a:cs typeface="Calibri" pitchFamily="34" charset="-120"/>
              </a:rPr>
              <a:t>Talking with the patient</a:t>
            </a:r>
            <a:endParaRPr lang="en-US" sz="1700" dirty="0"/>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A08"/>
        </a:solidFill>
      </p:bgPr>
    </p:bg>
    <p:spTree>
      <p:nvGrpSpPr>
        <p:cNvPr id="1" name=""/>
        <p:cNvGrpSpPr/>
        <p:nvPr/>
      </p:nvGrpSpPr>
      <p:grpSpPr>
        <a:xfrm>
          <a:off x="0" y="0"/>
          <a:ext cx="0" cy="0"/>
          <a:chOff x="0" y="0"/>
          <a:chExt cx="0" cy="0"/>
        </a:xfrm>
      </p:grpSpPr>
      <p:pic>
        <p:nvPicPr>
          <p:cNvPr id="2" name="Image 0" descr="bg/plain.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07</a:t>
            </a:r>
            <a:endParaRPr lang="en-US" sz="900" dirty="0"/>
          </a:p>
        </p:txBody>
      </p:sp>
      <p:sp>
        <p:nvSpPr>
          <p:cNvPr id="4" name="Text 1"/>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06  ·  THE ENHANCED WORKFLOW</a:t>
            </a:r>
            <a:endParaRPr lang="en-US" sz="1200" dirty="0"/>
          </a:p>
        </p:txBody>
      </p:sp>
      <p:sp>
        <p:nvSpPr>
          <p:cNvPr id="5" name="Text 2"/>
          <p:cNvSpPr txBox="1"/>
          <p:nvPr/>
        </p:nvSpPr>
        <p:spPr>
          <a:xfrm>
            <a:off x="640080" y="868680"/>
            <a:ext cx="10515600" cy="91440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Eight steps, </a:t>
            </a:r>
            <a:pPr indent="0" marL="0">
              <a:buNone/>
            </a:pPr>
            <a:r>
              <a:rPr lang="en-US" sz="3800" b="1" i="1" dirty="0">
                <a:solidFill>
                  <a:srgbClr val="F2CD83"/>
                </a:solidFill>
                <a:latin typeface="Cambria" pitchFamily="34" charset="0"/>
                <a:ea typeface="Cambria" pitchFamily="34" charset="-122"/>
                <a:cs typeface="Cambria" pitchFamily="34" charset="-120"/>
              </a:rPr>
              <a:t>one smooth flow</a:t>
            </a:r>
            <a:endParaRPr lang="en-US" sz="3800" dirty="0"/>
          </a:p>
        </p:txBody>
      </p:sp>
      <p:sp>
        <p:nvSpPr>
          <p:cNvPr id="6" name="Shape 3"/>
          <p:cNvSpPr/>
          <p:nvPr/>
        </p:nvSpPr>
        <p:spPr>
          <a:xfrm>
            <a:off x="1321880" y="3703320"/>
            <a:ext cx="9545193" cy="0"/>
          </a:xfrm>
          <a:prstGeom prst="line">
            <a:avLst/>
          </a:prstGeom>
          <a:noFill/>
          <a:ln w="25400">
            <a:solidFill>
              <a:srgbClr val="3A2F26"/>
            </a:solidFill>
            <a:prstDash val="solid"/>
          </a:ln>
        </p:spPr>
      </p:sp>
      <p:sp>
        <p:nvSpPr>
          <p:cNvPr id="7" name="Text 4"/>
          <p:cNvSpPr txBox="1"/>
          <p:nvPr/>
        </p:nvSpPr>
        <p:spPr>
          <a:xfrm>
            <a:off x="640080" y="2148840"/>
            <a:ext cx="2727198" cy="274320"/>
          </a:xfrm>
          <a:prstGeom prst="rect">
            <a:avLst/>
          </a:prstGeom>
          <a:noFill/>
          <a:ln/>
        </p:spPr>
        <p:txBody>
          <a:bodyPr wrap="square" lIns="0" tIns="0" rIns="0" bIns="0" rtlCol="0" anchor="t"/>
          <a:lstStyle/>
          <a:p>
            <a:pPr algn="ctr" indent="0" marL="0">
              <a:buNone/>
            </a:pPr>
            <a:r>
              <a:rPr lang="en-US" sz="1100" b="1" spc="300" kern="0" dirty="0">
                <a:solidFill>
                  <a:srgbClr val="6E6253"/>
                </a:solidFill>
                <a:latin typeface="Calibri" pitchFamily="34" charset="0"/>
                <a:ea typeface="Calibri" pitchFamily="34" charset="-122"/>
                <a:cs typeface="Calibri" pitchFamily="34" charset="-120"/>
              </a:rPr>
              <a:t>BEFORE ARRIVAL</a:t>
            </a:r>
            <a:endParaRPr lang="en-US" sz="1100" dirty="0"/>
          </a:p>
        </p:txBody>
      </p:sp>
      <p:sp>
        <p:nvSpPr>
          <p:cNvPr id="8" name="Shape 5"/>
          <p:cNvSpPr/>
          <p:nvPr/>
        </p:nvSpPr>
        <p:spPr>
          <a:xfrm>
            <a:off x="777240" y="2514600"/>
            <a:ext cx="2452878" cy="0"/>
          </a:xfrm>
          <a:prstGeom prst="line">
            <a:avLst/>
          </a:prstGeom>
          <a:noFill/>
          <a:ln w="12700">
            <a:solidFill>
              <a:srgbClr val="6E6253"/>
            </a:solidFill>
            <a:prstDash val="dash"/>
          </a:ln>
        </p:spPr>
      </p:sp>
      <p:sp>
        <p:nvSpPr>
          <p:cNvPr id="9" name="Text 6"/>
          <p:cNvSpPr txBox="1"/>
          <p:nvPr/>
        </p:nvSpPr>
        <p:spPr>
          <a:xfrm>
            <a:off x="3367278" y="2148840"/>
            <a:ext cx="6817995" cy="274320"/>
          </a:xfrm>
          <a:prstGeom prst="rect">
            <a:avLst/>
          </a:prstGeom>
          <a:noFill/>
          <a:ln/>
        </p:spPr>
        <p:txBody>
          <a:bodyPr wrap="square" lIns="0" tIns="0" rIns="0" bIns="0" rtlCol="0" anchor="t"/>
          <a:lstStyle/>
          <a:p>
            <a:pPr algn="ctr" indent="0" marL="0">
              <a:buNone/>
            </a:pPr>
            <a:r>
              <a:rPr lang="en-US" sz="1100" b="1" spc="300" kern="0" dirty="0">
                <a:solidFill>
                  <a:srgbClr val="F2CD83"/>
                </a:solidFill>
                <a:latin typeface="Calibri" pitchFamily="34" charset="0"/>
                <a:ea typeface="Calibri" pitchFamily="34" charset="-122"/>
                <a:cs typeface="Calibri" pitchFamily="34" charset="-120"/>
              </a:rPr>
              <a:t>IN HOSPITAL  ·  ≈ 45 MIN</a:t>
            </a:r>
            <a:endParaRPr lang="en-US" sz="1100" dirty="0"/>
          </a:p>
        </p:txBody>
      </p:sp>
      <p:sp>
        <p:nvSpPr>
          <p:cNvPr id="10" name="Shape 7"/>
          <p:cNvSpPr/>
          <p:nvPr/>
        </p:nvSpPr>
        <p:spPr>
          <a:xfrm>
            <a:off x="3504438" y="2514600"/>
            <a:ext cx="6543675" cy="0"/>
          </a:xfrm>
          <a:prstGeom prst="line">
            <a:avLst/>
          </a:prstGeom>
          <a:noFill/>
          <a:ln w="12700">
            <a:solidFill>
              <a:srgbClr val="F2CD83"/>
            </a:solidFill>
            <a:prstDash val="dash"/>
          </a:ln>
        </p:spPr>
      </p:sp>
      <p:sp>
        <p:nvSpPr>
          <p:cNvPr id="11" name="Text 8"/>
          <p:cNvSpPr txBox="1"/>
          <p:nvPr/>
        </p:nvSpPr>
        <p:spPr>
          <a:xfrm>
            <a:off x="10185273" y="2148840"/>
            <a:ext cx="1363599" cy="274320"/>
          </a:xfrm>
          <a:prstGeom prst="rect">
            <a:avLst/>
          </a:prstGeom>
          <a:noFill/>
          <a:ln/>
        </p:spPr>
        <p:txBody>
          <a:bodyPr wrap="square" lIns="0" tIns="0" rIns="0" bIns="0" rtlCol="0" anchor="t"/>
          <a:lstStyle/>
          <a:p>
            <a:pPr algn="ctr" indent="0" marL="0">
              <a:buNone/>
            </a:pPr>
            <a:r>
              <a:rPr lang="en-US" sz="1100" b="1" spc="300" kern="0" dirty="0">
                <a:solidFill>
                  <a:srgbClr val="6E6253"/>
                </a:solidFill>
                <a:latin typeface="Calibri" pitchFamily="34" charset="0"/>
                <a:ea typeface="Calibri" pitchFamily="34" charset="-122"/>
                <a:cs typeface="Calibri" pitchFamily="34" charset="-120"/>
              </a:rPr>
              <a:t>AFTER</a:t>
            </a:r>
            <a:endParaRPr lang="en-US" sz="1100" dirty="0"/>
          </a:p>
        </p:txBody>
      </p:sp>
      <p:sp>
        <p:nvSpPr>
          <p:cNvPr id="12" name="Shape 9"/>
          <p:cNvSpPr/>
          <p:nvPr/>
        </p:nvSpPr>
        <p:spPr>
          <a:xfrm>
            <a:off x="10322433" y="2514600"/>
            <a:ext cx="1089279" cy="0"/>
          </a:xfrm>
          <a:prstGeom prst="line">
            <a:avLst/>
          </a:prstGeom>
          <a:noFill/>
          <a:ln w="12700">
            <a:solidFill>
              <a:srgbClr val="6E6253"/>
            </a:solidFill>
            <a:prstDash val="dash"/>
          </a:ln>
        </p:spPr>
      </p:sp>
      <p:sp>
        <p:nvSpPr>
          <p:cNvPr id="13" name="Shape 10"/>
          <p:cNvSpPr/>
          <p:nvPr/>
        </p:nvSpPr>
        <p:spPr>
          <a:xfrm>
            <a:off x="910400" y="3291840"/>
            <a:ext cx="822960" cy="822960"/>
          </a:xfrm>
          <a:prstGeom prst="ellipse">
            <a:avLst/>
          </a:prstGeom>
          <a:solidFill>
            <a:srgbClr val="241C16"/>
          </a:solidFill>
          <a:ln w="15875">
            <a:solidFill>
              <a:srgbClr val="6CC7B8"/>
            </a:solidFill>
            <a:prstDash val="solid"/>
          </a:ln>
        </p:spPr>
      </p:sp>
      <p:sp>
        <p:nvSpPr>
          <p:cNvPr id="14" name="Text 11"/>
          <p:cNvSpPr txBox="1"/>
          <p:nvPr/>
        </p:nvSpPr>
        <p:spPr>
          <a:xfrm>
            <a:off x="910400" y="3291840"/>
            <a:ext cx="822960" cy="822960"/>
          </a:xfrm>
          <a:prstGeom prst="rect">
            <a:avLst/>
          </a:prstGeom>
          <a:noFill/>
          <a:ln/>
        </p:spPr>
        <p:txBody>
          <a:bodyPr wrap="square" lIns="0" tIns="0" rIns="0" bIns="0" rtlCol="0" anchor="ctr"/>
          <a:lstStyle/>
          <a:p>
            <a:pPr algn="ctr" indent="0" marL="0">
              <a:buNone/>
            </a:pPr>
            <a:r>
              <a:rPr lang="en-US" sz="2400" b="1" i="1" dirty="0">
                <a:solidFill>
                  <a:srgbClr val="6CC7B8"/>
                </a:solidFill>
                <a:latin typeface="Cambria" pitchFamily="34" charset="0"/>
                <a:ea typeface="Cambria" pitchFamily="34" charset="-122"/>
                <a:cs typeface="Cambria" pitchFamily="34" charset="-120"/>
              </a:rPr>
              <a:t>1</a:t>
            </a:r>
            <a:endParaRPr lang="en-US" sz="2400" dirty="0"/>
          </a:p>
        </p:txBody>
      </p:sp>
      <p:sp>
        <p:nvSpPr>
          <p:cNvPr id="15" name="Text 12"/>
          <p:cNvSpPr txBox="1"/>
          <p:nvPr/>
        </p:nvSpPr>
        <p:spPr>
          <a:xfrm>
            <a:off x="685800" y="4434840"/>
            <a:ext cx="1272159" cy="640080"/>
          </a:xfrm>
          <a:prstGeom prst="rect">
            <a:avLst/>
          </a:prstGeom>
          <a:noFill/>
          <a:ln/>
        </p:spPr>
        <p:txBody>
          <a:bodyPr wrap="square" lIns="0" tIns="0" rIns="0" bIns="0" rtlCol="0" anchor="t"/>
          <a:lstStyle/>
          <a:p>
            <a:pPr algn="ctr" indent="0" marL="0">
              <a:buNone/>
            </a:pPr>
            <a:r>
              <a:rPr lang="en-US" sz="1400" b="1" dirty="0">
                <a:solidFill>
                  <a:srgbClr val="EFE4D2"/>
                </a:solidFill>
                <a:latin typeface="Calibri" pitchFamily="34" charset="0"/>
                <a:ea typeface="Calibri" pitchFamily="34" charset="-122"/>
                <a:cs typeface="Calibri" pitchFamily="34" charset="-120"/>
              </a:rPr>
              <a:t>Predictive planning</a:t>
            </a:r>
            <a:endParaRPr lang="en-US" sz="1400" dirty="0"/>
          </a:p>
        </p:txBody>
      </p:sp>
      <p:sp>
        <p:nvSpPr>
          <p:cNvPr id="16" name="Text 13"/>
          <p:cNvSpPr txBox="1"/>
          <p:nvPr/>
        </p:nvSpPr>
        <p:spPr>
          <a:xfrm>
            <a:off x="640080" y="5074920"/>
            <a:ext cx="1363599" cy="320040"/>
          </a:xfrm>
          <a:prstGeom prst="rect">
            <a:avLst/>
          </a:prstGeom>
          <a:noFill/>
          <a:ln/>
        </p:spPr>
        <p:txBody>
          <a:bodyPr wrap="square" lIns="0" tIns="0" rIns="0" bIns="0" rtlCol="0" anchor="t"/>
          <a:lstStyle/>
          <a:p>
            <a:pPr algn="ctr" indent="0" marL="0">
              <a:buNone/>
            </a:pPr>
            <a:r>
              <a:rPr lang="en-US" sz="1400" i="1" dirty="0">
                <a:solidFill>
                  <a:srgbClr val="A89A86"/>
                </a:solidFill>
                <a:latin typeface="Cambria" pitchFamily="34" charset="0"/>
                <a:ea typeface="Cambria" pitchFamily="34" charset="-122"/>
                <a:cs typeface="Cambria" pitchFamily="34" charset="-120"/>
              </a:rPr>
              <a:t>0 min</a:t>
            </a:r>
            <a:endParaRPr lang="en-US" sz="1400" dirty="0"/>
          </a:p>
        </p:txBody>
      </p:sp>
      <p:sp>
        <p:nvSpPr>
          <p:cNvPr id="17" name="Shape 14"/>
          <p:cNvSpPr/>
          <p:nvPr/>
        </p:nvSpPr>
        <p:spPr>
          <a:xfrm>
            <a:off x="2273999" y="3291840"/>
            <a:ext cx="822960" cy="822960"/>
          </a:xfrm>
          <a:prstGeom prst="ellipse">
            <a:avLst/>
          </a:prstGeom>
          <a:solidFill>
            <a:srgbClr val="241C16"/>
          </a:solidFill>
          <a:ln w="15875">
            <a:solidFill>
              <a:srgbClr val="A89A86"/>
            </a:solidFill>
            <a:prstDash val="solid"/>
          </a:ln>
        </p:spPr>
      </p:sp>
      <p:sp>
        <p:nvSpPr>
          <p:cNvPr id="18" name="Text 15"/>
          <p:cNvSpPr txBox="1"/>
          <p:nvPr/>
        </p:nvSpPr>
        <p:spPr>
          <a:xfrm>
            <a:off x="2273999" y="3291840"/>
            <a:ext cx="822960" cy="822960"/>
          </a:xfrm>
          <a:prstGeom prst="rect">
            <a:avLst/>
          </a:prstGeom>
          <a:noFill/>
          <a:ln/>
        </p:spPr>
        <p:txBody>
          <a:bodyPr wrap="square" lIns="0" tIns="0" rIns="0" bIns="0" rtlCol="0" anchor="ctr"/>
          <a:lstStyle/>
          <a:p>
            <a:pPr algn="ctr" indent="0" marL="0">
              <a:buNone/>
            </a:pPr>
            <a:r>
              <a:rPr lang="en-US" sz="2400" b="1" i="1" dirty="0">
                <a:solidFill>
                  <a:srgbClr val="A89A86"/>
                </a:solidFill>
                <a:latin typeface="Cambria" pitchFamily="34" charset="0"/>
                <a:ea typeface="Cambria" pitchFamily="34" charset="-122"/>
                <a:cs typeface="Cambria" pitchFamily="34" charset="-120"/>
              </a:rPr>
              <a:t>2</a:t>
            </a:r>
            <a:endParaRPr lang="en-US" sz="2400" dirty="0"/>
          </a:p>
        </p:txBody>
      </p:sp>
      <p:sp>
        <p:nvSpPr>
          <p:cNvPr id="19" name="Text 16"/>
          <p:cNvSpPr txBox="1"/>
          <p:nvPr/>
        </p:nvSpPr>
        <p:spPr>
          <a:xfrm>
            <a:off x="2049399" y="4434840"/>
            <a:ext cx="1272159" cy="640080"/>
          </a:xfrm>
          <a:prstGeom prst="rect">
            <a:avLst/>
          </a:prstGeom>
          <a:noFill/>
          <a:ln/>
        </p:spPr>
        <p:txBody>
          <a:bodyPr wrap="square" lIns="0" tIns="0" rIns="0" bIns="0" rtlCol="0" anchor="t"/>
          <a:lstStyle/>
          <a:p>
            <a:pPr algn="ctr" indent="0" marL="0">
              <a:buNone/>
            </a:pPr>
            <a:r>
              <a:rPr lang="en-US" sz="1400" b="1" dirty="0">
                <a:solidFill>
                  <a:srgbClr val="EFE4D2"/>
                </a:solidFill>
                <a:latin typeface="Calibri" pitchFamily="34" charset="0"/>
                <a:ea typeface="Calibri" pitchFamily="34" charset="-122"/>
                <a:cs typeface="Calibri" pitchFamily="34" charset="-120"/>
              </a:rPr>
              <a:t>Pre-arrival intake</a:t>
            </a:r>
            <a:endParaRPr lang="en-US" sz="1400" dirty="0"/>
          </a:p>
        </p:txBody>
      </p:sp>
      <p:sp>
        <p:nvSpPr>
          <p:cNvPr id="20" name="Text 17"/>
          <p:cNvSpPr txBox="1"/>
          <p:nvPr/>
        </p:nvSpPr>
        <p:spPr>
          <a:xfrm>
            <a:off x="2003679" y="5074920"/>
            <a:ext cx="1363599" cy="320040"/>
          </a:xfrm>
          <a:prstGeom prst="rect">
            <a:avLst/>
          </a:prstGeom>
          <a:noFill/>
          <a:ln/>
        </p:spPr>
        <p:txBody>
          <a:bodyPr wrap="square" lIns="0" tIns="0" rIns="0" bIns="0" rtlCol="0" anchor="t"/>
          <a:lstStyle/>
          <a:p>
            <a:pPr algn="ctr" indent="0" marL="0">
              <a:buNone/>
            </a:pPr>
            <a:r>
              <a:rPr lang="en-US" sz="1400" i="1" dirty="0">
                <a:solidFill>
                  <a:srgbClr val="A89A86"/>
                </a:solidFill>
                <a:latin typeface="Cambria" pitchFamily="34" charset="0"/>
                <a:ea typeface="Cambria" pitchFamily="34" charset="-122"/>
                <a:cs typeface="Cambria" pitchFamily="34" charset="-120"/>
              </a:rPr>
              <a:t>0 min</a:t>
            </a:r>
            <a:endParaRPr lang="en-US" sz="1400" dirty="0"/>
          </a:p>
        </p:txBody>
      </p:sp>
      <p:sp>
        <p:nvSpPr>
          <p:cNvPr id="21" name="Shape 18"/>
          <p:cNvSpPr/>
          <p:nvPr/>
        </p:nvSpPr>
        <p:spPr>
          <a:xfrm>
            <a:off x="3637597" y="3291840"/>
            <a:ext cx="822960" cy="822960"/>
          </a:xfrm>
          <a:prstGeom prst="ellipse">
            <a:avLst/>
          </a:prstGeom>
          <a:solidFill>
            <a:srgbClr val="241C16"/>
          </a:solidFill>
          <a:ln w="15875">
            <a:solidFill>
              <a:srgbClr val="A89A86"/>
            </a:solidFill>
            <a:prstDash val="solid"/>
          </a:ln>
        </p:spPr>
      </p:sp>
      <p:sp>
        <p:nvSpPr>
          <p:cNvPr id="22" name="Text 19"/>
          <p:cNvSpPr txBox="1"/>
          <p:nvPr/>
        </p:nvSpPr>
        <p:spPr>
          <a:xfrm>
            <a:off x="3637597" y="3291840"/>
            <a:ext cx="822960" cy="822960"/>
          </a:xfrm>
          <a:prstGeom prst="rect">
            <a:avLst/>
          </a:prstGeom>
          <a:noFill/>
          <a:ln/>
        </p:spPr>
        <p:txBody>
          <a:bodyPr wrap="square" lIns="0" tIns="0" rIns="0" bIns="0" rtlCol="0" anchor="ctr"/>
          <a:lstStyle/>
          <a:p>
            <a:pPr algn="ctr" indent="0" marL="0">
              <a:buNone/>
            </a:pPr>
            <a:r>
              <a:rPr lang="en-US" sz="2400" b="1" i="1" dirty="0">
                <a:solidFill>
                  <a:srgbClr val="A89A86"/>
                </a:solidFill>
                <a:latin typeface="Cambria" pitchFamily="34" charset="0"/>
                <a:ea typeface="Cambria" pitchFamily="34" charset="-122"/>
                <a:cs typeface="Cambria" pitchFamily="34" charset="-120"/>
              </a:rPr>
              <a:t>3</a:t>
            </a:r>
            <a:endParaRPr lang="en-US" sz="2400" dirty="0"/>
          </a:p>
        </p:txBody>
      </p:sp>
      <p:sp>
        <p:nvSpPr>
          <p:cNvPr id="23" name="Text 20"/>
          <p:cNvSpPr txBox="1"/>
          <p:nvPr/>
        </p:nvSpPr>
        <p:spPr>
          <a:xfrm>
            <a:off x="3412998" y="4434840"/>
            <a:ext cx="1272159" cy="640080"/>
          </a:xfrm>
          <a:prstGeom prst="rect">
            <a:avLst/>
          </a:prstGeom>
          <a:noFill/>
          <a:ln/>
        </p:spPr>
        <p:txBody>
          <a:bodyPr wrap="square" lIns="0" tIns="0" rIns="0" bIns="0" rtlCol="0" anchor="t"/>
          <a:lstStyle/>
          <a:p>
            <a:pPr algn="ctr" indent="0" marL="0">
              <a:buNone/>
            </a:pPr>
            <a:r>
              <a:rPr lang="en-US" sz="1400" b="1" dirty="0">
                <a:solidFill>
                  <a:srgbClr val="EFE4D2"/>
                </a:solidFill>
                <a:latin typeface="Calibri" pitchFamily="34" charset="0"/>
                <a:ea typeface="Calibri" pitchFamily="34" charset="-122"/>
                <a:cs typeface="Calibri" pitchFamily="34" charset="-120"/>
              </a:rPr>
              <a:t>Check-in</a:t>
            </a:r>
            <a:endParaRPr lang="en-US" sz="1400" dirty="0"/>
          </a:p>
        </p:txBody>
      </p:sp>
      <p:sp>
        <p:nvSpPr>
          <p:cNvPr id="24" name="Text 21"/>
          <p:cNvSpPr txBox="1"/>
          <p:nvPr/>
        </p:nvSpPr>
        <p:spPr>
          <a:xfrm>
            <a:off x="3367278" y="5074920"/>
            <a:ext cx="1363599" cy="320040"/>
          </a:xfrm>
          <a:prstGeom prst="rect">
            <a:avLst/>
          </a:prstGeom>
          <a:noFill/>
          <a:ln/>
        </p:spPr>
        <p:txBody>
          <a:bodyPr wrap="square" lIns="0" tIns="0" rIns="0" bIns="0" rtlCol="0" anchor="t"/>
          <a:lstStyle/>
          <a:p>
            <a:pPr algn="ctr" indent="0" marL="0">
              <a:buNone/>
            </a:pPr>
            <a:r>
              <a:rPr lang="en-US" sz="1400" i="1" dirty="0">
                <a:solidFill>
                  <a:srgbClr val="A89A86"/>
                </a:solidFill>
                <a:latin typeface="Cambria" pitchFamily="34" charset="0"/>
                <a:ea typeface="Cambria" pitchFamily="34" charset="-122"/>
                <a:cs typeface="Cambria" pitchFamily="34" charset="-120"/>
              </a:rPr>
              <a:t>2 min</a:t>
            </a:r>
            <a:endParaRPr lang="en-US" sz="1400" dirty="0"/>
          </a:p>
        </p:txBody>
      </p:sp>
      <p:sp>
        <p:nvSpPr>
          <p:cNvPr id="25" name="Shape 22"/>
          <p:cNvSpPr/>
          <p:nvPr/>
        </p:nvSpPr>
        <p:spPr>
          <a:xfrm>
            <a:off x="4909757" y="3200400"/>
            <a:ext cx="1005840" cy="1005840"/>
          </a:xfrm>
          <a:prstGeom prst="ellipse">
            <a:avLst/>
          </a:prstGeom>
          <a:solidFill>
            <a:srgbClr val="2A2016"/>
          </a:solidFill>
          <a:ln w="15875">
            <a:solidFill>
              <a:srgbClr val="6CC7B8"/>
            </a:solidFill>
            <a:prstDash val="solid"/>
          </a:ln>
        </p:spPr>
      </p:sp>
      <p:sp>
        <p:nvSpPr>
          <p:cNvPr id="26" name="Text 23"/>
          <p:cNvSpPr txBox="1"/>
          <p:nvPr/>
        </p:nvSpPr>
        <p:spPr>
          <a:xfrm>
            <a:off x="4909757" y="3200400"/>
            <a:ext cx="1005840" cy="1005840"/>
          </a:xfrm>
          <a:prstGeom prst="rect">
            <a:avLst/>
          </a:prstGeom>
          <a:noFill/>
          <a:ln/>
        </p:spPr>
        <p:txBody>
          <a:bodyPr wrap="square" lIns="0" tIns="0" rIns="0" bIns="0" rtlCol="0" anchor="ctr"/>
          <a:lstStyle/>
          <a:p>
            <a:pPr algn="ctr" indent="0" marL="0">
              <a:buNone/>
            </a:pPr>
            <a:r>
              <a:rPr lang="en-US" sz="3000" b="1" i="1" dirty="0">
                <a:solidFill>
                  <a:srgbClr val="6CC7B8"/>
                </a:solidFill>
                <a:latin typeface="Cambria" pitchFamily="34" charset="0"/>
                <a:ea typeface="Cambria" pitchFamily="34" charset="-122"/>
                <a:cs typeface="Cambria" pitchFamily="34" charset="-120"/>
              </a:rPr>
              <a:t>4</a:t>
            </a:r>
            <a:endParaRPr lang="en-US" sz="3000" dirty="0"/>
          </a:p>
        </p:txBody>
      </p:sp>
      <p:sp>
        <p:nvSpPr>
          <p:cNvPr id="27" name="Text 24"/>
          <p:cNvSpPr txBox="1"/>
          <p:nvPr/>
        </p:nvSpPr>
        <p:spPr>
          <a:xfrm>
            <a:off x="4681157" y="2834640"/>
            <a:ext cx="1463040" cy="228600"/>
          </a:xfrm>
          <a:prstGeom prst="rect">
            <a:avLst/>
          </a:prstGeom>
          <a:noFill/>
          <a:ln/>
        </p:spPr>
        <p:txBody>
          <a:bodyPr wrap="square" lIns="0" tIns="0" rIns="0" bIns="0" rtlCol="0" anchor="t"/>
          <a:lstStyle/>
          <a:p>
            <a:pPr algn="ctr" indent="0" marL="0">
              <a:buNone/>
            </a:pPr>
            <a:r>
              <a:rPr lang="en-US" sz="1000" b="1" spc="100" kern="0" dirty="0">
                <a:solidFill>
                  <a:srgbClr val="6CC7B8"/>
                </a:solidFill>
                <a:latin typeface="Calibri" pitchFamily="34" charset="0"/>
                <a:ea typeface="Calibri" pitchFamily="34" charset="-122"/>
                <a:cs typeface="Calibri" pitchFamily="34" charset="-120"/>
              </a:rPr>
              <a:t>★ AI DECIDES</a:t>
            </a:r>
            <a:endParaRPr lang="en-US" sz="1000" dirty="0"/>
          </a:p>
        </p:txBody>
      </p:sp>
      <p:sp>
        <p:nvSpPr>
          <p:cNvPr id="28" name="Text 25"/>
          <p:cNvSpPr txBox="1"/>
          <p:nvPr/>
        </p:nvSpPr>
        <p:spPr>
          <a:xfrm>
            <a:off x="4776597" y="4434840"/>
            <a:ext cx="1272159" cy="640080"/>
          </a:xfrm>
          <a:prstGeom prst="rect">
            <a:avLst/>
          </a:prstGeom>
          <a:noFill/>
          <a:ln/>
        </p:spPr>
        <p:txBody>
          <a:bodyPr wrap="square" lIns="0" tIns="0" rIns="0" bIns="0" rtlCol="0" anchor="t"/>
          <a:lstStyle/>
          <a:p>
            <a:pPr algn="ctr" indent="0" marL="0">
              <a:buNone/>
            </a:pPr>
            <a:r>
              <a:rPr lang="en-US" sz="1400" b="1" dirty="0">
                <a:solidFill>
                  <a:srgbClr val="EFE4D2"/>
                </a:solidFill>
                <a:latin typeface="Calibri" pitchFamily="34" charset="0"/>
                <a:ea typeface="Calibri" pitchFamily="34" charset="-122"/>
                <a:cs typeface="Calibri" pitchFamily="34" charset="-120"/>
              </a:rPr>
              <a:t>AI triage &amp; queue</a:t>
            </a:r>
            <a:endParaRPr lang="en-US" sz="1400" dirty="0"/>
          </a:p>
        </p:txBody>
      </p:sp>
      <p:sp>
        <p:nvSpPr>
          <p:cNvPr id="29" name="Text 26"/>
          <p:cNvSpPr txBox="1"/>
          <p:nvPr/>
        </p:nvSpPr>
        <p:spPr>
          <a:xfrm>
            <a:off x="4730877" y="5074920"/>
            <a:ext cx="1363599" cy="320040"/>
          </a:xfrm>
          <a:prstGeom prst="rect">
            <a:avLst/>
          </a:prstGeom>
          <a:noFill/>
          <a:ln/>
        </p:spPr>
        <p:txBody>
          <a:bodyPr wrap="square" lIns="0" tIns="0" rIns="0" bIns="0" rtlCol="0" anchor="t"/>
          <a:lstStyle/>
          <a:p>
            <a:pPr algn="ctr" indent="0" marL="0">
              <a:buNone/>
            </a:pPr>
            <a:r>
              <a:rPr lang="en-US" sz="1400" i="1" dirty="0">
                <a:solidFill>
                  <a:srgbClr val="A89A86"/>
                </a:solidFill>
                <a:latin typeface="Cambria" pitchFamily="34" charset="0"/>
                <a:ea typeface="Cambria" pitchFamily="34" charset="-122"/>
                <a:cs typeface="Cambria" pitchFamily="34" charset="-120"/>
              </a:rPr>
              <a:t>&lt; 1 min</a:t>
            </a:r>
            <a:endParaRPr lang="en-US" sz="1400" dirty="0"/>
          </a:p>
        </p:txBody>
      </p:sp>
      <p:sp>
        <p:nvSpPr>
          <p:cNvPr id="30" name="Shape 27"/>
          <p:cNvSpPr/>
          <p:nvPr/>
        </p:nvSpPr>
        <p:spPr>
          <a:xfrm>
            <a:off x="6364795" y="3291840"/>
            <a:ext cx="822960" cy="822960"/>
          </a:xfrm>
          <a:prstGeom prst="ellipse">
            <a:avLst/>
          </a:prstGeom>
          <a:solidFill>
            <a:srgbClr val="241C16"/>
          </a:solidFill>
          <a:ln w="15875">
            <a:solidFill>
              <a:srgbClr val="6CC7B8"/>
            </a:solidFill>
            <a:prstDash val="solid"/>
          </a:ln>
        </p:spPr>
      </p:sp>
      <p:sp>
        <p:nvSpPr>
          <p:cNvPr id="31" name="Text 28"/>
          <p:cNvSpPr txBox="1"/>
          <p:nvPr/>
        </p:nvSpPr>
        <p:spPr>
          <a:xfrm>
            <a:off x="6364795" y="3291840"/>
            <a:ext cx="822960" cy="822960"/>
          </a:xfrm>
          <a:prstGeom prst="rect">
            <a:avLst/>
          </a:prstGeom>
          <a:noFill/>
          <a:ln/>
        </p:spPr>
        <p:txBody>
          <a:bodyPr wrap="square" lIns="0" tIns="0" rIns="0" bIns="0" rtlCol="0" anchor="ctr"/>
          <a:lstStyle/>
          <a:p>
            <a:pPr algn="ctr" indent="0" marL="0">
              <a:buNone/>
            </a:pPr>
            <a:r>
              <a:rPr lang="en-US" sz="2400" b="1" i="1" dirty="0">
                <a:solidFill>
                  <a:srgbClr val="6CC7B8"/>
                </a:solidFill>
                <a:latin typeface="Cambria" pitchFamily="34" charset="0"/>
                <a:ea typeface="Cambria" pitchFamily="34" charset="-122"/>
                <a:cs typeface="Cambria" pitchFamily="34" charset="-120"/>
              </a:rPr>
              <a:t>5</a:t>
            </a:r>
            <a:endParaRPr lang="en-US" sz="2400" dirty="0"/>
          </a:p>
        </p:txBody>
      </p:sp>
      <p:sp>
        <p:nvSpPr>
          <p:cNvPr id="32" name="Text 29"/>
          <p:cNvSpPr txBox="1"/>
          <p:nvPr/>
        </p:nvSpPr>
        <p:spPr>
          <a:xfrm>
            <a:off x="6140196" y="4434840"/>
            <a:ext cx="1272159" cy="640080"/>
          </a:xfrm>
          <a:prstGeom prst="rect">
            <a:avLst/>
          </a:prstGeom>
          <a:noFill/>
          <a:ln/>
        </p:spPr>
        <p:txBody>
          <a:bodyPr wrap="square" lIns="0" tIns="0" rIns="0" bIns="0" rtlCol="0" anchor="t"/>
          <a:lstStyle/>
          <a:p>
            <a:pPr algn="ctr" indent="0" marL="0">
              <a:buNone/>
            </a:pPr>
            <a:r>
              <a:rPr lang="en-US" sz="1400" b="1" dirty="0">
                <a:solidFill>
                  <a:srgbClr val="EFE4D2"/>
                </a:solidFill>
                <a:latin typeface="Calibri" pitchFamily="34" charset="0"/>
                <a:ea typeface="Calibri" pitchFamily="34" charset="-122"/>
                <a:cs typeface="Calibri" pitchFamily="34" charset="-120"/>
              </a:rPr>
              <a:t>Tests run in parallel</a:t>
            </a:r>
            <a:endParaRPr lang="en-US" sz="1400" dirty="0"/>
          </a:p>
        </p:txBody>
      </p:sp>
      <p:sp>
        <p:nvSpPr>
          <p:cNvPr id="33" name="Text 30"/>
          <p:cNvSpPr txBox="1"/>
          <p:nvPr/>
        </p:nvSpPr>
        <p:spPr>
          <a:xfrm>
            <a:off x="6094476" y="5074920"/>
            <a:ext cx="1363599" cy="320040"/>
          </a:xfrm>
          <a:prstGeom prst="rect">
            <a:avLst/>
          </a:prstGeom>
          <a:noFill/>
          <a:ln/>
        </p:spPr>
        <p:txBody>
          <a:bodyPr wrap="square" lIns="0" tIns="0" rIns="0" bIns="0" rtlCol="0" anchor="t"/>
          <a:lstStyle/>
          <a:p>
            <a:pPr algn="ctr" indent="0" marL="0">
              <a:buNone/>
            </a:pPr>
            <a:r>
              <a:rPr lang="en-US" sz="1400" i="1" dirty="0">
                <a:solidFill>
                  <a:srgbClr val="A89A86"/>
                </a:solidFill>
                <a:latin typeface="Cambria" pitchFamily="34" charset="0"/>
                <a:ea typeface="Cambria" pitchFamily="34" charset="-122"/>
                <a:cs typeface="Cambria" pitchFamily="34" charset="-120"/>
              </a:rPr>
              <a:t>30 min</a:t>
            </a:r>
            <a:endParaRPr lang="en-US" sz="1400" dirty="0"/>
          </a:p>
        </p:txBody>
      </p:sp>
      <p:sp>
        <p:nvSpPr>
          <p:cNvPr id="34" name="Shape 31"/>
          <p:cNvSpPr/>
          <p:nvPr/>
        </p:nvSpPr>
        <p:spPr>
          <a:xfrm>
            <a:off x="7636955" y="3200400"/>
            <a:ext cx="1005840" cy="1005840"/>
          </a:xfrm>
          <a:prstGeom prst="ellipse">
            <a:avLst/>
          </a:prstGeom>
          <a:solidFill>
            <a:srgbClr val="2A2016"/>
          </a:solidFill>
          <a:ln w="15875">
            <a:solidFill>
              <a:srgbClr val="F2CD83"/>
            </a:solidFill>
            <a:prstDash val="solid"/>
          </a:ln>
        </p:spPr>
      </p:sp>
      <p:sp>
        <p:nvSpPr>
          <p:cNvPr id="35" name="Text 32"/>
          <p:cNvSpPr txBox="1"/>
          <p:nvPr/>
        </p:nvSpPr>
        <p:spPr>
          <a:xfrm>
            <a:off x="7636955" y="3200400"/>
            <a:ext cx="1005840" cy="1005840"/>
          </a:xfrm>
          <a:prstGeom prst="rect">
            <a:avLst/>
          </a:prstGeom>
          <a:noFill/>
          <a:ln/>
        </p:spPr>
        <p:txBody>
          <a:bodyPr wrap="square" lIns="0" tIns="0" rIns="0" bIns="0" rtlCol="0" anchor="ctr"/>
          <a:lstStyle/>
          <a:p>
            <a:pPr algn="ctr" indent="0" marL="0">
              <a:buNone/>
            </a:pPr>
            <a:r>
              <a:rPr lang="en-US" sz="3000" b="1" i="1" dirty="0">
                <a:solidFill>
                  <a:srgbClr val="F2CD83"/>
                </a:solidFill>
                <a:latin typeface="Cambria" pitchFamily="34" charset="0"/>
                <a:ea typeface="Cambria" pitchFamily="34" charset="-122"/>
                <a:cs typeface="Cambria" pitchFamily="34" charset="-120"/>
              </a:rPr>
              <a:t>6</a:t>
            </a:r>
            <a:endParaRPr lang="en-US" sz="3000" dirty="0"/>
          </a:p>
        </p:txBody>
      </p:sp>
      <p:sp>
        <p:nvSpPr>
          <p:cNvPr id="36" name="Text 33"/>
          <p:cNvSpPr txBox="1"/>
          <p:nvPr/>
        </p:nvSpPr>
        <p:spPr>
          <a:xfrm>
            <a:off x="7408355" y="2834640"/>
            <a:ext cx="1463040" cy="228600"/>
          </a:xfrm>
          <a:prstGeom prst="rect">
            <a:avLst/>
          </a:prstGeom>
          <a:noFill/>
          <a:ln/>
        </p:spPr>
        <p:txBody>
          <a:bodyPr wrap="square" lIns="0" tIns="0" rIns="0" bIns="0" rtlCol="0" anchor="t"/>
          <a:lstStyle/>
          <a:p>
            <a:pPr algn="ctr" indent="0" marL="0">
              <a:buNone/>
            </a:pPr>
            <a:r>
              <a:rPr lang="en-US" sz="1000" b="1" spc="100" kern="0" dirty="0">
                <a:solidFill>
                  <a:srgbClr val="F2CD83"/>
                </a:solidFill>
                <a:latin typeface="Calibri" pitchFamily="34" charset="0"/>
                <a:ea typeface="Calibri" pitchFamily="34" charset="-122"/>
                <a:cs typeface="Calibri" pitchFamily="34" charset="-120"/>
              </a:rPr>
              <a:t>★ DOCTOR</a:t>
            </a:r>
            <a:endParaRPr lang="en-US" sz="1000" dirty="0"/>
          </a:p>
        </p:txBody>
      </p:sp>
      <p:sp>
        <p:nvSpPr>
          <p:cNvPr id="37" name="Text 34"/>
          <p:cNvSpPr txBox="1"/>
          <p:nvPr/>
        </p:nvSpPr>
        <p:spPr>
          <a:xfrm>
            <a:off x="7503795" y="4434840"/>
            <a:ext cx="1272159" cy="640080"/>
          </a:xfrm>
          <a:prstGeom prst="rect">
            <a:avLst/>
          </a:prstGeom>
          <a:noFill/>
          <a:ln/>
        </p:spPr>
        <p:txBody>
          <a:bodyPr wrap="square" lIns="0" tIns="0" rIns="0" bIns="0" rtlCol="0" anchor="t"/>
          <a:lstStyle/>
          <a:p>
            <a:pPr algn="ctr" indent="0" marL="0">
              <a:buNone/>
            </a:pPr>
            <a:r>
              <a:rPr lang="en-US" sz="1400" b="1" dirty="0">
                <a:solidFill>
                  <a:srgbClr val="EFE4D2"/>
                </a:solidFill>
                <a:latin typeface="Calibri" pitchFamily="34" charset="0"/>
                <a:ea typeface="Calibri" pitchFamily="34" charset="-122"/>
                <a:cs typeface="Calibri" pitchFamily="34" charset="-120"/>
              </a:rPr>
              <a:t>Doctor consultation</a:t>
            </a:r>
            <a:endParaRPr lang="en-US" sz="1400" dirty="0"/>
          </a:p>
        </p:txBody>
      </p:sp>
      <p:sp>
        <p:nvSpPr>
          <p:cNvPr id="38" name="Text 35"/>
          <p:cNvSpPr txBox="1"/>
          <p:nvPr/>
        </p:nvSpPr>
        <p:spPr>
          <a:xfrm>
            <a:off x="7458075" y="5074920"/>
            <a:ext cx="1363599" cy="320040"/>
          </a:xfrm>
          <a:prstGeom prst="rect">
            <a:avLst/>
          </a:prstGeom>
          <a:noFill/>
          <a:ln/>
        </p:spPr>
        <p:txBody>
          <a:bodyPr wrap="square" lIns="0" tIns="0" rIns="0" bIns="0" rtlCol="0" anchor="t"/>
          <a:lstStyle/>
          <a:p>
            <a:pPr algn="ctr" indent="0" marL="0">
              <a:buNone/>
            </a:pPr>
            <a:r>
              <a:rPr lang="en-US" sz="1400" i="1" dirty="0">
                <a:solidFill>
                  <a:srgbClr val="A89A86"/>
                </a:solidFill>
                <a:latin typeface="Cambria" pitchFamily="34" charset="0"/>
                <a:ea typeface="Cambria" pitchFamily="34" charset="-122"/>
                <a:cs typeface="Cambria" pitchFamily="34" charset="-120"/>
              </a:rPr>
              <a:t>10 min</a:t>
            </a:r>
            <a:endParaRPr lang="en-US" sz="1400" dirty="0"/>
          </a:p>
        </p:txBody>
      </p:sp>
      <p:sp>
        <p:nvSpPr>
          <p:cNvPr id="39" name="Shape 36"/>
          <p:cNvSpPr/>
          <p:nvPr/>
        </p:nvSpPr>
        <p:spPr>
          <a:xfrm>
            <a:off x="9091994" y="3291840"/>
            <a:ext cx="822960" cy="822960"/>
          </a:xfrm>
          <a:prstGeom prst="ellipse">
            <a:avLst/>
          </a:prstGeom>
          <a:solidFill>
            <a:srgbClr val="241C16"/>
          </a:solidFill>
          <a:ln w="15875">
            <a:solidFill>
              <a:srgbClr val="6CC7B8"/>
            </a:solidFill>
            <a:prstDash val="solid"/>
          </a:ln>
        </p:spPr>
      </p:sp>
      <p:sp>
        <p:nvSpPr>
          <p:cNvPr id="40" name="Text 37"/>
          <p:cNvSpPr txBox="1"/>
          <p:nvPr/>
        </p:nvSpPr>
        <p:spPr>
          <a:xfrm>
            <a:off x="9091994" y="3291840"/>
            <a:ext cx="822960" cy="822960"/>
          </a:xfrm>
          <a:prstGeom prst="rect">
            <a:avLst/>
          </a:prstGeom>
          <a:noFill/>
          <a:ln/>
        </p:spPr>
        <p:txBody>
          <a:bodyPr wrap="square" lIns="0" tIns="0" rIns="0" bIns="0" rtlCol="0" anchor="ctr"/>
          <a:lstStyle/>
          <a:p>
            <a:pPr algn="ctr" indent="0" marL="0">
              <a:buNone/>
            </a:pPr>
            <a:r>
              <a:rPr lang="en-US" sz="2400" b="1" i="1" dirty="0">
                <a:solidFill>
                  <a:srgbClr val="6CC7B8"/>
                </a:solidFill>
                <a:latin typeface="Cambria" pitchFamily="34" charset="0"/>
                <a:ea typeface="Cambria" pitchFamily="34" charset="-122"/>
                <a:cs typeface="Cambria" pitchFamily="34" charset="-120"/>
              </a:rPr>
              <a:t>7</a:t>
            </a:r>
            <a:endParaRPr lang="en-US" sz="2400" dirty="0"/>
          </a:p>
        </p:txBody>
      </p:sp>
      <p:sp>
        <p:nvSpPr>
          <p:cNvPr id="41" name="Text 38"/>
          <p:cNvSpPr txBox="1"/>
          <p:nvPr/>
        </p:nvSpPr>
        <p:spPr>
          <a:xfrm>
            <a:off x="8867394" y="4434840"/>
            <a:ext cx="1272159" cy="640080"/>
          </a:xfrm>
          <a:prstGeom prst="rect">
            <a:avLst/>
          </a:prstGeom>
          <a:noFill/>
          <a:ln/>
        </p:spPr>
        <p:txBody>
          <a:bodyPr wrap="square" lIns="0" tIns="0" rIns="0" bIns="0" rtlCol="0" anchor="t"/>
          <a:lstStyle/>
          <a:p>
            <a:pPr algn="ctr" indent="0" marL="0">
              <a:buNone/>
            </a:pPr>
            <a:r>
              <a:rPr lang="en-US" sz="1400" b="1" dirty="0">
                <a:solidFill>
                  <a:srgbClr val="EFE4D2"/>
                </a:solidFill>
                <a:latin typeface="Calibri" pitchFamily="34" charset="0"/>
                <a:ea typeface="Calibri" pitchFamily="34" charset="-122"/>
                <a:cs typeface="Calibri" pitchFamily="34" charset="-120"/>
              </a:rPr>
              <a:t>Fast discharge</a:t>
            </a:r>
            <a:endParaRPr lang="en-US" sz="1400" dirty="0"/>
          </a:p>
        </p:txBody>
      </p:sp>
      <p:sp>
        <p:nvSpPr>
          <p:cNvPr id="42" name="Text 39"/>
          <p:cNvSpPr txBox="1"/>
          <p:nvPr/>
        </p:nvSpPr>
        <p:spPr>
          <a:xfrm>
            <a:off x="8821674" y="5074920"/>
            <a:ext cx="1363599" cy="320040"/>
          </a:xfrm>
          <a:prstGeom prst="rect">
            <a:avLst/>
          </a:prstGeom>
          <a:noFill/>
          <a:ln/>
        </p:spPr>
        <p:txBody>
          <a:bodyPr wrap="square" lIns="0" tIns="0" rIns="0" bIns="0" rtlCol="0" anchor="t"/>
          <a:lstStyle/>
          <a:p>
            <a:pPr algn="ctr" indent="0" marL="0">
              <a:buNone/>
            </a:pPr>
            <a:r>
              <a:rPr lang="en-US" sz="1400" i="1" dirty="0">
                <a:solidFill>
                  <a:srgbClr val="A89A86"/>
                </a:solidFill>
                <a:latin typeface="Cambria" pitchFamily="34" charset="0"/>
                <a:ea typeface="Cambria" pitchFamily="34" charset="-122"/>
                <a:cs typeface="Cambria" pitchFamily="34" charset="-120"/>
              </a:rPr>
              <a:t>3 min</a:t>
            </a:r>
            <a:endParaRPr lang="en-US" sz="1400" dirty="0"/>
          </a:p>
        </p:txBody>
      </p:sp>
      <p:sp>
        <p:nvSpPr>
          <p:cNvPr id="43" name="Shape 40"/>
          <p:cNvSpPr/>
          <p:nvPr/>
        </p:nvSpPr>
        <p:spPr>
          <a:xfrm>
            <a:off x="10455593" y="3291840"/>
            <a:ext cx="822960" cy="822960"/>
          </a:xfrm>
          <a:prstGeom prst="ellipse">
            <a:avLst/>
          </a:prstGeom>
          <a:solidFill>
            <a:srgbClr val="241C16"/>
          </a:solidFill>
          <a:ln w="15875">
            <a:solidFill>
              <a:srgbClr val="A89A86"/>
            </a:solidFill>
            <a:prstDash val="solid"/>
          </a:ln>
        </p:spPr>
      </p:sp>
      <p:sp>
        <p:nvSpPr>
          <p:cNvPr id="44" name="Text 41"/>
          <p:cNvSpPr txBox="1"/>
          <p:nvPr/>
        </p:nvSpPr>
        <p:spPr>
          <a:xfrm>
            <a:off x="10455593" y="3291840"/>
            <a:ext cx="822960" cy="822960"/>
          </a:xfrm>
          <a:prstGeom prst="rect">
            <a:avLst/>
          </a:prstGeom>
          <a:noFill/>
          <a:ln/>
        </p:spPr>
        <p:txBody>
          <a:bodyPr wrap="square" lIns="0" tIns="0" rIns="0" bIns="0" rtlCol="0" anchor="ctr"/>
          <a:lstStyle/>
          <a:p>
            <a:pPr algn="ctr" indent="0" marL="0">
              <a:buNone/>
            </a:pPr>
            <a:r>
              <a:rPr lang="en-US" sz="2400" b="1" i="1" dirty="0">
                <a:solidFill>
                  <a:srgbClr val="A89A86"/>
                </a:solidFill>
                <a:latin typeface="Cambria" pitchFamily="34" charset="0"/>
                <a:ea typeface="Cambria" pitchFamily="34" charset="-122"/>
                <a:cs typeface="Cambria" pitchFamily="34" charset="-120"/>
              </a:rPr>
              <a:t>8</a:t>
            </a:r>
            <a:endParaRPr lang="en-US" sz="2400" dirty="0"/>
          </a:p>
        </p:txBody>
      </p:sp>
      <p:sp>
        <p:nvSpPr>
          <p:cNvPr id="45" name="Text 42"/>
          <p:cNvSpPr txBox="1"/>
          <p:nvPr/>
        </p:nvSpPr>
        <p:spPr>
          <a:xfrm>
            <a:off x="10230993" y="4434840"/>
            <a:ext cx="1272159" cy="640080"/>
          </a:xfrm>
          <a:prstGeom prst="rect">
            <a:avLst/>
          </a:prstGeom>
          <a:noFill/>
          <a:ln/>
        </p:spPr>
        <p:txBody>
          <a:bodyPr wrap="square" lIns="0" tIns="0" rIns="0" bIns="0" rtlCol="0" anchor="t"/>
          <a:lstStyle/>
          <a:p>
            <a:pPr algn="ctr" indent="0" marL="0">
              <a:buNone/>
            </a:pPr>
            <a:r>
              <a:rPr lang="en-US" sz="1400" b="1" dirty="0">
                <a:solidFill>
                  <a:srgbClr val="EFE4D2"/>
                </a:solidFill>
                <a:latin typeface="Calibri" pitchFamily="34" charset="0"/>
                <a:ea typeface="Calibri" pitchFamily="34" charset="-122"/>
                <a:cs typeface="Calibri" pitchFamily="34" charset="-120"/>
              </a:rPr>
              <a:t>Follow-up &amp; learning</a:t>
            </a:r>
            <a:endParaRPr lang="en-US" sz="1400" dirty="0"/>
          </a:p>
        </p:txBody>
      </p:sp>
      <p:sp>
        <p:nvSpPr>
          <p:cNvPr id="46" name="Text 43"/>
          <p:cNvSpPr txBox="1"/>
          <p:nvPr/>
        </p:nvSpPr>
        <p:spPr>
          <a:xfrm>
            <a:off x="10185273" y="5074920"/>
            <a:ext cx="1363599" cy="320040"/>
          </a:xfrm>
          <a:prstGeom prst="rect">
            <a:avLst/>
          </a:prstGeom>
          <a:noFill/>
          <a:ln/>
        </p:spPr>
        <p:txBody>
          <a:bodyPr wrap="square" lIns="0" tIns="0" rIns="0" bIns="0" rtlCol="0" anchor="t"/>
          <a:lstStyle/>
          <a:p>
            <a:pPr algn="ctr" indent="0" marL="0">
              <a:buNone/>
            </a:pPr>
            <a:r>
              <a:rPr lang="en-US" sz="1400" i="1" dirty="0">
                <a:solidFill>
                  <a:srgbClr val="A89A86"/>
                </a:solidFill>
                <a:latin typeface="Cambria" pitchFamily="34" charset="0"/>
                <a:ea typeface="Cambria" pitchFamily="34" charset="-122"/>
                <a:cs typeface="Cambria" pitchFamily="34" charset="-120"/>
              </a:rPr>
              <a:t>after visit</a:t>
            </a:r>
            <a:endParaRPr lang="en-US" sz="1400" dirty="0"/>
          </a:p>
        </p:txBody>
      </p:sp>
      <p:sp>
        <p:nvSpPr>
          <p:cNvPr id="47" name="Text 44"/>
          <p:cNvSpPr txBox="1"/>
          <p:nvPr/>
        </p:nvSpPr>
        <p:spPr>
          <a:xfrm>
            <a:off x="640080" y="5806440"/>
            <a:ext cx="10881360" cy="274320"/>
          </a:xfrm>
          <a:prstGeom prst="rect">
            <a:avLst/>
          </a:prstGeom>
          <a:noFill/>
          <a:ln/>
        </p:spPr>
        <p:txBody>
          <a:bodyPr wrap="square" lIns="0" tIns="0" rIns="0" bIns="0" rtlCol="0" anchor="t"/>
          <a:lstStyle/>
          <a:p>
            <a:pPr algn="ctr" indent="0" marL="0">
              <a:buNone/>
            </a:pPr>
            <a:r>
              <a:rPr lang="en-US" sz="1300" b="1" dirty="0">
                <a:solidFill>
                  <a:srgbClr val="6CC7B8"/>
                </a:solidFill>
                <a:latin typeface="Calibri" pitchFamily="34" charset="0"/>
                <a:ea typeface="Calibri" pitchFamily="34" charset="-122"/>
                <a:cs typeface="Calibri" pitchFamily="34" charset="-120"/>
              </a:rPr>
              <a:t>Teal</a:t>
            </a:r>
            <a:pPr algn="ctr" indent="0" marL="0">
              <a:buNone/>
            </a:pPr>
            <a:r>
              <a:rPr lang="en-US" sz="1300" dirty="0">
                <a:solidFill>
                  <a:srgbClr val="A89A86"/>
                </a:solidFill>
                <a:latin typeface="Calibri" pitchFamily="34" charset="0"/>
                <a:ea typeface="Calibri" pitchFamily="34" charset="-122"/>
                <a:cs typeface="Calibri" pitchFamily="34" charset="-120"/>
              </a:rPr>
              <a:t> = AI step     </a:t>
            </a:r>
            <a:pPr algn="ctr" indent="0" marL="0">
              <a:buNone/>
            </a:pPr>
            <a:r>
              <a:rPr lang="en-US" sz="1300" b="1" dirty="0">
                <a:solidFill>
                  <a:srgbClr val="F2CD83"/>
                </a:solidFill>
                <a:latin typeface="Calibri" pitchFamily="34" charset="0"/>
                <a:ea typeface="Calibri" pitchFamily="34" charset="-122"/>
                <a:cs typeface="Calibri" pitchFamily="34" charset="-120"/>
              </a:rPr>
              <a:t>Gold</a:t>
            </a:r>
            <a:pPr algn="ctr" indent="0" marL="0">
              <a:buNone/>
            </a:pPr>
            <a:r>
              <a:rPr lang="en-US" sz="1300" dirty="0">
                <a:solidFill>
                  <a:srgbClr val="A89A86"/>
                </a:solidFill>
                <a:latin typeface="Calibri" pitchFamily="34" charset="0"/>
                <a:ea typeface="Calibri" pitchFamily="34" charset="-122"/>
                <a:cs typeface="Calibri" pitchFamily="34" charset="-120"/>
              </a:rPr>
              <a:t> = human doctor     </a:t>
            </a:r>
            <a:pPr algn="ctr" indent="0" marL="0">
              <a:buNone/>
            </a:pPr>
            <a:r>
              <a:rPr lang="en-US" sz="1300" b="1" dirty="0">
                <a:solidFill>
                  <a:srgbClr val="A89A86"/>
                </a:solidFill>
                <a:latin typeface="Calibri" pitchFamily="34" charset="0"/>
                <a:ea typeface="Calibri" pitchFamily="34" charset="-122"/>
                <a:cs typeface="Calibri" pitchFamily="34" charset="-120"/>
              </a:rPr>
              <a:t>Grey</a:t>
            </a:r>
            <a:pPr algn="ctr" indent="0" marL="0">
              <a:buNone/>
            </a:pPr>
            <a:r>
              <a:rPr lang="en-US" sz="1300" dirty="0">
                <a:solidFill>
                  <a:srgbClr val="A89A86"/>
                </a:solidFill>
                <a:latin typeface="Calibri" pitchFamily="34" charset="0"/>
                <a:ea typeface="Calibri" pitchFamily="34" charset="-122"/>
                <a:cs typeface="Calibri" pitchFamily="34" charset="-120"/>
              </a:rPr>
              <a:t> = patient or staff</a:t>
            </a:r>
            <a:endParaRPr lang="en-US" sz="1300" dirty="0"/>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A08"/>
        </a:solidFill>
      </p:bgPr>
    </p:bg>
    <p:spTree>
      <p:nvGrpSpPr>
        <p:cNvPr id="1" name=""/>
        <p:cNvGrpSpPr/>
        <p:nvPr/>
      </p:nvGrpSpPr>
      <p:grpSpPr>
        <a:xfrm>
          <a:off x="0" y="0"/>
          <a:ext cx="0" cy="0"/>
          <a:chOff x="0" y="0"/>
          <a:chExt cx="0" cy="0"/>
        </a:xfrm>
      </p:grpSpPr>
      <p:pic>
        <p:nvPicPr>
          <p:cNvPr id="2" name="Image 0" descr="bg/teal.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08</a:t>
            </a:r>
            <a:endParaRPr lang="en-US" sz="900" dirty="0"/>
          </a:p>
        </p:txBody>
      </p:sp>
      <p:sp>
        <p:nvSpPr>
          <p:cNvPr id="4" name="Text 1"/>
          <p:cNvSpPr txBox="1"/>
          <p:nvPr/>
        </p:nvSpPr>
        <p:spPr>
          <a:xfrm>
            <a:off x="7863840" y="3017520"/>
            <a:ext cx="4114800" cy="3840480"/>
          </a:xfrm>
          <a:prstGeom prst="rect">
            <a:avLst/>
          </a:prstGeom>
          <a:noFill/>
          <a:ln/>
        </p:spPr>
        <p:txBody>
          <a:bodyPr wrap="square" lIns="0" tIns="0" rIns="0" bIns="0" rtlCol="0" anchor="t"/>
          <a:lstStyle/>
          <a:p>
            <a:pPr algn="r" indent="0" marL="0">
              <a:buNone/>
            </a:pPr>
            <a:r>
              <a:rPr lang="en-US" sz="25000" b="1" i="1" dirty="0">
                <a:solidFill>
                  <a:srgbClr val="1C1611"/>
                </a:solidFill>
                <a:latin typeface="Cambria" pitchFamily="34" charset="0"/>
                <a:ea typeface="Cambria" pitchFamily="34" charset="-122"/>
                <a:cs typeface="Cambria" pitchFamily="34" charset="-120"/>
              </a:rPr>
              <a:t>1–2</a:t>
            </a:r>
            <a:endParaRPr lang="en-US" sz="25000" dirty="0"/>
          </a:p>
        </p:txBody>
      </p:sp>
      <p:sp>
        <p:nvSpPr>
          <p:cNvPr id="5" name="Text 2"/>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STEPS 1–2  ·  BEFORE ARRIVAL</a:t>
            </a:r>
            <a:endParaRPr lang="en-US" sz="1200" dirty="0"/>
          </a:p>
        </p:txBody>
      </p:sp>
      <p:sp>
        <p:nvSpPr>
          <p:cNvPr id="6" name="Text 3"/>
          <p:cNvSpPr txBox="1"/>
          <p:nvPr/>
        </p:nvSpPr>
        <p:spPr>
          <a:xfrm>
            <a:off x="640080" y="868680"/>
            <a:ext cx="10515600" cy="91440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The work starts </a:t>
            </a:r>
            <a:pPr indent="0" marL="0">
              <a:buNone/>
            </a:pPr>
            <a:r>
              <a:rPr lang="en-US" sz="3800" b="1" i="1" dirty="0">
                <a:solidFill>
                  <a:srgbClr val="F2CD83"/>
                </a:solidFill>
                <a:latin typeface="Cambria" pitchFamily="34" charset="0"/>
                <a:ea typeface="Cambria" pitchFamily="34" charset="-122"/>
                <a:cs typeface="Cambria" pitchFamily="34" charset="-120"/>
              </a:rPr>
              <a:t>before</a:t>
            </a:r>
            <a:pPr indent="0" marL="0">
              <a:buNone/>
            </a:pPr>
            <a:r>
              <a:rPr lang="en-US" sz="3800" b="1" dirty="0">
                <a:solidFill>
                  <a:srgbClr val="EFE4D2"/>
                </a:solidFill>
                <a:latin typeface="Cambria" pitchFamily="34" charset="0"/>
                <a:ea typeface="Cambria" pitchFamily="34" charset="-122"/>
                <a:cs typeface="Cambria" pitchFamily="34" charset="-120"/>
              </a:rPr>
              <a:t> the patient arrives</a:t>
            </a:r>
            <a:endParaRPr lang="en-US" sz="3800" dirty="0"/>
          </a:p>
        </p:txBody>
      </p:sp>
      <p:sp>
        <p:nvSpPr>
          <p:cNvPr id="7" name="Shape 4"/>
          <p:cNvSpPr/>
          <p:nvPr/>
        </p:nvSpPr>
        <p:spPr>
          <a:xfrm>
            <a:off x="640080" y="1965960"/>
            <a:ext cx="5349240" cy="3977640"/>
          </a:xfrm>
          <a:prstGeom prst="roundRect">
            <a:avLst>
              <a:gd name="adj" fmla="val 2759"/>
            </a:avLst>
          </a:prstGeom>
          <a:solidFill>
            <a:srgbClr val="1A1410"/>
          </a:solidFill>
          <a:ln w="12700">
            <a:solidFill>
              <a:srgbClr val="3A2F26"/>
            </a:solidFill>
            <a:prstDash val="solid"/>
          </a:ln>
        </p:spPr>
      </p:sp>
      <p:sp>
        <p:nvSpPr>
          <p:cNvPr id="8" name="Shape 5"/>
          <p:cNvSpPr/>
          <p:nvPr/>
        </p:nvSpPr>
        <p:spPr>
          <a:xfrm>
            <a:off x="960120" y="2240280"/>
            <a:ext cx="777240" cy="777240"/>
          </a:xfrm>
          <a:prstGeom prst="ellipse">
            <a:avLst/>
          </a:prstGeom>
          <a:solidFill>
            <a:srgbClr val="241C16"/>
          </a:solidFill>
          <a:ln w="15875">
            <a:solidFill>
              <a:srgbClr val="6CC7B8"/>
            </a:solidFill>
            <a:prstDash val="solid"/>
          </a:ln>
        </p:spPr>
      </p:sp>
      <p:pic>
        <p:nvPicPr>
          <p:cNvPr id="9" name="Image 1" descr="preencoded.png">    </p:cNvPr>
          <p:cNvPicPr>
            <a:picLocks noChangeAspect="1"/>
          </p:cNvPicPr>
          <p:nvPr/>
        </p:nvPicPr>
        <p:blipFill>
          <a:blip r:embed="rId2"/>
          <a:stretch>
            <a:fillRect/>
          </a:stretch>
        </p:blipFill>
        <p:spPr>
          <a:xfrm>
            <a:off x="1154430" y="2434590"/>
            <a:ext cx="388620" cy="388620"/>
          </a:xfrm>
          <a:prstGeom prst="rect">
            <a:avLst/>
          </a:prstGeom>
        </p:spPr>
      </p:pic>
      <p:sp>
        <p:nvSpPr>
          <p:cNvPr id="10" name="Text 6"/>
          <p:cNvSpPr txBox="1"/>
          <p:nvPr/>
        </p:nvSpPr>
        <p:spPr>
          <a:xfrm>
            <a:off x="1965960" y="2286000"/>
            <a:ext cx="2743200" cy="228600"/>
          </a:xfrm>
          <a:prstGeom prst="rect">
            <a:avLst/>
          </a:prstGeom>
          <a:noFill/>
          <a:ln/>
        </p:spPr>
        <p:txBody>
          <a:bodyPr wrap="square" lIns="0" tIns="0" rIns="0" bIns="0" rtlCol="0" anchor="t"/>
          <a:lstStyle/>
          <a:p>
            <a:pPr indent="0" marL="0">
              <a:buNone/>
            </a:pPr>
            <a:r>
              <a:rPr lang="en-US" sz="1100" b="1" spc="300" kern="0" dirty="0">
                <a:solidFill>
                  <a:srgbClr val="6CC7B8"/>
                </a:solidFill>
                <a:latin typeface="Calibri" pitchFamily="34" charset="0"/>
                <a:ea typeface="Calibri" pitchFamily="34" charset="-122"/>
                <a:cs typeface="Calibri" pitchFamily="34" charset="-120"/>
              </a:rPr>
              <a:t>STEP 1</a:t>
            </a:r>
            <a:endParaRPr lang="en-US" sz="1100" dirty="0"/>
          </a:p>
        </p:txBody>
      </p:sp>
      <p:sp>
        <p:nvSpPr>
          <p:cNvPr id="11" name="Text 7"/>
          <p:cNvSpPr txBox="1"/>
          <p:nvPr/>
        </p:nvSpPr>
        <p:spPr>
          <a:xfrm>
            <a:off x="1965960" y="2560320"/>
            <a:ext cx="3840480" cy="457200"/>
          </a:xfrm>
          <a:prstGeom prst="rect">
            <a:avLst/>
          </a:prstGeom>
          <a:noFill/>
          <a:ln/>
        </p:spPr>
        <p:txBody>
          <a:bodyPr wrap="square" lIns="0" tIns="0" rIns="0" bIns="0" rtlCol="0" anchor="t"/>
          <a:lstStyle/>
          <a:p>
            <a:pPr indent="0" marL="0">
              <a:buNone/>
            </a:pPr>
            <a:r>
              <a:rPr lang="en-US" sz="2400" b="1" dirty="0">
                <a:solidFill>
                  <a:srgbClr val="EFE4D2"/>
                </a:solidFill>
                <a:latin typeface="Cambria" pitchFamily="34" charset="0"/>
                <a:ea typeface="Cambria" pitchFamily="34" charset="-122"/>
                <a:cs typeface="Cambria" pitchFamily="34" charset="-120"/>
              </a:rPr>
              <a:t>Predictive Planning</a:t>
            </a:r>
            <a:endParaRPr lang="en-US" sz="2400" dirty="0"/>
          </a:p>
        </p:txBody>
      </p:sp>
      <p:sp>
        <p:nvSpPr>
          <p:cNvPr id="12" name="Text 8"/>
          <p:cNvSpPr txBox="1"/>
          <p:nvPr/>
        </p:nvSpPr>
        <p:spPr>
          <a:xfrm>
            <a:off x="1005840" y="3291840"/>
            <a:ext cx="4663440" cy="914400"/>
          </a:xfrm>
          <a:prstGeom prst="rect">
            <a:avLst/>
          </a:prstGeom>
          <a:noFill/>
          <a:ln/>
        </p:spPr>
        <p:txBody>
          <a:bodyPr wrap="square" lIns="0" tIns="0" rIns="0" bIns="0" rtlCol="0" anchor="t"/>
          <a:lstStyle/>
          <a:p>
            <a:pPr indent="0" marL="0">
              <a:buNone/>
            </a:pPr>
            <a:r>
              <a:rPr lang="en-US" sz="1500" dirty="0">
                <a:solidFill>
                  <a:srgbClr val="EFE4D2"/>
                </a:solidFill>
                <a:latin typeface="Calibri" pitchFamily="34" charset="0"/>
                <a:ea typeface="Calibri" pitchFamily="34" charset="-122"/>
                <a:cs typeface="Calibri" pitchFamily="34" charset="-120"/>
              </a:rPr>
              <a:t>AI looks at past visits, the season (e.g. dengue season) and disease trends to predict how many patients will come.</a:t>
            </a:r>
            <a:endParaRPr lang="en-US" sz="1500" dirty="0"/>
          </a:p>
        </p:txBody>
      </p:sp>
      <p:sp>
        <p:nvSpPr>
          <p:cNvPr id="13" name="Text 9"/>
          <p:cNvSpPr txBox="1"/>
          <p:nvPr/>
        </p:nvSpPr>
        <p:spPr>
          <a:xfrm>
            <a:off x="1005840" y="4297680"/>
            <a:ext cx="4663440" cy="640080"/>
          </a:xfrm>
          <a:prstGeom prst="rect">
            <a:avLst/>
          </a:prstGeom>
          <a:noFill/>
          <a:ln/>
        </p:spPr>
        <p:txBody>
          <a:bodyPr wrap="square" lIns="0" tIns="0" rIns="0" bIns="0" rtlCol="0" anchor="t"/>
          <a:lstStyle/>
          <a:p>
            <a:pPr indent="0" marL="0">
              <a:buNone/>
            </a:pPr>
            <a:r>
              <a:rPr lang="en-US" sz="1400" b="1" dirty="0">
                <a:solidFill>
                  <a:srgbClr val="F2CD83"/>
                </a:solidFill>
                <a:latin typeface="Calibri" pitchFamily="34" charset="0"/>
                <a:ea typeface="Calibri" pitchFamily="34" charset="-122"/>
                <a:cs typeface="Calibri" pitchFamily="34" charset="-120"/>
              </a:rPr>
              <a:t>Why it helps:  </a:t>
            </a:r>
            <a:pPr indent="0" marL="0">
              <a:buNone/>
            </a:pPr>
            <a:r>
              <a:rPr lang="en-US" sz="1400" dirty="0">
                <a:solidFill>
                  <a:srgbClr val="A89A86"/>
                </a:solidFill>
                <a:latin typeface="Calibri" pitchFamily="34" charset="0"/>
                <a:ea typeface="Calibri" pitchFamily="34" charset="-122"/>
                <a:cs typeface="Calibri" pitchFamily="34" charset="-120"/>
              </a:rPr>
              <a:t>Right number of doctors on duty, so the queue never builds.</a:t>
            </a:r>
            <a:endParaRPr lang="en-US" sz="1400" dirty="0"/>
          </a:p>
        </p:txBody>
      </p:sp>
      <p:sp>
        <p:nvSpPr>
          <p:cNvPr id="14" name="Text 10"/>
          <p:cNvSpPr txBox="1"/>
          <p:nvPr/>
        </p:nvSpPr>
        <p:spPr>
          <a:xfrm>
            <a:off x="1005840" y="4983480"/>
            <a:ext cx="4663440" cy="640080"/>
          </a:xfrm>
          <a:prstGeom prst="rect">
            <a:avLst/>
          </a:prstGeom>
          <a:noFill/>
          <a:ln/>
        </p:spPr>
        <p:txBody>
          <a:bodyPr wrap="square" lIns="0" tIns="0" rIns="0" bIns="0" rtlCol="0" anchor="t"/>
          <a:lstStyle/>
          <a:p>
            <a:pPr indent="0" marL="0">
              <a:buNone/>
            </a:pPr>
            <a:r>
              <a:rPr lang="en-US" sz="1400" b="1" dirty="0">
                <a:solidFill>
                  <a:srgbClr val="F2CD83"/>
                </a:solidFill>
                <a:latin typeface="Calibri" pitchFamily="34" charset="0"/>
                <a:ea typeface="Calibri" pitchFamily="34" charset="-122"/>
                <a:cs typeface="Calibri" pitchFamily="34" charset="-120"/>
              </a:rPr>
              <a:t>Human check:  </a:t>
            </a:r>
            <a:pPr indent="0" marL="0">
              <a:buNone/>
            </a:pPr>
            <a:r>
              <a:rPr lang="en-US" sz="1400" dirty="0">
                <a:solidFill>
                  <a:srgbClr val="A89A86"/>
                </a:solidFill>
                <a:latin typeface="Calibri" pitchFamily="34" charset="0"/>
                <a:ea typeface="Calibri" pitchFamily="34" charset="-122"/>
                <a:cs typeface="Calibri" pitchFamily="34" charset="-120"/>
              </a:rPr>
              <a:t>Management approves the roster.</a:t>
            </a:r>
            <a:endParaRPr lang="en-US" sz="1400" dirty="0"/>
          </a:p>
        </p:txBody>
      </p:sp>
      <p:sp>
        <p:nvSpPr>
          <p:cNvPr id="15" name="Shape 11"/>
          <p:cNvSpPr/>
          <p:nvPr/>
        </p:nvSpPr>
        <p:spPr>
          <a:xfrm>
            <a:off x="6172200" y="1965960"/>
            <a:ext cx="5349240" cy="3977640"/>
          </a:xfrm>
          <a:prstGeom prst="roundRect">
            <a:avLst>
              <a:gd name="adj" fmla="val 2759"/>
            </a:avLst>
          </a:prstGeom>
          <a:solidFill>
            <a:srgbClr val="1A1410"/>
          </a:solidFill>
          <a:ln w="12700">
            <a:solidFill>
              <a:srgbClr val="3A2F26"/>
            </a:solidFill>
            <a:prstDash val="solid"/>
          </a:ln>
        </p:spPr>
      </p:sp>
      <p:sp>
        <p:nvSpPr>
          <p:cNvPr id="16" name="Shape 12"/>
          <p:cNvSpPr/>
          <p:nvPr/>
        </p:nvSpPr>
        <p:spPr>
          <a:xfrm>
            <a:off x="6492240" y="2240280"/>
            <a:ext cx="777240" cy="777240"/>
          </a:xfrm>
          <a:prstGeom prst="ellipse">
            <a:avLst/>
          </a:prstGeom>
          <a:solidFill>
            <a:srgbClr val="241C16"/>
          </a:solidFill>
          <a:ln w="15875">
            <a:solidFill>
              <a:srgbClr val="6CC7B8"/>
            </a:solidFill>
            <a:prstDash val="solid"/>
          </a:ln>
        </p:spPr>
      </p:sp>
      <p:pic>
        <p:nvPicPr>
          <p:cNvPr id="17" name="Image 2" descr="preencoded.png">    </p:cNvPr>
          <p:cNvPicPr>
            <a:picLocks noChangeAspect="1"/>
          </p:cNvPicPr>
          <p:nvPr/>
        </p:nvPicPr>
        <p:blipFill>
          <a:blip r:embed="rId3"/>
          <a:stretch>
            <a:fillRect/>
          </a:stretch>
        </p:blipFill>
        <p:spPr>
          <a:xfrm>
            <a:off x="6686550" y="2434590"/>
            <a:ext cx="388620" cy="388620"/>
          </a:xfrm>
          <a:prstGeom prst="rect">
            <a:avLst/>
          </a:prstGeom>
        </p:spPr>
      </p:pic>
      <p:sp>
        <p:nvSpPr>
          <p:cNvPr id="18" name="Text 13"/>
          <p:cNvSpPr txBox="1"/>
          <p:nvPr/>
        </p:nvSpPr>
        <p:spPr>
          <a:xfrm>
            <a:off x="7498080" y="2286000"/>
            <a:ext cx="2743200" cy="228600"/>
          </a:xfrm>
          <a:prstGeom prst="rect">
            <a:avLst/>
          </a:prstGeom>
          <a:noFill/>
          <a:ln/>
        </p:spPr>
        <p:txBody>
          <a:bodyPr wrap="square" lIns="0" tIns="0" rIns="0" bIns="0" rtlCol="0" anchor="t"/>
          <a:lstStyle/>
          <a:p>
            <a:pPr indent="0" marL="0">
              <a:buNone/>
            </a:pPr>
            <a:r>
              <a:rPr lang="en-US" sz="1100" b="1" spc="300" kern="0" dirty="0">
                <a:solidFill>
                  <a:srgbClr val="6CC7B8"/>
                </a:solidFill>
                <a:latin typeface="Calibri" pitchFamily="34" charset="0"/>
                <a:ea typeface="Calibri" pitchFamily="34" charset="-122"/>
                <a:cs typeface="Calibri" pitchFamily="34" charset="-120"/>
              </a:rPr>
              <a:t>STEP 2</a:t>
            </a:r>
            <a:endParaRPr lang="en-US" sz="1100" dirty="0"/>
          </a:p>
        </p:txBody>
      </p:sp>
      <p:sp>
        <p:nvSpPr>
          <p:cNvPr id="19" name="Text 14"/>
          <p:cNvSpPr txBox="1"/>
          <p:nvPr/>
        </p:nvSpPr>
        <p:spPr>
          <a:xfrm>
            <a:off x="7498080" y="2560320"/>
            <a:ext cx="3840480" cy="457200"/>
          </a:xfrm>
          <a:prstGeom prst="rect">
            <a:avLst/>
          </a:prstGeom>
          <a:noFill/>
          <a:ln/>
        </p:spPr>
        <p:txBody>
          <a:bodyPr wrap="square" lIns="0" tIns="0" rIns="0" bIns="0" rtlCol="0" anchor="t"/>
          <a:lstStyle/>
          <a:p>
            <a:pPr indent="0" marL="0">
              <a:buNone/>
            </a:pPr>
            <a:r>
              <a:rPr lang="en-US" sz="2400" b="1" dirty="0">
                <a:solidFill>
                  <a:srgbClr val="EFE4D2"/>
                </a:solidFill>
                <a:latin typeface="Cambria" pitchFamily="34" charset="0"/>
                <a:ea typeface="Cambria" pitchFamily="34" charset="-122"/>
                <a:cs typeface="Cambria" pitchFamily="34" charset="-120"/>
              </a:rPr>
              <a:t>Pre-Arrival Intake</a:t>
            </a:r>
            <a:endParaRPr lang="en-US" sz="2400" dirty="0"/>
          </a:p>
        </p:txBody>
      </p:sp>
      <p:sp>
        <p:nvSpPr>
          <p:cNvPr id="20" name="Text 15"/>
          <p:cNvSpPr txBox="1"/>
          <p:nvPr/>
        </p:nvSpPr>
        <p:spPr>
          <a:xfrm>
            <a:off x="6537960" y="3291840"/>
            <a:ext cx="4663440" cy="914400"/>
          </a:xfrm>
          <a:prstGeom prst="rect">
            <a:avLst/>
          </a:prstGeom>
          <a:noFill/>
          <a:ln/>
        </p:spPr>
        <p:txBody>
          <a:bodyPr wrap="square" lIns="0" tIns="0" rIns="0" bIns="0" rtlCol="0" anchor="t"/>
          <a:lstStyle/>
          <a:p>
            <a:pPr indent="0" marL="0">
              <a:buNone/>
            </a:pPr>
            <a:r>
              <a:rPr lang="en-US" sz="1500" dirty="0">
                <a:solidFill>
                  <a:srgbClr val="EFE4D2"/>
                </a:solidFill>
                <a:latin typeface="Calibri" pitchFamily="34" charset="0"/>
                <a:ea typeface="Calibri" pitchFamily="34" charset="-122"/>
                <a:cs typeface="Calibri" pitchFamily="34" charset="-120"/>
              </a:rPr>
              <a:t>The patient enters symptoms and history on an app or WhatsApp from home.</a:t>
            </a:r>
            <a:endParaRPr lang="en-US" sz="1500" dirty="0"/>
          </a:p>
        </p:txBody>
      </p:sp>
      <p:sp>
        <p:nvSpPr>
          <p:cNvPr id="21" name="Text 16"/>
          <p:cNvSpPr txBox="1"/>
          <p:nvPr/>
        </p:nvSpPr>
        <p:spPr>
          <a:xfrm>
            <a:off x="6537960" y="4297680"/>
            <a:ext cx="4663440" cy="640080"/>
          </a:xfrm>
          <a:prstGeom prst="rect">
            <a:avLst/>
          </a:prstGeom>
          <a:noFill/>
          <a:ln/>
        </p:spPr>
        <p:txBody>
          <a:bodyPr wrap="square" lIns="0" tIns="0" rIns="0" bIns="0" rtlCol="0" anchor="t"/>
          <a:lstStyle/>
          <a:p>
            <a:pPr indent="0" marL="0">
              <a:buNone/>
            </a:pPr>
            <a:r>
              <a:rPr lang="en-US" sz="1400" b="1" dirty="0">
                <a:solidFill>
                  <a:srgbClr val="F2CD83"/>
                </a:solidFill>
                <a:latin typeface="Calibri" pitchFamily="34" charset="0"/>
                <a:ea typeface="Calibri" pitchFamily="34" charset="-122"/>
                <a:cs typeface="Calibri" pitchFamily="34" charset="-120"/>
              </a:rPr>
              <a:t>Why it helps:  </a:t>
            </a:r>
            <a:pPr indent="0" marL="0">
              <a:buNone/>
            </a:pPr>
            <a:r>
              <a:rPr lang="en-US" sz="1400" dirty="0">
                <a:solidFill>
                  <a:srgbClr val="A89A86"/>
                </a:solidFill>
                <a:latin typeface="Calibri" pitchFamily="34" charset="0"/>
                <a:ea typeface="Calibri" pitchFamily="34" charset="-122"/>
                <a:cs typeface="Calibri" pitchFamily="34" charset="-120"/>
              </a:rPr>
              <a:t>No forms to fill at the hospital.</a:t>
            </a:r>
            <a:endParaRPr lang="en-US" sz="1400" dirty="0"/>
          </a:p>
        </p:txBody>
      </p:sp>
      <p:sp>
        <p:nvSpPr>
          <p:cNvPr id="22" name="Text 17"/>
          <p:cNvSpPr txBox="1"/>
          <p:nvPr/>
        </p:nvSpPr>
        <p:spPr>
          <a:xfrm>
            <a:off x="6537960" y="4983480"/>
            <a:ext cx="4663440" cy="640080"/>
          </a:xfrm>
          <a:prstGeom prst="rect">
            <a:avLst/>
          </a:prstGeom>
          <a:noFill/>
          <a:ln/>
        </p:spPr>
        <p:txBody>
          <a:bodyPr wrap="square" lIns="0" tIns="0" rIns="0" bIns="0" rtlCol="0" anchor="t"/>
          <a:lstStyle/>
          <a:p>
            <a:pPr indent="0" marL="0">
              <a:buNone/>
            </a:pPr>
            <a:r>
              <a:rPr lang="en-US" sz="1400" b="1" dirty="0">
                <a:solidFill>
                  <a:srgbClr val="F2CD83"/>
                </a:solidFill>
                <a:latin typeface="Calibri" pitchFamily="34" charset="0"/>
                <a:ea typeface="Calibri" pitchFamily="34" charset="-122"/>
                <a:cs typeface="Calibri" pitchFamily="34" charset="-120"/>
              </a:rPr>
              <a:t>Human check:  </a:t>
            </a:r>
            <a:pPr indent="0" marL="0">
              <a:buNone/>
            </a:pPr>
            <a:r>
              <a:rPr lang="en-US" sz="1400" dirty="0">
                <a:solidFill>
                  <a:srgbClr val="A89A86"/>
                </a:solidFill>
                <a:latin typeface="Calibri" pitchFamily="34" charset="0"/>
                <a:ea typeface="Calibri" pitchFamily="34" charset="-122"/>
                <a:cs typeface="Calibri" pitchFamily="34" charset="-120"/>
              </a:rPr>
              <a:t>Help desk fills it in for patients without a smartphone.</a:t>
            </a:r>
            <a:endParaRPr lang="en-US" sz="1400" dirty="0"/>
          </a:p>
        </p:txBody>
      </p:sp>
      <p:sp>
        <p:nvSpPr>
          <p:cNvPr id="23" name="Text 18"/>
          <p:cNvSpPr txBox="1"/>
          <p:nvPr/>
        </p:nvSpPr>
        <p:spPr>
          <a:xfrm>
            <a:off x="640080" y="6126480"/>
            <a:ext cx="5486400" cy="274320"/>
          </a:xfrm>
          <a:prstGeom prst="rect">
            <a:avLst/>
          </a:prstGeom>
          <a:noFill/>
          <a:ln/>
        </p:spPr>
        <p:txBody>
          <a:bodyPr wrap="square" lIns="0" tIns="0" rIns="0" bIns="0" rtlCol="0" anchor="t"/>
          <a:lstStyle/>
          <a:p>
            <a:pPr indent="0" marL="0">
              <a:buNone/>
            </a:pPr>
            <a:r>
              <a:rPr lang="en-US" sz="1300" b="1" dirty="0">
                <a:solidFill>
                  <a:srgbClr val="6CC7B8"/>
                </a:solidFill>
                <a:latin typeface="Calibri" pitchFamily="34" charset="0"/>
                <a:ea typeface="Calibri" pitchFamily="34" charset="-122"/>
                <a:cs typeface="Calibri" pitchFamily="34" charset="-120"/>
              </a:rPr>
              <a:t>Time spent in hospital: 0 min</a:t>
            </a:r>
            <a:endParaRPr lang="en-US" sz="1300" dirty="0"/>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A08"/>
        </a:solidFill>
      </p:bgPr>
    </p:bg>
    <p:spTree>
      <p:nvGrpSpPr>
        <p:cNvPr id="1" name=""/>
        <p:cNvGrpSpPr/>
        <p:nvPr/>
      </p:nvGrpSpPr>
      <p:grpSpPr>
        <a:xfrm>
          <a:off x="0" y="0"/>
          <a:ext cx="0" cy="0"/>
          <a:chOff x="0" y="0"/>
          <a:chExt cx="0" cy="0"/>
        </a:xfrm>
      </p:grpSpPr>
      <p:pic>
        <p:nvPicPr>
          <p:cNvPr id="2" name="Image 0" descr="bg/teal.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09</a:t>
            </a:r>
            <a:endParaRPr lang="en-US" sz="900" dirty="0"/>
          </a:p>
        </p:txBody>
      </p:sp>
      <p:sp>
        <p:nvSpPr>
          <p:cNvPr id="4" name="Text 1"/>
          <p:cNvSpPr txBox="1"/>
          <p:nvPr/>
        </p:nvSpPr>
        <p:spPr>
          <a:xfrm>
            <a:off x="7863840" y="3017520"/>
            <a:ext cx="4114800" cy="3840480"/>
          </a:xfrm>
          <a:prstGeom prst="rect">
            <a:avLst/>
          </a:prstGeom>
          <a:noFill/>
          <a:ln/>
        </p:spPr>
        <p:txBody>
          <a:bodyPr wrap="square" lIns="0" tIns="0" rIns="0" bIns="0" rtlCol="0" anchor="t"/>
          <a:lstStyle/>
          <a:p>
            <a:pPr algn="r" indent="0" marL="0">
              <a:buNone/>
            </a:pPr>
            <a:r>
              <a:rPr lang="en-US" sz="25000" b="1" i="1" dirty="0">
                <a:solidFill>
                  <a:srgbClr val="1C1611"/>
                </a:solidFill>
                <a:latin typeface="Cambria" pitchFamily="34" charset="0"/>
                <a:ea typeface="Cambria" pitchFamily="34" charset="-122"/>
                <a:cs typeface="Cambria" pitchFamily="34" charset="-120"/>
              </a:rPr>
              <a:t>4</a:t>
            </a:r>
            <a:endParaRPr lang="en-US" sz="25000" dirty="0"/>
          </a:p>
        </p:txBody>
      </p:sp>
      <p:sp>
        <p:nvSpPr>
          <p:cNvPr id="5" name="Text 2"/>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STEPS 3–4  ·  ★ AI MAKES THE DECISION</a:t>
            </a:r>
            <a:endParaRPr lang="en-US" sz="1200" dirty="0"/>
          </a:p>
        </p:txBody>
      </p:sp>
      <p:sp>
        <p:nvSpPr>
          <p:cNvPr id="6" name="Text 3"/>
          <p:cNvSpPr txBox="1"/>
          <p:nvPr/>
        </p:nvSpPr>
        <p:spPr>
          <a:xfrm>
            <a:off x="640080" y="868680"/>
            <a:ext cx="10515600" cy="91440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AI decides </a:t>
            </a:r>
            <a:pPr indent="0" marL="0">
              <a:buNone/>
            </a:pPr>
            <a:r>
              <a:rPr lang="en-US" sz="3800" b="1" i="1" dirty="0">
                <a:solidFill>
                  <a:srgbClr val="6CC7B8"/>
                </a:solidFill>
                <a:latin typeface="Cambria" pitchFamily="34" charset="0"/>
                <a:ea typeface="Cambria" pitchFamily="34" charset="-122"/>
                <a:cs typeface="Cambria" pitchFamily="34" charset="-120"/>
              </a:rPr>
              <a:t>who goes first</a:t>
            </a:r>
            <a:endParaRPr lang="en-US" sz="3800" dirty="0"/>
          </a:p>
        </p:txBody>
      </p:sp>
      <p:sp>
        <p:nvSpPr>
          <p:cNvPr id="7" name="Shape 4"/>
          <p:cNvSpPr/>
          <p:nvPr/>
        </p:nvSpPr>
        <p:spPr>
          <a:xfrm>
            <a:off x="640080" y="1965960"/>
            <a:ext cx="3017520" cy="1371600"/>
          </a:xfrm>
          <a:prstGeom prst="roundRect">
            <a:avLst>
              <a:gd name="adj" fmla="val 8000"/>
            </a:avLst>
          </a:prstGeom>
          <a:solidFill>
            <a:srgbClr val="1A1410"/>
          </a:solidFill>
          <a:ln w="12700">
            <a:solidFill>
              <a:srgbClr val="3A2F26"/>
            </a:solidFill>
            <a:prstDash val="solid"/>
          </a:ln>
        </p:spPr>
      </p:sp>
      <p:sp>
        <p:nvSpPr>
          <p:cNvPr id="8" name="Text 5"/>
          <p:cNvSpPr txBox="1"/>
          <p:nvPr/>
        </p:nvSpPr>
        <p:spPr>
          <a:xfrm>
            <a:off x="914400" y="2148840"/>
            <a:ext cx="2560320" cy="228600"/>
          </a:xfrm>
          <a:prstGeom prst="rect">
            <a:avLst/>
          </a:prstGeom>
          <a:noFill/>
          <a:ln/>
        </p:spPr>
        <p:txBody>
          <a:bodyPr wrap="square" lIns="0" tIns="0" rIns="0" bIns="0" rtlCol="0" anchor="t"/>
          <a:lstStyle/>
          <a:p>
            <a:pPr indent="0" marL="0">
              <a:buNone/>
            </a:pPr>
            <a:r>
              <a:rPr lang="en-US" sz="1100" b="1" spc="200" kern="0" dirty="0">
                <a:solidFill>
                  <a:srgbClr val="A89A86"/>
                </a:solidFill>
                <a:latin typeface="Calibri" pitchFamily="34" charset="0"/>
                <a:ea typeface="Calibri" pitchFamily="34" charset="-122"/>
                <a:cs typeface="Calibri" pitchFamily="34" charset="-120"/>
              </a:rPr>
              <a:t>STEP 3  ·  2 MIN</a:t>
            </a:r>
            <a:endParaRPr lang="en-US" sz="1100" dirty="0"/>
          </a:p>
        </p:txBody>
      </p:sp>
      <p:sp>
        <p:nvSpPr>
          <p:cNvPr id="9" name="Text 6"/>
          <p:cNvSpPr txBox="1"/>
          <p:nvPr/>
        </p:nvSpPr>
        <p:spPr>
          <a:xfrm>
            <a:off x="914400" y="2423160"/>
            <a:ext cx="2560320" cy="411480"/>
          </a:xfrm>
          <a:prstGeom prst="rect">
            <a:avLst/>
          </a:prstGeom>
          <a:noFill/>
          <a:ln/>
        </p:spPr>
        <p:txBody>
          <a:bodyPr wrap="square" lIns="0" tIns="0" rIns="0" bIns="0" rtlCol="0" anchor="t"/>
          <a:lstStyle/>
          <a:p>
            <a:pPr indent="0" marL="0">
              <a:buNone/>
            </a:pPr>
            <a:r>
              <a:rPr lang="en-US" sz="2000" b="1" dirty="0">
                <a:solidFill>
                  <a:srgbClr val="EFE4D2"/>
                </a:solidFill>
                <a:latin typeface="Cambria" pitchFamily="34" charset="0"/>
                <a:ea typeface="Cambria" pitchFamily="34" charset="-122"/>
                <a:cs typeface="Cambria" pitchFamily="34" charset="-120"/>
              </a:rPr>
              <a:t>Quick check-in</a:t>
            </a:r>
            <a:endParaRPr lang="en-US" sz="2000" dirty="0"/>
          </a:p>
        </p:txBody>
      </p:sp>
      <p:sp>
        <p:nvSpPr>
          <p:cNvPr id="10" name="Text 7"/>
          <p:cNvSpPr txBox="1"/>
          <p:nvPr/>
        </p:nvSpPr>
        <p:spPr>
          <a:xfrm>
            <a:off x="914400" y="2834640"/>
            <a:ext cx="2560320" cy="320040"/>
          </a:xfrm>
          <a:prstGeom prst="rect">
            <a:avLst/>
          </a:prstGeom>
          <a:noFill/>
          <a:ln/>
        </p:spPr>
        <p:txBody>
          <a:bodyPr wrap="square" lIns="0" tIns="0" rIns="0" bIns="0" rtlCol="0" anchor="t"/>
          <a:lstStyle/>
          <a:p>
            <a:pPr indent="0" marL="0">
              <a:buNone/>
            </a:pPr>
            <a:r>
              <a:rPr lang="en-US" sz="1300" dirty="0">
                <a:solidFill>
                  <a:srgbClr val="A89A86"/>
                </a:solidFill>
                <a:latin typeface="Calibri" pitchFamily="34" charset="0"/>
                <a:ea typeface="Calibri" pitchFamily="34" charset="-122"/>
                <a:cs typeface="Calibri" pitchFamily="34" charset="-120"/>
              </a:rPr>
              <a:t>Forms are already filled.</a:t>
            </a:r>
            <a:endParaRPr lang="en-US" sz="1300" dirty="0"/>
          </a:p>
        </p:txBody>
      </p:sp>
      <p:sp>
        <p:nvSpPr>
          <p:cNvPr id="11" name="Shape 8"/>
          <p:cNvSpPr/>
          <p:nvPr/>
        </p:nvSpPr>
        <p:spPr>
          <a:xfrm>
            <a:off x="640080" y="3520440"/>
            <a:ext cx="3017520" cy="2423160"/>
          </a:xfrm>
          <a:prstGeom prst="roundRect">
            <a:avLst>
              <a:gd name="adj" fmla="val 4528"/>
            </a:avLst>
          </a:prstGeom>
          <a:solidFill>
            <a:srgbClr val="10302C"/>
          </a:solidFill>
          <a:ln w="12700">
            <a:solidFill>
              <a:srgbClr val="6CC7B8"/>
            </a:solidFill>
            <a:prstDash val="solid"/>
          </a:ln>
        </p:spPr>
      </p:sp>
      <p:sp>
        <p:nvSpPr>
          <p:cNvPr id="12" name="Text 9"/>
          <p:cNvSpPr txBox="1"/>
          <p:nvPr/>
        </p:nvSpPr>
        <p:spPr>
          <a:xfrm>
            <a:off x="914400" y="3703320"/>
            <a:ext cx="2560320" cy="228600"/>
          </a:xfrm>
          <a:prstGeom prst="rect">
            <a:avLst/>
          </a:prstGeom>
          <a:noFill/>
          <a:ln/>
        </p:spPr>
        <p:txBody>
          <a:bodyPr wrap="square" lIns="0" tIns="0" rIns="0" bIns="0" rtlCol="0" anchor="t"/>
          <a:lstStyle/>
          <a:p>
            <a:pPr indent="0" marL="0">
              <a:buNone/>
            </a:pPr>
            <a:r>
              <a:rPr lang="en-US" sz="1100" b="1" spc="200" kern="0" dirty="0">
                <a:solidFill>
                  <a:srgbClr val="6CC7B8"/>
                </a:solidFill>
                <a:latin typeface="Calibri" pitchFamily="34" charset="0"/>
                <a:ea typeface="Calibri" pitchFamily="34" charset="-122"/>
                <a:cs typeface="Calibri" pitchFamily="34" charset="-120"/>
              </a:rPr>
              <a:t>STEP 4  ·  &lt; 1 MIN</a:t>
            </a:r>
            <a:endParaRPr lang="en-US" sz="1100" dirty="0"/>
          </a:p>
        </p:txBody>
      </p:sp>
      <p:sp>
        <p:nvSpPr>
          <p:cNvPr id="13" name="Text 10"/>
          <p:cNvSpPr txBox="1"/>
          <p:nvPr/>
        </p:nvSpPr>
        <p:spPr>
          <a:xfrm>
            <a:off x="914400" y="3977640"/>
            <a:ext cx="2560320" cy="731520"/>
          </a:xfrm>
          <a:prstGeom prst="rect">
            <a:avLst/>
          </a:prstGeom>
          <a:noFill/>
          <a:ln/>
        </p:spPr>
        <p:txBody>
          <a:bodyPr wrap="square" lIns="0" tIns="0" rIns="0" bIns="0" rtlCol="0" anchor="t"/>
          <a:lstStyle/>
          <a:p>
            <a:pPr indent="0" marL="0">
              <a:buNone/>
            </a:pPr>
            <a:r>
              <a:rPr lang="en-US" sz="2000" b="1" dirty="0">
                <a:solidFill>
                  <a:srgbClr val="EFE4D2"/>
                </a:solidFill>
                <a:latin typeface="Cambria" pitchFamily="34" charset="0"/>
                <a:ea typeface="Cambria" pitchFamily="34" charset="-122"/>
                <a:cs typeface="Cambria" pitchFamily="34" charset="-120"/>
              </a:rPr>
              <a:t>AI Triage &amp; Smart Queue</a:t>
            </a:r>
            <a:endParaRPr lang="en-US" sz="2000" dirty="0"/>
          </a:p>
        </p:txBody>
      </p:sp>
      <p:sp>
        <p:nvSpPr>
          <p:cNvPr id="14" name="Text 11"/>
          <p:cNvSpPr txBox="1"/>
          <p:nvPr/>
        </p:nvSpPr>
        <p:spPr>
          <a:xfrm>
            <a:off x="914400" y="4754880"/>
            <a:ext cx="2560320" cy="1005840"/>
          </a:xfrm>
          <a:prstGeom prst="rect">
            <a:avLst/>
          </a:prstGeom>
          <a:noFill/>
          <a:ln/>
        </p:spPr>
        <p:txBody>
          <a:bodyPr wrap="square" lIns="0" tIns="0" rIns="0" bIns="0" rtlCol="0" anchor="t"/>
          <a:lstStyle/>
          <a:p>
            <a:pPr indent="0" marL="0">
              <a:buNone/>
            </a:pPr>
            <a:r>
              <a:rPr lang="en-US" sz="1300" dirty="0">
                <a:solidFill>
                  <a:srgbClr val="EFE4D2"/>
                </a:solidFill>
                <a:latin typeface="Calibri" pitchFamily="34" charset="0"/>
                <a:ea typeface="Calibri" pitchFamily="34" charset="-122"/>
                <a:cs typeface="Calibri" pitchFamily="34" charset="-120"/>
              </a:rPr>
              <a:t>The AI decides on its own. No one has to wait for a triage nurse.</a:t>
            </a:r>
            <a:endParaRPr lang="en-US" sz="1300" dirty="0"/>
          </a:p>
        </p:txBody>
      </p:sp>
      <p:sp>
        <p:nvSpPr>
          <p:cNvPr id="15" name="Text 12"/>
          <p:cNvSpPr txBox="1"/>
          <p:nvPr/>
        </p:nvSpPr>
        <p:spPr>
          <a:xfrm>
            <a:off x="4023360" y="1965960"/>
            <a:ext cx="4114800" cy="320040"/>
          </a:xfrm>
          <a:prstGeom prst="rect">
            <a:avLst/>
          </a:prstGeom>
          <a:noFill/>
          <a:ln/>
        </p:spPr>
        <p:txBody>
          <a:bodyPr wrap="square" lIns="0" tIns="0" rIns="0" bIns="0" rtlCol="0" anchor="t"/>
          <a:lstStyle/>
          <a:p>
            <a:pPr indent="0" marL="0">
              <a:buNone/>
            </a:pPr>
            <a:r>
              <a:rPr lang="en-US" sz="1400" b="1" dirty="0">
                <a:solidFill>
                  <a:srgbClr val="A89A86"/>
                </a:solidFill>
                <a:latin typeface="Calibri" pitchFamily="34" charset="0"/>
                <a:ea typeface="Calibri" pitchFamily="34" charset="-122"/>
                <a:cs typeface="Calibri" pitchFamily="34" charset="-120"/>
              </a:rPr>
              <a:t>Example: how the AI sorts patients</a:t>
            </a:r>
            <a:endParaRPr lang="en-US" sz="1400" dirty="0"/>
          </a:p>
        </p:txBody>
      </p:sp>
      <p:sp>
        <p:nvSpPr>
          <p:cNvPr id="16" name="Shape 13"/>
          <p:cNvSpPr/>
          <p:nvPr/>
        </p:nvSpPr>
        <p:spPr>
          <a:xfrm>
            <a:off x="4023360" y="2377440"/>
            <a:ext cx="4114800" cy="777240"/>
          </a:xfrm>
          <a:prstGeom prst="roundRect">
            <a:avLst>
              <a:gd name="adj" fmla="val 14118"/>
            </a:avLst>
          </a:prstGeom>
          <a:solidFill>
            <a:srgbClr val="1A1410"/>
          </a:solidFill>
          <a:ln w="12700">
            <a:solidFill>
              <a:srgbClr val="E48475"/>
            </a:solidFill>
            <a:prstDash val="solid"/>
          </a:ln>
        </p:spPr>
      </p:sp>
      <p:sp>
        <p:nvSpPr>
          <p:cNvPr id="17" name="Text 14"/>
          <p:cNvSpPr txBox="1"/>
          <p:nvPr/>
        </p:nvSpPr>
        <p:spPr>
          <a:xfrm>
            <a:off x="4251960" y="2514600"/>
            <a:ext cx="1463040" cy="502920"/>
          </a:xfrm>
          <a:prstGeom prst="rect">
            <a:avLst/>
          </a:prstGeom>
          <a:noFill/>
          <a:ln/>
        </p:spPr>
        <p:txBody>
          <a:bodyPr wrap="square" lIns="0" tIns="0" rIns="0" bIns="0" rtlCol="0" anchor="ctr"/>
          <a:lstStyle/>
          <a:p>
            <a:pPr indent="0" marL="0">
              <a:buNone/>
            </a:pPr>
            <a:r>
              <a:rPr lang="en-US" sz="1300" b="1" spc="200" kern="0" dirty="0">
                <a:solidFill>
                  <a:srgbClr val="E48475"/>
                </a:solidFill>
                <a:latin typeface="Calibri" pitchFamily="34" charset="0"/>
                <a:ea typeface="Calibri" pitchFamily="34" charset="-122"/>
                <a:cs typeface="Calibri" pitchFamily="34" charset="-120"/>
              </a:rPr>
              <a:t>EMERGENCY</a:t>
            </a:r>
            <a:endParaRPr lang="en-US" sz="1300" dirty="0"/>
          </a:p>
        </p:txBody>
      </p:sp>
      <p:sp>
        <p:nvSpPr>
          <p:cNvPr id="18" name="Text 15"/>
          <p:cNvSpPr txBox="1"/>
          <p:nvPr/>
        </p:nvSpPr>
        <p:spPr>
          <a:xfrm>
            <a:off x="5760720" y="2487168"/>
            <a:ext cx="2286000" cy="292608"/>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Chest pain</a:t>
            </a:r>
            <a:endParaRPr lang="en-US" sz="1500" dirty="0"/>
          </a:p>
        </p:txBody>
      </p:sp>
      <p:sp>
        <p:nvSpPr>
          <p:cNvPr id="19" name="Text 16"/>
          <p:cNvSpPr txBox="1"/>
          <p:nvPr/>
        </p:nvSpPr>
        <p:spPr>
          <a:xfrm>
            <a:off x="5760720" y="2788920"/>
            <a:ext cx="2286000" cy="27432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Seen immediately</a:t>
            </a:r>
            <a:endParaRPr lang="en-US" sz="1200" dirty="0"/>
          </a:p>
        </p:txBody>
      </p:sp>
      <p:sp>
        <p:nvSpPr>
          <p:cNvPr id="20" name="Shape 17"/>
          <p:cNvSpPr/>
          <p:nvPr/>
        </p:nvSpPr>
        <p:spPr>
          <a:xfrm>
            <a:off x="4023360" y="3310128"/>
            <a:ext cx="4114800" cy="777240"/>
          </a:xfrm>
          <a:prstGeom prst="roundRect">
            <a:avLst>
              <a:gd name="adj" fmla="val 14118"/>
            </a:avLst>
          </a:prstGeom>
          <a:solidFill>
            <a:srgbClr val="1A1410"/>
          </a:solidFill>
          <a:ln w="12700">
            <a:solidFill>
              <a:srgbClr val="E8A857"/>
            </a:solidFill>
            <a:prstDash val="solid"/>
          </a:ln>
        </p:spPr>
      </p:sp>
      <p:sp>
        <p:nvSpPr>
          <p:cNvPr id="21" name="Text 18"/>
          <p:cNvSpPr txBox="1"/>
          <p:nvPr/>
        </p:nvSpPr>
        <p:spPr>
          <a:xfrm>
            <a:off x="4251960" y="3447288"/>
            <a:ext cx="1463040" cy="502920"/>
          </a:xfrm>
          <a:prstGeom prst="rect">
            <a:avLst/>
          </a:prstGeom>
          <a:noFill/>
          <a:ln/>
        </p:spPr>
        <p:txBody>
          <a:bodyPr wrap="square" lIns="0" tIns="0" rIns="0" bIns="0" rtlCol="0" anchor="ctr"/>
          <a:lstStyle/>
          <a:p>
            <a:pPr indent="0" marL="0">
              <a:buNone/>
            </a:pPr>
            <a:r>
              <a:rPr lang="en-US" sz="1300" b="1" spc="200" kern="0" dirty="0">
                <a:solidFill>
                  <a:srgbClr val="E8A857"/>
                </a:solidFill>
                <a:latin typeface="Calibri" pitchFamily="34" charset="0"/>
                <a:ea typeface="Calibri" pitchFamily="34" charset="-122"/>
                <a:cs typeface="Calibri" pitchFamily="34" charset="-120"/>
              </a:rPr>
              <a:t>URGENT</a:t>
            </a:r>
            <a:endParaRPr lang="en-US" sz="1300" dirty="0"/>
          </a:p>
        </p:txBody>
      </p:sp>
      <p:sp>
        <p:nvSpPr>
          <p:cNvPr id="22" name="Text 19"/>
          <p:cNvSpPr txBox="1"/>
          <p:nvPr/>
        </p:nvSpPr>
        <p:spPr>
          <a:xfrm>
            <a:off x="5760720" y="3419856"/>
            <a:ext cx="2286000" cy="292608"/>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High fever</a:t>
            </a:r>
            <a:endParaRPr lang="en-US" sz="1500" dirty="0"/>
          </a:p>
        </p:txBody>
      </p:sp>
      <p:sp>
        <p:nvSpPr>
          <p:cNvPr id="23" name="Text 20"/>
          <p:cNvSpPr txBox="1"/>
          <p:nvPr/>
        </p:nvSpPr>
        <p:spPr>
          <a:xfrm>
            <a:off x="5760720" y="3721608"/>
            <a:ext cx="2286000" cy="27432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Seen soon</a:t>
            </a:r>
            <a:endParaRPr lang="en-US" sz="1200" dirty="0"/>
          </a:p>
        </p:txBody>
      </p:sp>
      <p:sp>
        <p:nvSpPr>
          <p:cNvPr id="24" name="Shape 21"/>
          <p:cNvSpPr/>
          <p:nvPr/>
        </p:nvSpPr>
        <p:spPr>
          <a:xfrm>
            <a:off x="4023360" y="4242816"/>
            <a:ext cx="4114800" cy="777240"/>
          </a:xfrm>
          <a:prstGeom prst="roundRect">
            <a:avLst>
              <a:gd name="adj" fmla="val 14118"/>
            </a:avLst>
          </a:prstGeom>
          <a:solidFill>
            <a:srgbClr val="1A1410"/>
          </a:solidFill>
          <a:ln w="12700">
            <a:solidFill>
              <a:srgbClr val="6CC7B8"/>
            </a:solidFill>
            <a:prstDash val="solid"/>
          </a:ln>
        </p:spPr>
      </p:sp>
      <p:sp>
        <p:nvSpPr>
          <p:cNvPr id="25" name="Text 22"/>
          <p:cNvSpPr txBox="1"/>
          <p:nvPr/>
        </p:nvSpPr>
        <p:spPr>
          <a:xfrm>
            <a:off x="4251960" y="4379976"/>
            <a:ext cx="1463040" cy="502920"/>
          </a:xfrm>
          <a:prstGeom prst="rect">
            <a:avLst/>
          </a:prstGeom>
          <a:noFill/>
          <a:ln/>
        </p:spPr>
        <p:txBody>
          <a:bodyPr wrap="square" lIns="0" tIns="0" rIns="0" bIns="0" rtlCol="0" anchor="ctr"/>
          <a:lstStyle/>
          <a:p>
            <a:pPr indent="0" marL="0">
              <a:buNone/>
            </a:pPr>
            <a:r>
              <a:rPr lang="en-US" sz="1300" b="1" spc="200" kern="0" dirty="0">
                <a:solidFill>
                  <a:srgbClr val="6CC7B8"/>
                </a:solidFill>
                <a:latin typeface="Calibri" pitchFamily="34" charset="0"/>
                <a:ea typeface="Calibri" pitchFamily="34" charset="-122"/>
                <a:cs typeface="Calibri" pitchFamily="34" charset="-120"/>
              </a:rPr>
              <a:t>ROUTINE</a:t>
            </a:r>
            <a:endParaRPr lang="en-US" sz="1300" dirty="0"/>
          </a:p>
        </p:txBody>
      </p:sp>
      <p:sp>
        <p:nvSpPr>
          <p:cNvPr id="26" name="Text 23"/>
          <p:cNvSpPr txBox="1"/>
          <p:nvPr/>
        </p:nvSpPr>
        <p:spPr>
          <a:xfrm>
            <a:off x="5760720" y="4352544"/>
            <a:ext cx="2286000" cy="292608"/>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Mild rash</a:t>
            </a:r>
            <a:endParaRPr lang="en-US" sz="1500" dirty="0"/>
          </a:p>
        </p:txBody>
      </p:sp>
      <p:sp>
        <p:nvSpPr>
          <p:cNvPr id="27" name="Text 24"/>
          <p:cNvSpPr txBox="1"/>
          <p:nvPr/>
        </p:nvSpPr>
        <p:spPr>
          <a:xfrm>
            <a:off x="5760720" y="4654296"/>
            <a:ext cx="2286000" cy="27432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Next normal slot</a:t>
            </a:r>
            <a:endParaRPr lang="en-US" sz="1200" dirty="0"/>
          </a:p>
        </p:txBody>
      </p:sp>
      <p:sp>
        <p:nvSpPr>
          <p:cNvPr id="28" name="Text 25"/>
          <p:cNvSpPr txBox="1"/>
          <p:nvPr/>
        </p:nvSpPr>
        <p:spPr>
          <a:xfrm>
            <a:off x="8503920" y="1965960"/>
            <a:ext cx="3017520" cy="320040"/>
          </a:xfrm>
          <a:prstGeom prst="rect">
            <a:avLst/>
          </a:prstGeom>
          <a:noFill/>
          <a:ln/>
        </p:spPr>
        <p:txBody>
          <a:bodyPr wrap="square" lIns="0" tIns="0" rIns="0" bIns="0" rtlCol="0" anchor="t"/>
          <a:lstStyle/>
          <a:p>
            <a:pPr indent="0" marL="0">
              <a:buNone/>
            </a:pPr>
            <a:r>
              <a:rPr lang="en-US" sz="1400" b="1" dirty="0">
                <a:solidFill>
                  <a:srgbClr val="A89A86"/>
                </a:solidFill>
                <a:latin typeface="Calibri" pitchFamily="34" charset="0"/>
                <a:ea typeface="Calibri" pitchFamily="34" charset="-122"/>
                <a:cs typeface="Calibri" pitchFamily="34" charset="-120"/>
              </a:rPr>
              <a:t>The AI also decides:</a:t>
            </a:r>
            <a:endParaRPr lang="en-US" sz="1400" dirty="0"/>
          </a:p>
        </p:txBody>
      </p:sp>
      <p:sp>
        <p:nvSpPr>
          <p:cNvPr id="29" name="Shape 26"/>
          <p:cNvSpPr/>
          <p:nvPr/>
        </p:nvSpPr>
        <p:spPr>
          <a:xfrm>
            <a:off x="8503920" y="2423160"/>
            <a:ext cx="502920" cy="502920"/>
          </a:xfrm>
          <a:prstGeom prst="ellipse">
            <a:avLst/>
          </a:prstGeom>
          <a:solidFill>
            <a:srgbClr val="241C16"/>
          </a:solidFill>
          <a:ln w="15875">
            <a:solidFill>
              <a:srgbClr val="6CC7B8"/>
            </a:solidFill>
            <a:prstDash val="solid"/>
          </a:ln>
        </p:spPr>
      </p:sp>
      <p:pic>
        <p:nvPicPr>
          <p:cNvPr id="30" name="Image 1" descr="preencoded.png">    </p:cNvPr>
          <p:cNvPicPr>
            <a:picLocks noChangeAspect="1"/>
          </p:cNvPicPr>
          <p:nvPr/>
        </p:nvPicPr>
        <p:blipFill>
          <a:blip r:embed="rId2"/>
          <a:stretch>
            <a:fillRect/>
          </a:stretch>
        </p:blipFill>
        <p:spPr>
          <a:xfrm>
            <a:off x="8629650" y="2548890"/>
            <a:ext cx="251460" cy="251460"/>
          </a:xfrm>
          <a:prstGeom prst="rect">
            <a:avLst/>
          </a:prstGeom>
        </p:spPr>
      </p:pic>
      <p:sp>
        <p:nvSpPr>
          <p:cNvPr id="31" name="Text 27"/>
          <p:cNvSpPr txBox="1"/>
          <p:nvPr/>
        </p:nvSpPr>
        <p:spPr>
          <a:xfrm>
            <a:off x="9144000" y="2532888"/>
            <a:ext cx="2468880" cy="320040"/>
          </a:xfrm>
          <a:prstGeom prst="rect">
            <a:avLst/>
          </a:prstGeom>
          <a:noFill/>
          <a:ln/>
        </p:spPr>
        <p:txBody>
          <a:bodyPr wrap="square" lIns="0" tIns="0" rIns="0" bIns="0" rtlCol="0" anchor="t"/>
          <a:lstStyle/>
          <a:p>
            <a:pPr indent="0" marL="0">
              <a:buNone/>
            </a:pPr>
            <a:r>
              <a:rPr lang="en-US" sz="1500" dirty="0">
                <a:solidFill>
                  <a:srgbClr val="EFE4D2"/>
                </a:solidFill>
                <a:latin typeface="Calibri" pitchFamily="34" charset="0"/>
                <a:ea typeface="Calibri" pitchFamily="34" charset="-122"/>
                <a:cs typeface="Calibri" pitchFamily="34" charset="-120"/>
              </a:rPr>
              <a:t>Queue position</a:t>
            </a:r>
            <a:endParaRPr lang="en-US" sz="1500" dirty="0"/>
          </a:p>
        </p:txBody>
      </p:sp>
      <p:sp>
        <p:nvSpPr>
          <p:cNvPr id="32" name="Shape 28"/>
          <p:cNvSpPr/>
          <p:nvPr/>
        </p:nvSpPr>
        <p:spPr>
          <a:xfrm>
            <a:off x="8503920" y="3136392"/>
            <a:ext cx="502920" cy="502920"/>
          </a:xfrm>
          <a:prstGeom prst="ellipse">
            <a:avLst/>
          </a:prstGeom>
          <a:solidFill>
            <a:srgbClr val="241C16"/>
          </a:solidFill>
          <a:ln w="15875">
            <a:solidFill>
              <a:srgbClr val="6CC7B8"/>
            </a:solidFill>
            <a:prstDash val="solid"/>
          </a:ln>
        </p:spPr>
      </p:sp>
      <p:pic>
        <p:nvPicPr>
          <p:cNvPr id="33" name="Image 2" descr="preencoded.png">    </p:cNvPr>
          <p:cNvPicPr>
            <a:picLocks noChangeAspect="1"/>
          </p:cNvPicPr>
          <p:nvPr/>
        </p:nvPicPr>
        <p:blipFill>
          <a:blip r:embed="rId3"/>
          <a:stretch>
            <a:fillRect/>
          </a:stretch>
        </p:blipFill>
        <p:spPr>
          <a:xfrm>
            <a:off x="8629650" y="3262122"/>
            <a:ext cx="251460" cy="251460"/>
          </a:xfrm>
          <a:prstGeom prst="rect">
            <a:avLst/>
          </a:prstGeom>
        </p:spPr>
      </p:pic>
      <p:sp>
        <p:nvSpPr>
          <p:cNvPr id="34" name="Text 29"/>
          <p:cNvSpPr txBox="1"/>
          <p:nvPr/>
        </p:nvSpPr>
        <p:spPr>
          <a:xfrm>
            <a:off x="9144000" y="3246120"/>
            <a:ext cx="2468880" cy="320040"/>
          </a:xfrm>
          <a:prstGeom prst="rect">
            <a:avLst/>
          </a:prstGeom>
          <a:noFill/>
          <a:ln/>
        </p:spPr>
        <p:txBody>
          <a:bodyPr wrap="square" lIns="0" tIns="0" rIns="0" bIns="0" rtlCol="0" anchor="t"/>
          <a:lstStyle/>
          <a:p>
            <a:pPr indent="0" marL="0">
              <a:buNone/>
            </a:pPr>
            <a:r>
              <a:rPr lang="en-US" sz="1500" dirty="0">
                <a:solidFill>
                  <a:srgbClr val="EFE4D2"/>
                </a:solidFill>
                <a:latin typeface="Calibri" pitchFamily="34" charset="0"/>
                <a:ea typeface="Calibri" pitchFamily="34" charset="-122"/>
                <a:cs typeface="Calibri" pitchFamily="34" charset="-120"/>
              </a:rPr>
              <a:t>Which doctor</a:t>
            </a:r>
            <a:endParaRPr lang="en-US" sz="1500" dirty="0"/>
          </a:p>
        </p:txBody>
      </p:sp>
      <p:sp>
        <p:nvSpPr>
          <p:cNvPr id="35" name="Shape 30"/>
          <p:cNvSpPr/>
          <p:nvPr/>
        </p:nvSpPr>
        <p:spPr>
          <a:xfrm>
            <a:off x="8503920" y="3849624"/>
            <a:ext cx="502920" cy="502920"/>
          </a:xfrm>
          <a:prstGeom prst="ellipse">
            <a:avLst/>
          </a:prstGeom>
          <a:solidFill>
            <a:srgbClr val="241C16"/>
          </a:solidFill>
          <a:ln w="15875">
            <a:solidFill>
              <a:srgbClr val="6CC7B8"/>
            </a:solidFill>
            <a:prstDash val="solid"/>
          </a:ln>
        </p:spPr>
      </p:sp>
      <p:pic>
        <p:nvPicPr>
          <p:cNvPr id="36" name="Image 3" descr="preencoded.png">    </p:cNvPr>
          <p:cNvPicPr>
            <a:picLocks noChangeAspect="1"/>
          </p:cNvPicPr>
          <p:nvPr/>
        </p:nvPicPr>
        <p:blipFill>
          <a:blip r:embed="rId4"/>
          <a:stretch>
            <a:fillRect/>
          </a:stretch>
        </p:blipFill>
        <p:spPr>
          <a:xfrm>
            <a:off x="8629650" y="3975354"/>
            <a:ext cx="251460" cy="251460"/>
          </a:xfrm>
          <a:prstGeom prst="rect">
            <a:avLst/>
          </a:prstGeom>
        </p:spPr>
      </p:pic>
      <p:sp>
        <p:nvSpPr>
          <p:cNvPr id="37" name="Text 31"/>
          <p:cNvSpPr txBox="1"/>
          <p:nvPr/>
        </p:nvSpPr>
        <p:spPr>
          <a:xfrm>
            <a:off x="9144000" y="3959352"/>
            <a:ext cx="2468880" cy="320040"/>
          </a:xfrm>
          <a:prstGeom prst="rect">
            <a:avLst/>
          </a:prstGeom>
          <a:noFill/>
          <a:ln/>
        </p:spPr>
        <p:txBody>
          <a:bodyPr wrap="square" lIns="0" tIns="0" rIns="0" bIns="0" rtlCol="0" anchor="t"/>
          <a:lstStyle/>
          <a:p>
            <a:pPr indent="0" marL="0">
              <a:buNone/>
            </a:pPr>
            <a:r>
              <a:rPr lang="en-US" sz="1500" dirty="0">
                <a:solidFill>
                  <a:srgbClr val="EFE4D2"/>
                </a:solidFill>
                <a:latin typeface="Calibri" pitchFamily="34" charset="0"/>
                <a:ea typeface="Calibri" pitchFamily="34" charset="-122"/>
                <a:cs typeface="Calibri" pitchFamily="34" charset="-120"/>
              </a:rPr>
              <a:t>Which room</a:t>
            </a:r>
            <a:endParaRPr lang="en-US" sz="1500" dirty="0"/>
          </a:p>
        </p:txBody>
      </p:sp>
      <p:sp>
        <p:nvSpPr>
          <p:cNvPr id="38" name="Shape 32"/>
          <p:cNvSpPr/>
          <p:nvPr/>
        </p:nvSpPr>
        <p:spPr>
          <a:xfrm>
            <a:off x="8503920" y="4562856"/>
            <a:ext cx="502920" cy="502920"/>
          </a:xfrm>
          <a:prstGeom prst="ellipse">
            <a:avLst/>
          </a:prstGeom>
          <a:solidFill>
            <a:srgbClr val="241C16"/>
          </a:solidFill>
          <a:ln w="15875">
            <a:solidFill>
              <a:srgbClr val="6CC7B8"/>
            </a:solidFill>
            <a:prstDash val="solid"/>
          </a:ln>
        </p:spPr>
      </p:sp>
      <p:pic>
        <p:nvPicPr>
          <p:cNvPr id="39" name="Image 4" descr="preencoded.png">    </p:cNvPr>
          <p:cNvPicPr>
            <a:picLocks noChangeAspect="1"/>
          </p:cNvPicPr>
          <p:nvPr/>
        </p:nvPicPr>
        <p:blipFill>
          <a:blip r:embed="rId5"/>
          <a:stretch>
            <a:fillRect/>
          </a:stretch>
        </p:blipFill>
        <p:spPr>
          <a:xfrm>
            <a:off x="8629650" y="4688586"/>
            <a:ext cx="251460" cy="251460"/>
          </a:xfrm>
          <a:prstGeom prst="rect">
            <a:avLst/>
          </a:prstGeom>
        </p:spPr>
      </p:pic>
      <p:sp>
        <p:nvSpPr>
          <p:cNvPr id="40" name="Text 33"/>
          <p:cNvSpPr txBox="1"/>
          <p:nvPr/>
        </p:nvSpPr>
        <p:spPr>
          <a:xfrm>
            <a:off x="9144000" y="4672584"/>
            <a:ext cx="2468880" cy="320040"/>
          </a:xfrm>
          <a:prstGeom prst="rect">
            <a:avLst/>
          </a:prstGeom>
          <a:noFill/>
          <a:ln/>
        </p:spPr>
        <p:txBody>
          <a:bodyPr wrap="square" lIns="0" tIns="0" rIns="0" bIns="0" rtlCol="0" anchor="t"/>
          <a:lstStyle/>
          <a:p>
            <a:pPr indent="0" marL="0">
              <a:buNone/>
            </a:pPr>
            <a:r>
              <a:rPr lang="en-US" sz="1500" dirty="0">
                <a:solidFill>
                  <a:srgbClr val="EFE4D2"/>
                </a:solidFill>
                <a:latin typeface="Calibri" pitchFamily="34" charset="0"/>
                <a:ea typeface="Calibri" pitchFamily="34" charset="-122"/>
                <a:cs typeface="Calibri" pitchFamily="34" charset="-120"/>
              </a:rPr>
              <a:t>Wait time sent to phone</a:t>
            </a:r>
            <a:endParaRPr lang="en-US" sz="1500" dirty="0"/>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A08"/>
        </a:solidFill>
      </p:bgPr>
    </p:bg>
    <p:spTree>
      <p:nvGrpSpPr>
        <p:cNvPr id="1" name=""/>
        <p:cNvGrpSpPr/>
        <p:nvPr/>
      </p:nvGrpSpPr>
      <p:grpSpPr>
        <a:xfrm>
          <a:off x="0" y="0"/>
          <a:ext cx="0" cy="0"/>
          <a:chOff x="0" y="0"/>
          <a:chExt cx="0" cy="0"/>
        </a:xfrm>
      </p:grpSpPr>
      <p:pic>
        <p:nvPicPr>
          <p:cNvPr id="2" name="Image 0" descr="bg/red.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10</a:t>
            </a:r>
            <a:endParaRPr lang="en-US" sz="900" dirty="0"/>
          </a:p>
        </p:txBody>
      </p:sp>
      <p:sp>
        <p:nvSpPr>
          <p:cNvPr id="4" name="Text 1"/>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SAFETY RAIL</a:t>
            </a:r>
            <a:endParaRPr lang="en-US" sz="1200" dirty="0"/>
          </a:p>
        </p:txBody>
      </p:sp>
      <p:sp>
        <p:nvSpPr>
          <p:cNvPr id="5" name="Text 2"/>
          <p:cNvSpPr txBox="1"/>
          <p:nvPr/>
        </p:nvSpPr>
        <p:spPr>
          <a:xfrm>
            <a:off x="640080" y="868680"/>
            <a:ext cx="10515600" cy="91440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AI decides, but </a:t>
            </a:r>
            <a:pPr indent="0" marL="0">
              <a:buNone/>
            </a:pPr>
            <a:r>
              <a:rPr lang="en-US" sz="3800" b="1" i="1" dirty="0">
                <a:solidFill>
                  <a:srgbClr val="F2CD83"/>
                </a:solidFill>
                <a:latin typeface="Cambria" pitchFamily="34" charset="0"/>
                <a:ea typeface="Cambria" pitchFamily="34" charset="-122"/>
                <a:cs typeface="Cambria" pitchFamily="34" charset="-120"/>
              </a:rPr>
              <a:t>never alone</a:t>
            </a:r>
            <a:endParaRPr lang="en-US" sz="3800" dirty="0"/>
          </a:p>
        </p:txBody>
      </p:sp>
      <p:sp>
        <p:nvSpPr>
          <p:cNvPr id="6" name="Shape 3"/>
          <p:cNvSpPr/>
          <p:nvPr/>
        </p:nvSpPr>
        <p:spPr>
          <a:xfrm>
            <a:off x="822960" y="2377440"/>
            <a:ext cx="3474720" cy="2194560"/>
          </a:xfrm>
          <a:prstGeom prst="diamond">
            <a:avLst/>
          </a:prstGeom>
          <a:solidFill>
            <a:srgbClr val="2A2016"/>
          </a:solidFill>
          <a:ln w="19050">
            <a:solidFill>
              <a:srgbClr val="F2CD83"/>
            </a:solidFill>
            <a:prstDash val="solid"/>
          </a:ln>
        </p:spPr>
      </p:sp>
      <p:sp>
        <p:nvSpPr>
          <p:cNvPr id="7" name="Text 4"/>
          <p:cNvSpPr txBox="1"/>
          <p:nvPr/>
        </p:nvSpPr>
        <p:spPr>
          <a:xfrm>
            <a:off x="1463040" y="3017520"/>
            <a:ext cx="2194560" cy="914400"/>
          </a:xfrm>
          <a:prstGeom prst="rect">
            <a:avLst/>
          </a:prstGeom>
          <a:noFill/>
          <a:ln/>
        </p:spPr>
        <p:txBody>
          <a:bodyPr wrap="square" lIns="0" tIns="0" rIns="0" bIns="0" rtlCol="0" anchor="ctr"/>
          <a:lstStyle/>
          <a:p>
            <a:pPr algn="ctr" indent="0" marL="0">
              <a:buNone/>
            </a:pPr>
            <a:r>
              <a:rPr lang="en-US" sz="1700" b="1" dirty="0">
                <a:solidFill>
                  <a:srgbClr val="EFE4D2"/>
                </a:solidFill>
                <a:latin typeface="Cambria" pitchFamily="34" charset="0"/>
                <a:ea typeface="Cambria" pitchFamily="34" charset="-122"/>
                <a:cs typeface="Cambria" pitchFamily="34" charset="-120"/>
              </a:rPr>
              <a:t>Emergency, or is the AI not sure?</a:t>
            </a:r>
            <a:endParaRPr lang="en-US" sz="1700" dirty="0"/>
          </a:p>
        </p:txBody>
      </p:sp>
      <p:sp>
        <p:nvSpPr>
          <p:cNvPr id="8" name="Shape 5"/>
          <p:cNvSpPr/>
          <p:nvPr/>
        </p:nvSpPr>
        <p:spPr>
          <a:xfrm>
            <a:off x="4297680" y="3474720"/>
            <a:ext cx="914400" cy="0"/>
          </a:xfrm>
          <a:prstGeom prst="line">
            <a:avLst/>
          </a:prstGeom>
          <a:noFill/>
          <a:ln w="25400">
            <a:solidFill>
              <a:srgbClr val="E48475"/>
            </a:solidFill>
            <a:prstDash val="solid"/>
            <a:tailEnd type="triangle"/>
          </a:ln>
        </p:spPr>
      </p:sp>
      <p:sp>
        <p:nvSpPr>
          <p:cNvPr id="9" name="Text 6"/>
          <p:cNvSpPr txBox="1"/>
          <p:nvPr/>
        </p:nvSpPr>
        <p:spPr>
          <a:xfrm>
            <a:off x="4434840" y="3108960"/>
            <a:ext cx="731520" cy="274320"/>
          </a:xfrm>
          <a:prstGeom prst="rect">
            <a:avLst/>
          </a:prstGeom>
          <a:noFill/>
          <a:ln/>
        </p:spPr>
        <p:txBody>
          <a:bodyPr wrap="square" lIns="0" tIns="0" rIns="0" bIns="0" rtlCol="0" anchor="t"/>
          <a:lstStyle/>
          <a:p>
            <a:pPr indent="0" marL="0">
              <a:buNone/>
            </a:pPr>
            <a:r>
              <a:rPr lang="en-US" sz="1200" b="1" dirty="0">
                <a:solidFill>
                  <a:srgbClr val="E48475"/>
                </a:solidFill>
                <a:latin typeface="Calibri" pitchFamily="34" charset="0"/>
                <a:ea typeface="Calibri" pitchFamily="34" charset="-122"/>
                <a:cs typeface="Calibri" pitchFamily="34" charset="-120"/>
              </a:rPr>
              <a:t>YES</a:t>
            </a:r>
            <a:endParaRPr lang="en-US" sz="1200" dirty="0"/>
          </a:p>
        </p:txBody>
      </p:sp>
      <p:sp>
        <p:nvSpPr>
          <p:cNvPr id="10" name="Shape 7"/>
          <p:cNvSpPr/>
          <p:nvPr/>
        </p:nvSpPr>
        <p:spPr>
          <a:xfrm>
            <a:off x="5303520" y="2697480"/>
            <a:ext cx="2743200" cy="1554480"/>
          </a:xfrm>
          <a:prstGeom prst="roundRect">
            <a:avLst>
              <a:gd name="adj" fmla="val 7059"/>
            </a:avLst>
          </a:prstGeom>
          <a:solidFill>
            <a:srgbClr val="2C1714"/>
          </a:solidFill>
          <a:ln w="12700">
            <a:solidFill>
              <a:srgbClr val="E48475"/>
            </a:solidFill>
            <a:prstDash val="solid"/>
          </a:ln>
        </p:spPr>
      </p:sp>
      <p:pic>
        <p:nvPicPr>
          <p:cNvPr id="11" name="Image 1" descr="preencoded.png">    </p:cNvPr>
          <p:cNvPicPr>
            <a:picLocks noChangeAspect="1"/>
          </p:cNvPicPr>
          <p:nvPr/>
        </p:nvPicPr>
        <p:blipFill>
          <a:blip r:embed="rId2"/>
          <a:stretch>
            <a:fillRect/>
          </a:stretch>
        </p:blipFill>
        <p:spPr>
          <a:xfrm>
            <a:off x="5532120" y="2880360"/>
            <a:ext cx="411480" cy="411480"/>
          </a:xfrm>
          <a:prstGeom prst="rect">
            <a:avLst/>
          </a:prstGeom>
        </p:spPr>
      </p:pic>
      <p:sp>
        <p:nvSpPr>
          <p:cNvPr id="12" name="Text 8"/>
          <p:cNvSpPr txBox="1"/>
          <p:nvPr/>
        </p:nvSpPr>
        <p:spPr>
          <a:xfrm>
            <a:off x="5532120" y="3383280"/>
            <a:ext cx="2377440" cy="7315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A nurse or doctor takes over instantly</a:t>
            </a:r>
            <a:endParaRPr lang="en-US" sz="1500" dirty="0"/>
          </a:p>
        </p:txBody>
      </p:sp>
      <p:sp>
        <p:nvSpPr>
          <p:cNvPr id="13" name="Shape 9"/>
          <p:cNvSpPr/>
          <p:nvPr/>
        </p:nvSpPr>
        <p:spPr>
          <a:xfrm>
            <a:off x="2560320" y="4572000"/>
            <a:ext cx="0" cy="685800"/>
          </a:xfrm>
          <a:prstGeom prst="line">
            <a:avLst/>
          </a:prstGeom>
          <a:noFill/>
          <a:ln w="25400">
            <a:solidFill>
              <a:srgbClr val="6CC7B8"/>
            </a:solidFill>
            <a:prstDash val="solid"/>
            <a:tailEnd type="triangle"/>
          </a:ln>
        </p:spPr>
      </p:sp>
      <p:sp>
        <p:nvSpPr>
          <p:cNvPr id="14" name="Text 10"/>
          <p:cNvSpPr txBox="1"/>
          <p:nvPr/>
        </p:nvSpPr>
        <p:spPr>
          <a:xfrm>
            <a:off x="2697480" y="4709160"/>
            <a:ext cx="548640" cy="274320"/>
          </a:xfrm>
          <a:prstGeom prst="rect">
            <a:avLst/>
          </a:prstGeom>
          <a:noFill/>
          <a:ln/>
        </p:spPr>
        <p:txBody>
          <a:bodyPr wrap="square" lIns="0" tIns="0" rIns="0" bIns="0" rtlCol="0" anchor="t"/>
          <a:lstStyle/>
          <a:p>
            <a:pPr indent="0" marL="0">
              <a:buNone/>
            </a:pPr>
            <a:r>
              <a:rPr lang="en-US" sz="1200" b="1" dirty="0">
                <a:solidFill>
                  <a:srgbClr val="6CC7B8"/>
                </a:solidFill>
                <a:latin typeface="Calibri" pitchFamily="34" charset="0"/>
                <a:ea typeface="Calibri" pitchFamily="34" charset="-122"/>
                <a:cs typeface="Calibri" pitchFamily="34" charset="-120"/>
              </a:rPr>
              <a:t>NO</a:t>
            </a:r>
            <a:endParaRPr lang="en-US" sz="1200" dirty="0"/>
          </a:p>
        </p:txBody>
      </p:sp>
      <p:sp>
        <p:nvSpPr>
          <p:cNvPr id="15" name="Shape 11"/>
          <p:cNvSpPr/>
          <p:nvPr/>
        </p:nvSpPr>
        <p:spPr>
          <a:xfrm>
            <a:off x="1097280" y="5303520"/>
            <a:ext cx="2926080" cy="640080"/>
          </a:xfrm>
          <a:prstGeom prst="roundRect">
            <a:avLst>
              <a:gd name="adj" fmla="val 17143"/>
            </a:avLst>
          </a:prstGeom>
          <a:solidFill>
            <a:srgbClr val="1A1410"/>
          </a:solidFill>
          <a:ln w="12700">
            <a:solidFill>
              <a:srgbClr val="6CC7B8"/>
            </a:solidFill>
            <a:prstDash val="solid"/>
          </a:ln>
        </p:spPr>
      </p:sp>
      <p:sp>
        <p:nvSpPr>
          <p:cNvPr id="16" name="Text 12"/>
          <p:cNvSpPr txBox="1"/>
          <p:nvPr/>
        </p:nvSpPr>
        <p:spPr>
          <a:xfrm>
            <a:off x="1097280" y="5303520"/>
            <a:ext cx="2926080" cy="640080"/>
          </a:xfrm>
          <a:prstGeom prst="rect">
            <a:avLst/>
          </a:prstGeom>
          <a:noFill/>
          <a:ln/>
        </p:spPr>
        <p:txBody>
          <a:bodyPr wrap="square" lIns="0" tIns="0" rIns="0" bIns="0" rtlCol="0" anchor="ctr"/>
          <a:lstStyle/>
          <a:p>
            <a:pPr algn="ctr" indent="0" marL="0">
              <a:buNone/>
            </a:pPr>
            <a:r>
              <a:rPr lang="en-US" sz="1500" b="1" dirty="0">
                <a:solidFill>
                  <a:srgbClr val="EFE4D2"/>
                </a:solidFill>
                <a:latin typeface="Calibri" pitchFamily="34" charset="0"/>
                <a:ea typeface="Calibri" pitchFamily="34" charset="-122"/>
                <a:cs typeface="Calibri" pitchFamily="34" charset="-120"/>
              </a:rPr>
              <a:t>Normal flow continues</a:t>
            </a:r>
            <a:endParaRPr lang="en-US" sz="1500" dirty="0"/>
          </a:p>
        </p:txBody>
      </p:sp>
      <p:sp>
        <p:nvSpPr>
          <p:cNvPr id="17" name="Shape 13"/>
          <p:cNvSpPr/>
          <p:nvPr/>
        </p:nvSpPr>
        <p:spPr>
          <a:xfrm>
            <a:off x="8503920" y="2103120"/>
            <a:ext cx="594360" cy="594360"/>
          </a:xfrm>
          <a:prstGeom prst="ellipse">
            <a:avLst/>
          </a:prstGeom>
          <a:solidFill>
            <a:srgbClr val="241C16"/>
          </a:solidFill>
          <a:ln w="15875">
            <a:solidFill>
              <a:srgbClr val="F2CD83"/>
            </a:solidFill>
            <a:prstDash val="solid"/>
          </a:ln>
        </p:spPr>
      </p:sp>
      <p:pic>
        <p:nvPicPr>
          <p:cNvPr id="18" name="Image 2" descr="preencoded.png">    </p:cNvPr>
          <p:cNvPicPr>
            <a:picLocks noChangeAspect="1"/>
          </p:cNvPicPr>
          <p:nvPr/>
        </p:nvPicPr>
        <p:blipFill>
          <a:blip r:embed="rId3"/>
          <a:stretch>
            <a:fillRect/>
          </a:stretch>
        </p:blipFill>
        <p:spPr>
          <a:xfrm>
            <a:off x="8652510" y="2251710"/>
            <a:ext cx="297180" cy="297180"/>
          </a:xfrm>
          <a:prstGeom prst="rect">
            <a:avLst/>
          </a:prstGeom>
        </p:spPr>
      </p:pic>
      <p:sp>
        <p:nvSpPr>
          <p:cNvPr id="19" name="Text 14"/>
          <p:cNvSpPr txBox="1"/>
          <p:nvPr/>
        </p:nvSpPr>
        <p:spPr>
          <a:xfrm>
            <a:off x="9235440" y="2121408"/>
            <a:ext cx="2377440" cy="320040"/>
          </a:xfrm>
          <a:prstGeom prst="rect">
            <a:avLst/>
          </a:prstGeom>
          <a:noFill/>
          <a:ln/>
        </p:spPr>
        <p:txBody>
          <a:bodyPr wrap="square" lIns="0" tIns="0" rIns="0" bIns="0" rtlCol="0" anchor="t"/>
          <a:lstStyle/>
          <a:p>
            <a:pPr indent="0" marL="0">
              <a:buNone/>
            </a:pPr>
            <a:r>
              <a:rPr lang="en-US" sz="1600" b="1" dirty="0">
                <a:solidFill>
                  <a:srgbClr val="F2CD83"/>
                </a:solidFill>
                <a:latin typeface="Calibri" pitchFamily="34" charset="0"/>
                <a:ea typeface="Calibri" pitchFamily="34" charset="-122"/>
                <a:cs typeface="Calibri" pitchFamily="34" charset="-120"/>
              </a:rPr>
              <a:t>Staff can override</a:t>
            </a:r>
            <a:endParaRPr lang="en-US" sz="1600" dirty="0"/>
          </a:p>
        </p:txBody>
      </p:sp>
      <p:sp>
        <p:nvSpPr>
          <p:cNvPr id="20" name="Text 15"/>
          <p:cNvSpPr txBox="1"/>
          <p:nvPr/>
        </p:nvSpPr>
        <p:spPr>
          <a:xfrm>
            <a:off x="9235440" y="2468880"/>
            <a:ext cx="2377440" cy="777240"/>
          </a:xfrm>
          <a:prstGeom prst="rect">
            <a:avLst/>
          </a:prstGeom>
          <a:noFill/>
          <a:ln/>
        </p:spPr>
        <p:txBody>
          <a:bodyPr wrap="square" lIns="0" tIns="0" rIns="0" bIns="0" rtlCol="0" anchor="t"/>
          <a:lstStyle/>
          <a:p>
            <a:pPr indent="0" marL="0">
              <a:buNone/>
            </a:pPr>
            <a:r>
              <a:rPr lang="en-US" sz="1300" dirty="0">
                <a:solidFill>
                  <a:srgbClr val="A89A86"/>
                </a:solidFill>
                <a:latin typeface="Calibri" pitchFamily="34" charset="0"/>
                <a:ea typeface="Calibri" pitchFamily="34" charset="-122"/>
                <a:cs typeface="Calibri" pitchFamily="34" charset="-120"/>
              </a:rPr>
              <a:t>Any nurse or doctor can change the AI’s decision at any time.</a:t>
            </a:r>
            <a:endParaRPr lang="en-US" sz="1300" dirty="0"/>
          </a:p>
        </p:txBody>
      </p:sp>
      <p:sp>
        <p:nvSpPr>
          <p:cNvPr id="21" name="Shape 16"/>
          <p:cNvSpPr/>
          <p:nvPr/>
        </p:nvSpPr>
        <p:spPr>
          <a:xfrm>
            <a:off x="8503920" y="3429000"/>
            <a:ext cx="594360" cy="594360"/>
          </a:xfrm>
          <a:prstGeom prst="ellipse">
            <a:avLst/>
          </a:prstGeom>
          <a:solidFill>
            <a:srgbClr val="241C16"/>
          </a:solidFill>
          <a:ln w="15875">
            <a:solidFill>
              <a:srgbClr val="F2CD83"/>
            </a:solidFill>
            <a:prstDash val="solid"/>
          </a:ln>
        </p:spPr>
      </p:sp>
      <p:pic>
        <p:nvPicPr>
          <p:cNvPr id="22" name="Image 3" descr="preencoded.png">    </p:cNvPr>
          <p:cNvPicPr>
            <a:picLocks noChangeAspect="1"/>
          </p:cNvPicPr>
          <p:nvPr/>
        </p:nvPicPr>
        <p:blipFill>
          <a:blip r:embed="rId4"/>
          <a:stretch>
            <a:fillRect/>
          </a:stretch>
        </p:blipFill>
        <p:spPr>
          <a:xfrm>
            <a:off x="8652510" y="3577590"/>
            <a:ext cx="297180" cy="297180"/>
          </a:xfrm>
          <a:prstGeom prst="rect">
            <a:avLst/>
          </a:prstGeom>
        </p:spPr>
      </p:pic>
      <p:sp>
        <p:nvSpPr>
          <p:cNvPr id="23" name="Text 17"/>
          <p:cNvSpPr txBox="1"/>
          <p:nvPr/>
        </p:nvSpPr>
        <p:spPr>
          <a:xfrm>
            <a:off x="9235440" y="3447288"/>
            <a:ext cx="2377440" cy="320040"/>
          </a:xfrm>
          <a:prstGeom prst="rect">
            <a:avLst/>
          </a:prstGeom>
          <a:noFill/>
          <a:ln/>
        </p:spPr>
        <p:txBody>
          <a:bodyPr wrap="square" lIns="0" tIns="0" rIns="0" bIns="0" rtlCol="0" anchor="t"/>
          <a:lstStyle/>
          <a:p>
            <a:pPr indent="0" marL="0">
              <a:buNone/>
            </a:pPr>
            <a:r>
              <a:rPr lang="en-US" sz="1600" b="1" dirty="0">
                <a:solidFill>
                  <a:srgbClr val="F2CD83"/>
                </a:solidFill>
                <a:latin typeface="Calibri" pitchFamily="34" charset="0"/>
                <a:ea typeface="Calibri" pitchFamily="34" charset="-122"/>
                <a:cs typeface="Calibri" pitchFamily="34" charset="-120"/>
              </a:rPr>
              <a:t>Priority keeps updating</a:t>
            </a:r>
            <a:endParaRPr lang="en-US" sz="1600" dirty="0"/>
          </a:p>
        </p:txBody>
      </p:sp>
      <p:sp>
        <p:nvSpPr>
          <p:cNvPr id="24" name="Text 18"/>
          <p:cNvSpPr txBox="1"/>
          <p:nvPr/>
        </p:nvSpPr>
        <p:spPr>
          <a:xfrm>
            <a:off x="9235440" y="3794760"/>
            <a:ext cx="2377440" cy="777240"/>
          </a:xfrm>
          <a:prstGeom prst="rect">
            <a:avLst/>
          </a:prstGeom>
          <a:noFill/>
          <a:ln/>
        </p:spPr>
        <p:txBody>
          <a:bodyPr wrap="square" lIns="0" tIns="0" rIns="0" bIns="0" rtlCol="0" anchor="t"/>
          <a:lstStyle/>
          <a:p>
            <a:pPr indent="0" marL="0">
              <a:buNone/>
            </a:pPr>
            <a:r>
              <a:rPr lang="en-US" sz="1300" dirty="0">
                <a:solidFill>
                  <a:srgbClr val="A89A86"/>
                </a:solidFill>
                <a:latin typeface="Calibri" pitchFamily="34" charset="0"/>
                <a:ea typeface="Calibri" pitchFamily="34" charset="-122"/>
                <a:cs typeface="Calibri" pitchFamily="34" charset="-120"/>
              </a:rPr>
              <a:t>If symptoms get worse while waiting, the AI moves the patient up.</a:t>
            </a:r>
            <a:endParaRPr lang="en-US" sz="1300" dirty="0"/>
          </a:p>
        </p:txBody>
      </p:sp>
      <p:sp>
        <p:nvSpPr>
          <p:cNvPr id="25" name="Shape 19"/>
          <p:cNvSpPr/>
          <p:nvPr/>
        </p:nvSpPr>
        <p:spPr>
          <a:xfrm>
            <a:off x="8503920" y="4754880"/>
            <a:ext cx="594360" cy="594360"/>
          </a:xfrm>
          <a:prstGeom prst="ellipse">
            <a:avLst/>
          </a:prstGeom>
          <a:solidFill>
            <a:srgbClr val="241C16"/>
          </a:solidFill>
          <a:ln w="15875">
            <a:solidFill>
              <a:srgbClr val="F2CD83"/>
            </a:solidFill>
            <a:prstDash val="solid"/>
          </a:ln>
        </p:spPr>
      </p:sp>
      <p:pic>
        <p:nvPicPr>
          <p:cNvPr id="26" name="Image 4" descr="preencoded.png">    </p:cNvPr>
          <p:cNvPicPr>
            <a:picLocks noChangeAspect="1"/>
          </p:cNvPicPr>
          <p:nvPr/>
        </p:nvPicPr>
        <p:blipFill>
          <a:blip r:embed="rId5"/>
          <a:stretch>
            <a:fillRect/>
          </a:stretch>
        </p:blipFill>
        <p:spPr>
          <a:xfrm>
            <a:off x="8652510" y="4903470"/>
            <a:ext cx="297180" cy="297180"/>
          </a:xfrm>
          <a:prstGeom prst="rect">
            <a:avLst/>
          </a:prstGeom>
        </p:spPr>
      </p:pic>
      <p:sp>
        <p:nvSpPr>
          <p:cNvPr id="27" name="Text 20"/>
          <p:cNvSpPr txBox="1"/>
          <p:nvPr/>
        </p:nvSpPr>
        <p:spPr>
          <a:xfrm>
            <a:off x="9235440" y="4773168"/>
            <a:ext cx="2377440" cy="320040"/>
          </a:xfrm>
          <a:prstGeom prst="rect">
            <a:avLst/>
          </a:prstGeom>
          <a:noFill/>
          <a:ln/>
        </p:spPr>
        <p:txBody>
          <a:bodyPr wrap="square" lIns="0" tIns="0" rIns="0" bIns="0" rtlCol="0" anchor="t"/>
          <a:lstStyle/>
          <a:p>
            <a:pPr indent="0" marL="0">
              <a:buNone/>
            </a:pPr>
            <a:r>
              <a:rPr lang="en-US" sz="1600" b="1" dirty="0">
                <a:solidFill>
                  <a:srgbClr val="F2CD83"/>
                </a:solidFill>
                <a:latin typeface="Calibri" pitchFamily="34" charset="0"/>
                <a:ea typeface="Calibri" pitchFamily="34" charset="-122"/>
                <a:cs typeface="Calibri" pitchFamily="34" charset="-120"/>
              </a:rPr>
              <a:t>Checked every month</a:t>
            </a:r>
            <a:endParaRPr lang="en-US" sz="1600" dirty="0"/>
          </a:p>
        </p:txBody>
      </p:sp>
      <p:sp>
        <p:nvSpPr>
          <p:cNvPr id="28" name="Text 21"/>
          <p:cNvSpPr txBox="1"/>
          <p:nvPr/>
        </p:nvSpPr>
        <p:spPr>
          <a:xfrm>
            <a:off x="9235440" y="5120640"/>
            <a:ext cx="2377440" cy="777240"/>
          </a:xfrm>
          <a:prstGeom prst="rect">
            <a:avLst/>
          </a:prstGeom>
          <a:noFill/>
          <a:ln/>
        </p:spPr>
        <p:txBody>
          <a:bodyPr wrap="square" lIns="0" tIns="0" rIns="0" bIns="0" rtlCol="0" anchor="t"/>
          <a:lstStyle/>
          <a:p>
            <a:pPr indent="0" marL="0">
              <a:buNone/>
            </a:pPr>
            <a:r>
              <a:rPr lang="en-US" sz="1300" dirty="0">
                <a:solidFill>
                  <a:srgbClr val="A89A86"/>
                </a:solidFill>
                <a:latin typeface="Calibri" pitchFamily="34" charset="0"/>
                <a:ea typeface="Calibri" pitchFamily="34" charset="-122"/>
                <a:cs typeface="Calibri" pitchFamily="34" charset="-120"/>
              </a:rPr>
              <a:t>Wrong decisions are reviewed so the AI gets better.</a:t>
            </a:r>
            <a:endParaRPr lang="en-US" sz="1300" dirty="0"/>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A08"/>
        </a:solidFill>
      </p:bgPr>
    </p:bg>
    <p:spTree>
      <p:nvGrpSpPr>
        <p:cNvPr id="1" name=""/>
        <p:cNvGrpSpPr/>
        <p:nvPr/>
      </p:nvGrpSpPr>
      <p:grpSpPr>
        <a:xfrm>
          <a:off x="0" y="0"/>
          <a:ext cx="0" cy="0"/>
          <a:chOff x="0" y="0"/>
          <a:chExt cx="0" cy="0"/>
        </a:xfrm>
      </p:grpSpPr>
      <p:pic>
        <p:nvPicPr>
          <p:cNvPr id="2" name="Image 0" descr="bg/t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11</a:t>
            </a:r>
            <a:endParaRPr lang="en-US" sz="900" dirty="0"/>
          </a:p>
        </p:txBody>
      </p:sp>
      <p:sp>
        <p:nvSpPr>
          <p:cNvPr id="4" name="Text 1"/>
          <p:cNvSpPr txBox="1"/>
          <p:nvPr/>
        </p:nvSpPr>
        <p:spPr>
          <a:xfrm>
            <a:off x="7863840" y="3017520"/>
            <a:ext cx="4114800" cy="3840480"/>
          </a:xfrm>
          <a:prstGeom prst="rect">
            <a:avLst/>
          </a:prstGeom>
          <a:noFill/>
          <a:ln/>
        </p:spPr>
        <p:txBody>
          <a:bodyPr wrap="square" lIns="0" tIns="0" rIns="0" bIns="0" rtlCol="0" anchor="t"/>
          <a:lstStyle/>
          <a:p>
            <a:pPr algn="r" indent="0" marL="0">
              <a:buNone/>
            </a:pPr>
            <a:r>
              <a:rPr lang="en-US" sz="25000" b="1" i="1" dirty="0">
                <a:solidFill>
                  <a:srgbClr val="1C1611"/>
                </a:solidFill>
                <a:latin typeface="Cambria" pitchFamily="34" charset="0"/>
                <a:ea typeface="Cambria" pitchFamily="34" charset="-122"/>
                <a:cs typeface="Cambria" pitchFamily="34" charset="-120"/>
              </a:rPr>
              <a:t>5</a:t>
            </a:r>
            <a:endParaRPr lang="en-US" sz="25000" dirty="0"/>
          </a:p>
        </p:txBody>
      </p:sp>
      <p:sp>
        <p:nvSpPr>
          <p:cNvPr id="5" name="Text 2"/>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STEP 5  ·  THE BIGGEST TIME SAVER</a:t>
            </a:r>
            <a:endParaRPr lang="en-US" sz="1200" dirty="0"/>
          </a:p>
        </p:txBody>
      </p:sp>
      <p:sp>
        <p:nvSpPr>
          <p:cNvPr id="6" name="Text 3"/>
          <p:cNvSpPr txBox="1"/>
          <p:nvPr/>
        </p:nvSpPr>
        <p:spPr>
          <a:xfrm>
            <a:off x="640080" y="868680"/>
            <a:ext cx="10515600" cy="91440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Do things </a:t>
            </a:r>
            <a:pPr indent="0" marL="0">
              <a:buNone/>
            </a:pPr>
            <a:r>
              <a:rPr lang="en-US" sz="3800" b="1" i="1" dirty="0">
                <a:solidFill>
                  <a:srgbClr val="F2CD83"/>
                </a:solidFill>
                <a:latin typeface="Cambria" pitchFamily="34" charset="0"/>
                <a:ea typeface="Cambria" pitchFamily="34" charset="-122"/>
                <a:cs typeface="Cambria" pitchFamily="34" charset="-120"/>
              </a:rPr>
              <a:t>together</a:t>
            </a:r>
            <a:pPr indent="0" marL="0">
              <a:buNone/>
            </a:pPr>
            <a:r>
              <a:rPr lang="en-US" sz="3800" b="1" dirty="0">
                <a:solidFill>
                  <a:srgbClr val="EFE4D2"/>
                </a:solidFill>
                <a:latin typeface="Cambria" pitchFamily="34" charset="0"/>
                <a:ea typeface="Cambria" pitchFamily="34" charset="-122"/>
                <a:cs typeface="Cambria" pitchFamily="34" charset="-120"/>
              </a:rPr>
              <a:t>, not one by one</a:t>
            </a:r>
            <a:endParaRPr lang="en-US" sz="3800" dirty="0"/>
          </a:p>
        </p:txBody>
      </p:sp>
      <p:sp>
        <p:nvSpPr>
          <p:cNvPr id="7" name="Text 4"/>
          <p:cNvSpPr txBox="1"/>
          <p:nvPr/>
        </p:nvSpPr>
        <p:spPr>
          <a:xfrm>
            <a:off x="640080" y="2148840"/>
            <a:ext cx="1463040" cy="274320"/>
          </a:xfrm>
          <a:prstGeom prst="rect">
            <a:avLst/>
          </a:prstGeom>
          <a:noFill/>
          <a:ln/>
        </p:spPr>
        <p:txBody>
          <a:bodyPr wrap="square" lIns="0" tIns="0" rIns="0" bIns="0" rtlCol="0" anchor="t"/>
          <a:lstStyle/>
          <a:p>
            <a:pPr indent="0" marL="0">
              <a:buNone/>
            </a:pPr>
            <a:r>
              <a:rPr lang="en-US" sz="1200" b="1" spc="300" kern="0" dirty="0">
                <a:solidFill>
                  <a:srgbClr val="A89A86"/>
                </a:solidFill>
                <a:latin typeface="Calibri" pitchFamily="34" charset="0"/>
                <a:ea typeface="Calibri" pitchFamily="34" charset="-122"/>
                <a:cs typeface="Calibri" pitchFamily="34" charset="-120"/>
              </a:rPr>
              <a:t>OLD WAY</a:t>
            </a:r>
            <a:endParaRPr lang="en-US" sz="1200" dirty="0"/>
          </a:p>
        </p:txBody>
      </p:sp>
      <p:sp>
        <p:nvSpPr>
          <p:cNvPr id="8" name="Shape 5"/>
          <p:cNvSpPr/>
          <p:nvPr/>
        </p:nvSpPr>
        <p:spPr>
          <a:xfrm>
            <a:off x="2194560" y="2103120"/>
            <a:ext cx="3011424" cy="685800"/>
          </a:xfrm>
          <a:prstGeom prst="rect">
            <a:avLst/>
          </a:prstGeom>
          <a:solidFill>
            <a:srgbClr val="4A3E33"/>
          </a:solidFill>
          <a:ln w="12700">
            <a:solidFill>
              <a:srgbClr val="4A3E33"/>
            </a:solidFill>
            <a:prstDash val="solid"/>
          </a:ln>
        </p:spPr>
      </p:sp>
      <p:sp>
        <p:nvSpPr>
          <p:cNvPr id="9" name="Text 6"/>
          <p:cNvSpPr txBox="1"/>
          <p:nvPr/>
        </p:nvSpPr>
        <p:spPr>
          <a:xfrm>
            <a:off x="2194560" y="2103120"/>
            <a:ext cx="3011424" cy="685800"/>
          </a:xfrm>
          <a:prstGeom prst="rect">
            <a:avLst/>
          </a:prstGeom>
          <a:noFill/>
          <a:ln/>
        </p:spPr>
        <p:txBody>
          <a:bodyPr wrap="square" lIns="0" tIns="0" rIns="0" bIns="0" rtlCol="0" anchor="ctr"/>
          <a:lstStyle/>
          <a:p>
            <a:pPr algn="ctr" indent="0" marL="0">
              <a:buNone/>
            </a:pPr>
            <a:r>
              <a:rPr lang="en-US" sz="1100" b="1" dirty="0">
                <a:solidFill>
                  <a:srgbClr val="EFE4D2"/>
                </a:solidFill>
                <a:latin typeface="Calibri" pitchFamily="34" charset="0"/>
                <a:ea typeface="Calibri" pitchFamily="34" charset="-122"/>
                <a:cs typeface="Calibri" pitchFamily="34" charset="-120"/>
              </a:rPr>
              <a:t>Wait for doctor</a:t>
            </a:r>
            <a:endParaRPr lang="en-US" sz="1100" dirty="0"/>
          </a:p>
          <a:p>
            <a:pPr algn="ctr" indent="0" marL="0">
              <a:buNone/>
            </a:pPr>
            <a:r>
              <a:rPr lang="en-US" sz="1100" b="1" dirty="0">
                <a:solidFill>
                  <a:srgbClr val="EFE4D2"/>
                </a:solidFill>
                <a:latin typeface="Calibri" pitchFamily="34" charset="0"/>
                <a:ea typeface="Calibri" pitchFamily="34" charset="-122"/>
                <a:cs typeface="Calibri" pitchFamily="34" charset="-120"/>
              </a:rPr>
              <a:t>40 min</a:t>
            </a:r>
            <a:endParaRPr lang="en-US" sz="1100" dirty="0"/>
          </a:p>
        </p:txBody>
      </p:sp>
      <p:sp>
        <p:nvSpPr>
          <p:cNvPr id="10" name="Shape 7"/>
          <p:cNvSpPr/>
          <p:nvPr/>
        </p:nvSpPr>
        <p:spPr>
          <a:xfrm>
            <a:off x="5242560" y="2103120"/>
            <a:ext cx="725424" cy="685800"/>
          </a:xfrm>
          <a:prstGeom prst="rect">
            <a:avLst/>
          </a:prstGeom>
          <a:solidFill>
            <a:srgbClr val="C8923C"/>
          </a:solidFill>
          <a:ln w="12700">
            <a:solidFill>
              <a:srgbClr val="C8923C"/>
            </a:solidFill>
            <a:prstDash val="solid"/>
          </a:ln>
        </p:spPr>
      </p:sp>
      <p:sp>
        <p:nvSpPr>
          <p:cNvPr id="11" name="Text 8"/>
          <p:cNvSpPr txBox="1"/>
          <p:nvPr/>
        </p:nvSpPr>
        <p:spPr>
          <a:xfrm>
            <a:off x="5242560" y="2103120"/>
            <a:ext cx="725424" cy="685800"/>
          </a:xfrm>
          <a:prstGeom prst="rect">
            <a:avLst/>
          </a:prstGeom>
          <a:noFill/>
          <a:ln/>
        </p:spPr>
        <p:txBody>
          <a:bodyPr wrap="square" lIns="0" tIns="0" rIns="0" bIns="0" rtlCol="0" anchor="ctr"/>
          <a:lstStyle/>
          <a:p>
            <a:pPr algn="ctr" indent="0" marL="0">
              <a:buNone/>
            </a:pPr>
            <a:r>
              <a:rPr lang="en-US" sz="1100" b="1" dirty="0">
                <a:solidFill>
                  <a:srgbClr val="0D0A08"/>
                </a:solidFill>
                <a:latin typeface="Calibri" pitchFamily="34" charset="0"/>
                <a:ea typeface="Calibri" pitchFamily="34" charset="-122"/>
                <a:cs typeface="Calibri" pitchFamily="34" charset="-120"/>
              </a:rPr>
              <a:t>Doctor</a:t>
            </a:r>
            <a:endParaRPr lang="en-US" sz="1100" dirty="0"/>
          </a:p>
          <a:p>
            <a:pPr algn="ctr" indent="0" marL="0">
              <a:buNone/>
            </a:pPr>
            <a:r>
              <a:rPr lang="en-US" sz="1100" b="1" dirty="0">
                <a:solidFill>
                  <a:srgbClr val="0D0A08"/>
                </a:solidFill>
                <a:latin typeface="Calibri" pitchFamily="34" charset="0"/>
                <a:ea typeface="Calibri" pitchFamily="34" charset="-122"/>
                <a:cs typeface="Calibri" pitchFamily="34" charset="-120"/>
              </a:rPr>
              <a:t>10 min</a:t>
            </a:r>
            <a:endParaRPr lang="en-US" sz="1100" dirty="0"/>
          </a:p>
        </p:txBody>
      </p:sp>
      <p:sp>
        <p:nvSpPr>
          <p:cNvPr id="12" name="Shape 9"/>
          <p:cNvSpPr/>
          <p:nvPr/>
        </p:nvSpPr>
        <p:spPr>
          <a:xfrm>
            <a:off x="6004560" y="2103120"/>
            <a:ext cx="3392424" cy="685800"/>
          </a:xfrm>
          <a:prstGeom prst="rect">
            <a:avLst/>
          </a:prstGeom>
          <a:solidFill>
            <a:srgbClr val="5A4C3E"/>
          </a:solidFill>
          <a:ln w="12700">
            <a:solidFill>
              <a:srgbClr val="5A4C3E"/>
            </a:solidFill>
            <a:prstDash val="solid"/>
          </a:ln>
        </p:spPr>
      </p:sp>
      <p:sp>
        <p:nvSpPr>
          <p:cNvPr id="13" name="Text 10"/>
          <p:cNvSpPr txBox="1"/>
          <p:nvPr/>
        </p:nvSpPr>
        <p:spPr>
          <a:xfrm>
            <a:off x="6004560" y="2103120"/>
            <a:ext cx="3392424" cy="685800"/>
          </a:xfrm>
          <a:prstGeom prst="rect">
            <a:avLst/>
          </a:prstGeom>
          <a:noFill/>
          <a:ln/>
        </p:spPr>
        <p:txBody>
          <a:bodyPr wrap="square" lIns="0" tIns="0" rIns="0" bIns="0" rtlCol="0" anchor="ctr"/>
          <a:lstStyle/>
          <a:p>
            <a:pPr algn="ctr" indent="0" marL="0">
              <a:buNone/>
            </a:pPr>
            <a:r>
              <a:rPr lang="en-US" sz="1100" b="1" dirty="0">
                <a:solidFill>
                  <a:srgbClr val="EFE4D2"/>
                </a:solidFill>
                <a:latin typeface="Calibri" pitchFamily="34" charset="0"/>
                <a:ea typeface="Calibri" pitchFamily="34" charset="-122"/>
                <a:cs typeface="Calibri" pitchFamily="34" charset="-120"/>
              </a:rPr>
              <a:t>Lab test &amp; result</a:t>
            </a:r>
            <a:endParaRPr lang="en-US" sz="1100" dirty="0"/>
          </a:p>
          <a:p>
            <a:pPr algn="ctr" indent="0" marL="0">
              <a:buNone/>
            </a:pPr>
            <a:r>
              <a:rPr lang="en-US" sz="1100" b="1" dirty="0">
                <a:solidFill>
                  <a:srgbClr val="EFE4D2"/>
                </a:solidFill>
                <a:latin typeface="Calibri" pitchFamily="34" charset="0"/>
                <a:ea typeface="Calibri" pitchFamily="34" charset="-122"/>
                <a:cs typeface="Calibri" pitchFamily="34" charset="-120"/>
              </a:rPr>
              <a:t>45 min</a:t>
            </a:r>
            <a:endParaRPr lang="en-US" sz="1100" dirty="0"/>
          </a:p>
        </p:txBody>
      </p:sp>
      <p:sp>
        <p:nvSpPr>
          <p:cNvPr id="14" name="Shape 11"/>
          <p:cNvSpPr/>
          <p:nvPr/>
        </p:nvSpPr>
        <p:spPr>
          <a:xfrm>
            <a:off x="9433560" y="2103120"/>
            <a:ext cx="1487424" cy="685800"/>
          </a:xfrm>
          <a:prstGeom prst="rect">
            <a:avLst/>
          </a:prstGeom>
          <a:solidFill>
            <a:srgbClr val="4A3E33"/>
          </a:solidFill>
          <a:ln w="12700">
            <a:solidFill>
              <a:srgbClr val="4A3E33"/>
            </a:solidFill>
            <a:prstDash val="solid"/>
          </a:ln>
        </p:spPr>
      </p:sp>
      <p:sp>
        <p:nvSpPr>
          <p:cNvPr id="15" name="Text 12"/>
          <p:cNvSpPr txBox="1"/>
          <p:nvPr/>
        </p:nvSpPr>
        <p:spPr>
          <a:xfrm>
            <a:off x="9433560" y="2103120"/>
            <a:ext cx="1487424" cy="685800"/>
          </a:xfrm>
          <a:prstGeom prst="rect">
            <a:avLst/>
          </a:prstGeom>
          <a:noFill/>
          <a:ln/>
        </p:spPr>
        <p:txBody>
          <a:bodyPr wrap="square" lIns="0" tIns="0" rIns="0" bIns="0" rtlCol="0" anchor="ctr"/>
          <a:lstStyle/>
          <a:p>
            <a:pPr algn="ctr" indent="0" marL="0">
              <a:buNone/>
            </a:pPr>
            <a:r>
              <a:rPr lang="en-US" sz="1100" b="1" dirty="0">
                <a:solidFill>
                  <a:srgbClr val="EFE4D2"/>
                </a:solidFill>
                <a:latin typeface="Calibri" pitchFamily="34" charset="0"/>
                <a:ea typeface="Calibri" pitchFamily="34" charset="-122"/>
                <a:cs typeface="Calibri" pitchFamily="34" charset="-120"/>
              </a:rPr>
              <a:t>Wait again</a:t>
            </a:r>
            <a:endParaRPr lang="en-US" sz="1100" dirty="0"/>
          </a:p>
          <a:p>
            <a:pPr algn="ctr" indent="0" marL="0">
              <a:buNone/>
            </a:pPr>
            <a:r>
              <a:rPr lang="en-US" sz="1100" b="1" dirty="0">
                <a:solidFill>
                  <a:srgbClr val="EFE4D2"/>
                </a:solidFill>
                <a:latin typeface="Calibri" pitchFamily="34" charset="0"/>
                <a:ea typeface="Calibri" pitchFamily="34" charset="-122"/>
                <a:cs typeface="Calibri" pitchFamily="34" charset="-120"/>
              </a:rPr>
              <a:t>20 min</a:t>
            </a:r>
            <a:endParaRPr lang="en-US" sz="1100" dirty="0"/>
          </a:p>
        </p:txBody>
      </p:sp>
      <p:sp>
        <p:nvSpPr>
          <p:cNvPr id="16" name="Shape 13"/>
          <p:cNvSpPr/>
          <p:nvPr/>
        </p:nvSpPr>
        <p:spPr>
          <a:xfrm>
            <a:off x="10957560" y="2103120"/>
            <a:ext cx="344424" cy="685800"/>
          </a:xfrm>
          <a:prstGeom prst="rect">
            <a:avLst/>
          </a:prstGeom>
          <a:solidFill>
            <a:srgbClr val="C8923C"/>
          </a:solidFill>
          <a:ln w="12700">
            <a:solidFill>
              <a:srgbClr val="C8923C"/>
            </a:solidFill>
            <a:prstDash val="solid"/>
          </a:ln>
        </p:spPr>
      </p:sp>
      <p:sp>
        <p:nvSpPr>
          <p:cNvPr id="17" name="Text 14"/>
          <p:cNvSpPr txBox="1"/>
          <p:nvPr/>
        </p:nvSpPr>
        <p:spPr>
          <a:xfrm>
            <a:off x="10957560" y="2103120"/>
            <a:ext cx="344424" cy="685800"/>
          </a:xfrm>
          <a:prstGeom prst="rect">
            <a:avLst/>
          </a:prstGeom>
          <a:noFill/>
          <a:ln/>
        </p:spPr>
        <p:txBody>
          <a:bodyPr wrap="square" lIns="0" tIns="0" rIns="0" bIns="0" rtlCol="0" anchor="ctr"/>
          <a:lstStyle/>
          <a:p>
            <a:pPr algn="ctr" indent="0" marL="0">
              <a:buNone/>
            </a:pPr>
            <a:r>
              <a:rPr lang="en-US" sz="1100" b="1" dirty="0">
                <a:solidFill>
                  <a:srgbClr val="0D0A08"/>
                </a:solidFill>
                <a:latin typeface="Calibri" pitchFamily="34" charset="0"/>
                <a:ea typeface="Calibri" pitchFamily="34" charset="-122"/>
                <a:cs typeface="Calibri" pitchFamily="34" charset="-120"/>
              </a:rPr>
              <a:t>Dr</a:t>
            </a:r>
            <a:endParaRPr lang="en-US" sz="1100" dirty="0"/>
          </a:p>
        </p:txBody>
      </p:sp>
      <p:sp>
        <p:nvSpPr>
          <p:cNvPr id="18" name="Text 15"/>
          <p:cNvSpPr txBox="1"/>
          <p:nvPr/>
        </p:nvSpPr>
        <p:spPr>
          <a:xfrm>
            <a:off x="640080" y="2423160"/>
            <a:ext cx="1463040" cy="365760"/>
          </a:xfrm>
          <a:prstGeom prst="rect">
            <a:avLst/>
          </a:prstGeom>
          <a:noFill/>
          <a:ln/>
        </p:spPr>
        <p:txBody>
          <a:bodyPr wrap="square" lIns="0" tIns="0" rIns="0" bIns="0" rtlCol="0" anchor="t"/>
          <a:lstStyle/>
          <a:p>
            <a:pPr indent="0" marL="0">
              <a:buNone/>
            </a:pPr>
            <a:r>
              <a:rPr lang="en-US" sz="1800" b="1" i="1" dirty="0">
                <a:solidFill>
                  <a:srgbClr val="A89A86"/>
                </a:solidFill>
                <a:latin typeface="Cambria" pitchFamily="34" charset="0"/>
                <a:ea typeface="Cambria" pitchFamily="34" charset="-122"/>
                <a:cs typeface="Cambria" pitchFamily="34" charset="-120"/>
              </a:rPr>
              <a:t>120 min</a:t>
            </a:r>
            <a:endParaRPr lang="en-US" sz="1800" dirty="0"/>
          </a:p>
        </p:txBody>
      </p:sp>
      <p:sp>
        <p:nvSpPr>
          <p:cNvPr id="19" name="Text 16"/>
          <p:cNvSpPr txBox="1"/>
          <p:nvPr/>
        </p:nvSpPr>
        <p:spPr>
          <a:xfrm>
            <a:off x="640080" y="3429000"/>
            <a:ext cx="1463040" cy="274320"/>
          </a:xfrm>
          <a:prstGeom prst="rect">
            <a:avLst/>
          </a:prstGeom>
          <a:noFill/>
          <a:ln/>
        </p:spPr>
        <p:txBody>
          <a:bodyPr wrap="square" lIns="0" tIns="0" rIns="0" bIns="0" rtlCol="0" anchor="t"/>
          <a:lstStyle/>
          <a:p>
            <a:pPr indent="0" marL="0">
              <a:buNone/>
            </a:pPr>
            <a:r>
              <a:rPr lang="en-US" sz="1200" b="1" spc="300" kern="0" dirty="0">
                <a:solidFill>
                  <a:srgbClr val="F2CD83"/>
                </a:solidFill>
                <a:latin typeface="Calibri" pitchFamily="34" charset="0"/>
                <a:ea typeface="Calibri" pitchFamily="34" charset="-122"/>
                <a:cs typeface="Calibri" pitchFamily="34" charset="-120"/>
              </a:rPr>
              <a:t>NEW WAY</a:t>
            </a:r>
            <a:endParaRPr lang="en-US" sz="1200" dirty="0"/>
          </a:p>
        </p:txBody>
      </p:sp>
      <p:sp>
        <p:nvSpPr>
          <p:cNvPr id="20" name="Shape 17"/>
          <p:cNvSpPr/>
          <p:nvPr/>
        </p:nvSpPr>
        <p:spPr>
          <a:xfrm>
            <a:off x="2194560" y="3383280"/>
            <a:ext cx="2249424" cy="548640"/>
          </a:xfrm>
          <a:prstGeom prst="rect">
            <a:avLst/>
          </a:prstGeom>
          <a:solidFill>
            <a:srgbClr val="4A3E33"/>
          </a:solidFill>
          <a:ln w="12700">
            <a:solidFill>
              <a:srgbClr val="4A3E33"/>
            </a:solidFill>
            <a:prstDash val="solid"/>
          </a:ln>
        </p:spPr>
      </p:sp>
      <p:sp>
        <p:nvSpPr>
          <p:cNvPr id="21" name="Text 18"/>
          <p:cNvSpPr txBox="1"/>
          <p:nvPr/>
        </p:nvSpPr>
        <p:spPr>
          <a:xfrm>
            <a:off x="2194560" y="3383280"/>
            <a:ext cx="2249424" cy="548640"/>
          </a:xfrm>
          <a:prstGeom prst="rect">
            <a:avLst/>
          </a:prstGeom>
          <a:noFill/>
          <a:ln/>
        </p:spPr>
        <p:txBody>
          <a:bodyPr wrap="square" lIns="0" tIns="0" rIns="0" bIns="0" rtlCol="0" anchor="ctr"/>
          <a:lstStyle/>
          <a:p>
            <a:pPr algn="ctr" indent="0" marL="0">
              <a:buNone/>
            </a:pPr>
            <a:r>
              <a:rPr lang="en-US" sz="1100" b="1" dirty="0">
                <a:solidFill>
                  <a:srgbClr val="EFE4D2"/>
                </a:solidFill>
                <a:latin typeface="Calibri" pitchFamily="34" charset="0"/>
                <a:ea typeface="Calibri" pitchFamily="34" charset="-122"/>
                <a:cs typeface="Calibri" pitchFamily="34" charset="-120"/>
              </a:rPr>
              <a:t>Patient waits  ·  30 min</a:t>
            </a:r>
            <a:endParaRPr lang="en-US" sz="1100" dirty="0"/>
          </a:p>
        </p:txBody>
      </p:sp>
      <p:sp>
        <p:nvSpPr>
          <p:cNvPr id="22" name="Shape 19"/>
          <p:cNvSpPr/>
          <p:nvPr/>
        </p:nvSpPr>
        <p:spPr>
          <a:xfrm>
            <a:off x="2194560" y="3977640"/>
            <a:ext cx="2249424" cy="548640"/>
          </a:xfrm>
          <a:prstGeom prst="rect">
            <a:avLst/>
          </a:prstGeom>
          <a:solidFill>
            <a:srgbClr val="6CC7B8"/>
          </a:solidFill>
          <a:ln w="12700">
            <a:solidFill>
              <a:srgbClr val="6CC7B8"/>
            </a:solidFill>
            <a:prstDash val="solid"/>
          </a:ln>
        </p:spPr>
      </p:sp>
      <p:sp>
        <p:nvSpPr>
          <p:cNvPr id="23" name="Text 20"/>
          <p:cNvSpPr txBox="1"/>
          <p:nvPr/>
        </p:nvSpPr>
        <p:spPr>
          <a:xfrm>
            <a:off x="2194560" y="3977640"/>
            <a:ext cx="2249424" cy="548640"/>
          </a:xfrm>
          <a:prstGeom prst="rect">
            <a:avLst/>
          </a:prstGeom>
          <a:noFill/>
          <a:ln/>
        </p:spPr>
        <p:txBody>
          <a:bodyPr wrap="square" lIns="0" tIns="0" rIns="0" bIns="0" rtlCol="0" anchor="ctr"/>
          <a:lstStyle/>
          <a:p>
            <a:pPr algn="ctr" indent="0" marL="0">
              <a:buNone/>
            </a:pPr>
            <a:r>
              <a:rPr lang="en-US" sz="1100" b="1" dirty="0">
                <a:solidFill>
                  <a:srgbClr val="0D0A08"/>
                </a:solidFill>
                <a:latin typeface="Calibri" pitchFamily="34" charset="0"/>
                <a:ea typeface="Calibri" pitchFamily="34" charset="-122"/>
                <a:cs typeface="Calibri" pitchFamily="34" charset="-120"/>
              </a:rPr>
              <a:t>Tests run  ·  30 min</a:t>
            </a:r>
            <a:endParaRPr lang="en-US" sz="1100" dirty="0"/>
          </a:p>
        </p:txBody>
      </p:sp>
      <p:sp>
        <p:nvSpPr>
          <p:cNvPr id="24" name="Shape 21"/>
          <p:cNvSpPr/>
          <p:nvPr/>
        </p:nvSpPr>
        <p:spPr>
          <a:xfrm>
            <a:off x="4480560" y="3383280"/>
            <a:ext cx="725424" cy="1143000"/>
          </a:xfrm>
          <a:prstGeom prst="rect">
            <a:avLst/>
          </a:prstGeom>
          <a:solidFill>
            <a:srgbClr val="F2CD83"/>
          </a:solidFill>
          <a:ln w="12700">
            <a:solidFill>
              <a:srgbClr val="F2CD83"/>
            </a:solidFill>
            <a:prstDash val="solid"/>
          </a:ln>
        </p:spPr>
      </p:sp>
      <p:sp>
        <p:nvSpPr>
          <p:cNvPr id="25" name="Text 22"/>
          <p:cNvSpPr txBox="1"/>
          <p:nvPr/>
        </p:nvSpPr>
        <p:spPr>
          <a:xfrm>
            <a:off x="4480560" y="3383280"/>
            <a:ext cx="725424" cy="1143000"/>
          </a:xfrm>
          <a:prstGeom prst="rect">
            <a:avLst/>
          </a:prstGeom>
          <a:noFill/>
          <a:ln/>
        </p:spPr>
        <p:txBody>
          <a:bodyPr wrap="square" lIns="0" tIns="0" rIns="0" bIns="0" rtlCol="0" anchor="ctr"/>
          <a:lstStyle/>
          <a:p>
            <a:pPr algn="ctr" indent="0" marL="0">
              <a:buNone/>
            </a:pPr>
            <a:r>
              <a:rPr lang="en-US" sz="1100" b="1" dirty="0">
                <a:solidFill>
                  <a:srgbClr val="0D0A08"/>
                </a:solidFill>
                <a:latin typeface="Calibri" pitchFamily="34" charset="0"/>
                <a:ea typeface="Calibri" pitchFamily="34" charset="-122"/>
                <a:cs typeface="Calibri" pitchFamily="34" charset="-120"/>
              </a:rPr>
              <a:t>Doctor</a:t>
            </a:r>
            <a:endParaRPr lang="en-US" sz="1100" dirty="0"/>
          </a:p>
          <a:p>
            <a:pPr algn="ctr" indent="0" marL="0">
              <a:buNone/>
            </a:pPr>
            <a:r>
              <a:rPr lang="en-US" sz="1100" b="1" dirty="0">
                <a:solidFill>
                  <a:srgbClr val="0D0A08"/>
                </a:solidFill>
                <a:latin typeface="Calibri" pitchFamily="34" charset="0"/>
                <a:ea typeface="Calibri" pitchFamily="34" charset="-122"/>
                <a:cs typeface="Calibri" pitchFamily="34" charset="-120"/>
              </a:rPr>
              <a:t>10 min</a:t>
            </a:r>
            <a:endParaRPr lang="en-US" sz="1100" dirty="0"/>
          </a:p>
        </p:txBody>
      </p:sp>
      <p:sp>
        <p:nvSpPr>
          <p:cNvPr id="26" name="Text 23"/>
          <p:cNvSpPr txBox="1"/>
          <p:nvPr/>
        </p:nvSpPr>
        <p:spPr>
          <a:xfrm>
            <a:off x="640080" y="3749040"/>
            <a:ext cx="1463040" cy="411480"/>
          </a:xfrm>
          <a:prstGeom prst="rect">
            <a:avLst/>
          </a:prstGeom>
          <a:noFill/>
          <a:ln/>
        </p:spPr>
        <p:txBody>
          <a:bodyPr wrap="square" lIns="0" tIns="0" rIns="0" bIns="0" rtlCol="0" anchor="t"/>
          <a:lstStyle/>
          <a:p>
            <a:pPr indent="0" marL="0">
              <a:buNone/>
            </a:pPr>
            <a:r>
              <a:rPr lang="en-US" sz="2200" b="1" i="1" dirty="0">
                <a:solidFill>
                  <a:srgbClr val="F2CD83"/>
                </a:solidFill>
                <a:latin typeface="Cambria" pitchFamily="34" charset="0"/>
                <a:ea typeface="Cambria" pitchFamily="34" charset="-122"/>
                <a:cs typeface="Cambria" pitchFamily="34" charset="-120"/>
              </a:rPr>
              <a:t>40 min</a:t>
            </a:r>
            <a:endParaRPr lang="en-US" sz="2200" dirty="0"/>
          </a:p>
        </p:txBody>
      </p:sp>
      <p:sp>
        <p:nvSpPr>
          <p:cNvPr id="27" name="Text 24"/>
          <p:cNvSpPr txBox="1"/>
          <p:nvPr/>
        </p:nvSpPr>
        <p:spPr>
          <a:xfrm>
            <a:off x="5608320" y="3520440"/>
            <a:ext cx="5120640" cy="822960"/>
          </a:xfrm>
          <a:prstGeom prst="rect">
            <a:avLst/>
          </a:prstGeom>
          <a:noFill/>
          <a:ln/>
        </p:spPr>
        <p:txBody>
          <a:bodyPr wrap="square" lIns="0" tIns="0" rIns="0" bIns="0" rtlCol="0" anchor="t"/>
          <a:lstStyle/>
          <a:p>
            <a:pPr indent="0" marL="0">
              <a:buNone/>
            </a:pPr>
            <a:r>
              <a:rPr lang="en-US" sz="1700" b="1" dirty="0">
                <a:solidFill>
                  <a:srgbClr val="F2CD83"/>
                </a:solidFill>
                <a:latin typeface="Calibri" pitchFamily="34" charset="0"/>
                <a:ea typeface="Calibri" pitchFamily="34" charset="-122"/>
                <a:cs typeface="Calibri" pitchFamily="34" charset="-120"/>
              </a:rPr>
              <a:t>80 minutes saved</a:t>
            </a:r>
            <a:pPr indent="0" marL="0">
              <a:buNone/>
            </a:pPr>
            <a:r>
              <a:rPr lang="en-US" sz="1700" dirty="0">
                <a:solidFill>
                  <a:srgbClr val="EFE4D2"/>
                </a:solidFill>
                <a:latin typeface="Calibri" pitchFamily="34" charset="0"/>
                <a:ea typeface="Calibri" pitchFamily="34" charset="-122"/>
                <a:cs typeface="Calibri" pitchFamily="34" charset="-120"/>
              </a:rPr>
              <a:t> just by running the test while the patient waits.</a:t>
            </a:r>
            <a:endParaRPr lang="en-US" sz="1700" dirty="0"/>
          </a:p>
        </p:txBody>
      </p:sp>
      <p:sp>
        <p:nvSpPr>
          <p:cNvPr id="28" name="Shape 25"/>
          <p:cNvSpPr/>
          <p:nvPr/>
        </p:nvSpPr>
        <p:spPr>
          <a:xfrm>
            <a:off x="640080" y="4892040"/>
            <a:ext cx="10881360" cy="1097280"/>
          </a:xfrm>
          <a:prstGeom prst="roundRect">
            <a:avLst>
              <a:gd name="adj" fmla="val 10000"/>
            </a:avLst>
          </a:prstGeom>
          <a:solidFill>
            <a:srgbClr val="1A1410"/>
          </a:solidFill>
          <a:ln w="12700">
            <a:solidFill>
              <a:srgbClr val="3A2F26"/>
            </a:solidFill>
            <a:prstDash val="solid"/>
          </a:ln>
        </p:spPr>
      </p:sp>
      <p:sp>
        <p:nvSpPr>
          <p:cNvPr id="29" name="Text 26"/>
          <p:cNvSpPr txBox="1"/>
          <p:nvPr/>
        </p:nvSpPr>
        <p:spPr>
          <a:xfrm>
            <a:off x="914400" y="5029200"/>
            <a:ext cx="10332720" cy="868680"/>
          </a:xfrm>
          <a:prstGeom prst="rect">
            <a:avLst/>
          </a:prstGeom>
          <a:noFill/>
          <a:ln/>
        </p:spPr>
        <p:txBody>
          <a:bodyPr wrap="square" lIns="0" tIns="0" rIns="0" bIns="0" rtlCol="0" anchor="t"/>
          <a:lstStyle/>
          <a:p>
            <a:pPr indent="0" marL="0">
              <a:buNone/>
            </a:pPr>
            <a:r>
              <a:rPr lang="en-US" sz="1500" b="1" dirty="0">
                <a:solidFill>
                  <a:srgbClr val="F2CD83"/>
                </a:solidFill>
                <a:latin typeface="Calibri" pitchFamily="34" charset="0"/>
                <a:ea typeface="Calibri" pitchFamily="34" charset="-122"/>
                <a:cs typeface="Calibri" pitchFamily="34" charset="-120"/>
              </a:rPr>
              <a:t>How it works:  </a:t>
            </a:r>
            <a:pPr indent="0" marL="0">
              <a:buNone/>
            </a:pPr>
            <a:r>
              <a:rPr lang="en-US" sz="1500" dirty="0">
                <a:solidFill>
                  <a:srgbClr val="EFE4D2"/>
                </a:solidFill>
                <a:latin typeface="Calibri" pitchFamily="34" charset="0"/>
                <a:ea typeface="Calibri" pitchFamily="34" charset="-122"/>
                <a:cs typeface="Calibri" pitchFamily="34" charset="-120"/>
              </a:rPr>
              <a:t>For standard cases the hospital has already approved (for example, an ECG for chest pain), the test starts right after triage. When the doctor walks in, the results are already on the screen. One visit instead of two.</a:t>
            </a:r>
            <a:endParaRPr lang="en-US" sz="1500" dirty="0"/>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A08"/>
        </a:solidFill>
      </p:bgPr>
    </p:bg>
    <p:spTree>
      <p:nvGrpSpPr>
        <p:cNvPr id="1" name=""/>
        <p:cNvGrpSpPr/>
        <p:nvPr/>
      </p:nvGrpSpPr>
      <p:grpSpPr>
        <a:xfrm>
          <a:off x="0" y="0"/>
          <a:ext cx="0" cy="0"/>
          <a:chOff x="0" y="0"/>
          <a:chExt cx="0" cy="0"/>
        </a:xfrm>
      </p:grpSpPr>
      <p:pic>
        <p:nvPicPr>
          <p:cNvPr id="2" name="Image 0" descr="bg/t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12</a:t>
            </a:r>
            <a:endParaRPr lang="en-US" sz="900" dirty="0"/>
          </a:p>
        </p:txBody>
      </p:sp>
      <p:sp>
        <p:nvSpPr>
          <p:cNvPr id="4" name="Text 1"/>
          <p:cNvSpPr txBox="1"/>
          <p:nvPr/>
        </p:nvSpPr>
        <p:spPr>
          <a:xfrm>
            <a:off x="7863840" y="3017520"/>
            <a:ext cx="4114800" cy="3840480"/>
          </a:xfrm>
          <a:prstGeom prst="rect">
            <a:avLst/>
          </a:prstGeom>
          <a:noFill/>
          <a:ln/>
        </p:spPr>
        <p:txBody>
          <a:bodyPr wrap="square" lIns="0" tIns="0" rIns="0" bIns="0" rtlCol="0" anchor="t"/>
          <a:lstStyle/>
          <a:p>
            <a:pPr algn="r" indent="0" marL="0">
              <a:buNone/>
            </a:pPr>
            <a:r>
              <a:rPr lang="en-US" sz="25000" b="1" i="1" dirty="0">
                <a:solidFill>
                  <a:srgbClr val="1C1611"/>
                </a:solidFill>
                <a:latin typeface="Cambria" pitchFamily="34" charset="0"/>
                <a:ea typeface="Cambria" pitchFamily="34" charset="-122"/>
                <a:cs typeface="Cambria" pitchFamily="34" charset="-120"/>
              </a:rPr>
              <a:t>6</a:t>
            </a:r>
            <a:endParaRPr lang="en-US" sz="25000" dirty="0"/>
          </a:p>
        </p:txBody>
      </p:sp>
      <p:sp>
        <p:nvSpPr>
          <p:cNvPr id="5" name="Text 2"/>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STEP 6  ·  ★ HUMAN DOCTOR REQUIRED</a:t>
            </a:r>
            <a:endParaRPr lang="en-US" sz="1200" dirty="0"/>
          </a:p>
        </p:txBody>
      </p:sp>
      <p:sp>
        <p:nvSpPr>
          <p:cNvPr id="6" name="Text 3"/>
          <p:cNvSpPr txBox="1"/>
          <p:nvPr/>
        </p:nvSpPr>
        <p:spPr>
          <a:xfrm>
            <a:off x="640080" y="868680"/>
            <a:ext cx="10515600" cy="91440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The one step AI </a:t>
            </a:r>
            <a:pPr indent="0" marL="0">
              <a:buNone/>
            </a:pPr>
            <a:r>
              <a:rPr lang="en-US" sz="3800" b="1" i="1" dirty="0">
                <a:solidFill>
                  <a:srgbClr val="F2CD83"/>
                </a:solidFill>
                <a:latin typeface="Cambria" pitchFamily="34" charset="0"/>
                <a:ea typeface="Cambria" pitchFamily="34" charset="-122"/>
                <a:cs typeface="Cambria" pitchFamily="34" charset="-120"/>
              </a:rPr>
              <a:t>must not</a:t>
            </a:r>
            <a:pPr indent="0" marL="0">
              <a:buNone/>
            </a:pPr>
            <a:r>
              <a:rPr lang="en-US" sz="3800" b="1" dirty="0">
                <a:solidFill>
                  <a:srgbClr val="EFE4D2"/>
                </a:solidFill>
                <a:latin typeface="Cambria" pitchFamily="34" charset="0"/>
                <a:ea typeface="Cambria" pitchFamily="34" charset="-122"/>
                <a:cs typeface="Cambria" pitchFamily="34" charset="-120"/>
              </a:rPr>
              <a:t> take over</a:t>
            </a:r>
            <a:endParaRPr lang="en-US" sz="3800" dirty="0"/>
          </a:p>
        </p:txBody>
      </p:sp>
      <p:sp>
        <p:nvSpPr>
          <p:cNvPr id="7" name="Shape 4"/>
          <p:cNvSpPr/>
          <p:nvPr/>
        </p:nvSpPr>
        <p:spPr>
          <a:xfrm>
            <a:off x="640080" y="1965960"/>
            <a:ext cx="4937760" cy="3977640"/>
          </a:xfrm>
          <a:prstGeom prst="roundRect">
            <a:avLst>
              <a:gd name="adj" fmla="val 2759"/>
            </a:avLst>
          </a:prstGeom>
          <a:solidFill>
            <a:srgbClr val="2A2016"/>
          </a:solidFill>
          <a:ln w="12700">
            <a:solidFill>
              <a:srgbClr val="C8923C"/>
            </a:solidFill>
            <a:prstDash val="solid"/>
          </a:ln>
        </p:spPr>
      </p:sp>
      <p:pic>
        <p:nvPicPr>
          <p:cNvPr id="8" name="Image 1" descr="preencoded.png">    </p:cNvPr>
          <p:cNvPicPr>
            <a:picLocks noChangeAspect="1"/>
          </p:cNvPicPr>
          <p:nvPr/>
        </p:nvPicPr>
        <p:blipFill>
          <a:blip r:embed="rId2"/>
          <a:stretch>
            <a:fillRect/>
          </a:stretch>
        </p:blipFill>
        <p:spPr>
          <a:xfrm>
            <a:off x="960120" y="2240280"/>
            <a:ext cx="640080" cy="640080"/>
          </a:xfrm>
          <a:prstGeom prst="rect">
            <a:avLst/>
          </a:prstGeom>
        </p:spPr>
      </p:pic>
      <p:sp>
        <p:nvSpPr>
          <p:cNvPr id="9" name="Text 5"/>
          <p:cNvSpPr txBox="1"/>
          <p:nvPr/>
        </p:nvSpPr>
        <p:spPr>
          <a:xfrm>
            <a:off x="960120" y="3063240"/>
            <a:ext cx="4389120" cy="1371600"/>
          </a:xfrm>
          <a:prstGeom prst="rect">
            <a:avLst/>
          </a:prstGeom>
          <a:noFill/>
          <a:ln/>
        </p:spPr>
        <p:txBody>
          <a:bodyPr wrap="square" lIns="0" tIns="0" rIns="0" bIns="0" rtlCol="0" anchor="t"/>
          <a:lstStyle/>
          <a:p>
            <a:pPr indent="0" marL="0">
              <a:buNone/>
            </a:pPr>
            <a:r>
              <a:rPr lang="en-US" sz="2100" i="1" dirty="0">
                <a:solidFill>
                  <a:srgbClr val="F2CD83"/>
                </a:solidFill>
                <a:latin typeface="Cambria" pitchFamily="34" charset="0"/>
                <a:ea typeface="Cambria" pitchFamily="34" charset="-122"/>
                <a:cs typeface="Cambria" pitchFamily="34" charset="-120"/>
              </a:rPr>
              <a:t>“The doctor examines the patient, makes the final diagnosis and decides the treatment.”</a:t>
            </a:r>
            <a:endParaRPr lang="en-US" sz="2100" dirty="0"/>
          </a:p>
        </p:txBody>
      </p:sp>
      <p:sp>
        <p:nvSpPr>
          <p:cNvPr id="10" name="Text 6"/>
          <p:cNvSpPr txBox="1"/>
          <p:nvPr/>
        </p:nvSpPr>
        <p:spPr>
          <a:xfrm>
            <a:off x="960120" y="4617720"/>
            <a:ext cx="4389120" cy="822960"/>
          </a:xfrm>
          <a:prstGeom prst="rect">
            <a:avLst/>
          </a:prstGeom>
          <a:noFill/>
          <a:ln/>
        </p:spPr>
        <p:txBody>
          <a:bodyPr wrap="square" lIns="0" tIns="0" rIns="0" bIns="0" rtlCol="0" anchor="t"/>
          <a:lstStyle/>
          <a:p>
            <a:pPr indent="0" marL="0">
              <a:buNone/>
            </a:pPr>
            <a:r>
              <a:rPr lang="en-US" sz="1400" b="1" dirty="0">
                <a:solidFill>
                  <a:srgbClr val="6CC7B8"/>
                </a:solidFill>
                <a:latin typeface="Calibri" pitchFamily="34" charset="0"/>
                <a:ea typeface="Calibri" pitchFamily="34" charset="-122"/>
                <a:cs typeface="Calibri" pitchFamily="34" charset="-120"/>
              </a:rPr>
              <a:t>AI’s role here: </a:t>
            </a:r>
            <a:pPr indent="0" marL="0">
              <a:buNone/>
            </a:pPr>
            <a:r>
              <a:rPr lang="en-US" sz="1400" dirty="0">
                <a:solidFill>
                  <a:srgbClr val="A89A86"/>
                </a:solidFill>
                <a:latin typeface="Calibri" pitchFamily="34" charset="0"/>
                <a:ea typeface="Calibri" pitchFamily="34" charset="-122"/>
                <a:cs typeface="Calibri" pitchFamily="34" charset="-120"/>
              </a:rPr>
              <a:t>a one-screen summary and ready test results. Its suggestions are advice only.</a:t>
            </a:r>
            <a:endParaRPr lang="en-US" sz="1400" dirty="0"/>
          </a:p>
        </p:txBody>
      </p:sp>
      <p:sp>
        <p:nvSpPr>
          <p:cNvPr id="11" name="Text 7"/>
          <p:cNvSpPr txBox="1"/>
          <p:nvPr/>
        </p:nvSpPr>
        <p:spPr>
          <a:xfrm>
            <a:off x="960120" y="5440680"/>
            <a:ext cx="4389120" cy="320040"/>
          </a:xfrm>
          <a:prstGeom prst="rect">
            <a:avLst/>
          </a:prstGeom>
          <a:noFill/>
          <a:ln/>
        </p:spPr>
        <p:txBody>
          <a:bodyPr wrap="square" lIns="0" tIns="0" rIns="0" bIns="0" rtlCol="0" anchor="t"/>
          <a:lstStyle/>
          <a:p>
            <a:pPr indent="0" marL="0">
              <a:buNone/>
            </a:pPr>
            <a:r>
              <a:rPr lang="en-US" sz="1400" b="1" dirty="0">
                <a:solidFill>
                  <a:srgbClr val="EFE4D2"/>
                </a:solidFill>
                <a:latin typeface="Calibri" pitchFamily="34" charset="0"/>
                <a:ea typeface="Calibri" pitchFamily="34" charset="-122"/>
                <a:cs typeface="Calibri" pitchFamily="34" charset="-120"/>
              </a:rPr>
              <a:t>10 min of focused care</a:t>
            </a:r>
            <a:endParaRPr lang="en-US" sz="1400" dirty="0"/>
          </a:p>
        </p:txBody>
      </p:sp>
      <p:sp>
        <p:nvSpPr>
          <p:cNvPr id="12" name="Text 8"/>
          <p:cNvSpPr txBox="1"/>
          <p:nvPr/>
        </p:nvSpPr>
        <p:spPr>
          <a:xfrm>
            <a:off x="6035040" y="1965960"/>
            <a:ext cx="5029200" cy="365760"/>
          </a:xfrm>
          <a:prstGeom prst="rect">
            <a:avLst/>
          </a:prstGeom>
          <a:noFill/>
          <a:ln/>
        </p:spPr>
        <p:txBody>
          <a:bodyPr wrap="square" lIns="0" tIns="0" rIns="0" bIns="0" rtlCol="0" anchor="t"/>
          <a:lstStyle/>
          <a:p>
            <a:pPr indent="0" marL="0">
              <a:buNone/>
            </a:pPr>
            <a:r>
              <a:rPr lang="en-US" sz="1600" b="1" dirty="0">
                <a:solidFill>
                  <a:srgbClr val="A89A86"/>
                </a:solidFill>
                <a:latin typeface="Calibri" pitchFamily="34" charset="0"/>
                <a:ea typeface="Calibri" pitchFamily="34" charset="-122"/>
                <a:cs typeface="Calibri" pitchFamily="34" charset="-120"/>
              </a:rPr>
              <a:t>Why it must be a human</a:t>
            </a:r>
            <a:endParaRPr lang="en-US" sz="1600" dirty="0"/>
          </a:p>
        </p:txBody>
      </p:sp>
      <p:sp>
        <p:nvSpPr>
          <p:cNvPr id="13" name="Shape 9"/>
          <p:cNvSpPr/>
          <p:nvPr/>
        </p:nvSpPr>
        <p:spPr>
          <a:xfrm>
            <a:off x="6035040" y="2468880"/>
            <a:ext cx="566928" cy="566928"/>
          </a:xfrm>
          <a:prstGeom prst="ellipse">
            <a:avLst/>
          </a:prstGeom>
          <a:solidFill>
            <a:srgbClr val="241C16"/>
          </a:solidFill>
          <a:ln w="15875">
            <a:solidFill>
              <a:srgbClr val="F2CD83"/>
            </a:solidFill>
            <a:prstDash val="solid"/>
          </a:ln>
        </p:spPr>
      </p:sp>
      <p:pic>
        <p:nvPicPr>
          <p:cNvPr id="14" name="Image 2" descr="preencoded.png">    </p:cNvPr>
          <p:cNvPicPr>
            <a:picLocks noChangeAspect="1"/>
          </p:cNvPicPr>
          <p:nvPr/>
        </p:nvPicPr>
        <p:blipFill>
          <a:blip r:embed="rId3"/>
          <a:stretch>
            <a:fillRect/>
          </a:stretch>
        </p:blipFill>
        <p:spPr>
          <a:xfrm>
            <a:off x="6176772" y="2610612"/>
            <a:ext cx="283464" cy="283464"/>
          </a:xfrm>
          <a:prstGeom prst="rect">
            <a:avLst/>
          </a:prstGeom>
        </p:spPr>
      </p:pic>
      <p:sp>
        <p:nvSpPr>
          <p:cNvPr id="15" name="Text 10"/>
          <p:cNvSpPr txBox="1"/>
          <p:nvPr/>
        </p:nvSpPr>
        <p:spPr>
          <a:xfrm>
            <a:off x="6766560" y="2468880"/>
            <a:ext cx="4754880" cy="320040"/>
          </a:xfrm>
          <a:prstGeom prst="rect">
            <a:avLst/>
          </a:prstGeom>
          <a:noFill/>
          <a:ln/>
        </p:spPr>
        <p:txBody>
          <a:bodyPr wrap="square" lIns="0" tIns="0" rIns="0" bIns="0" rtlCol="0" anchor="t"/>
          <a:lstStyle/>
          <a:p>
            <a:pPr indent="0" marL="0">
              <a:buNone/>
            </a:pPr>
            <a:r>
              <a:rPr lang="en-US" sz="1600" b="1" dirty="0">
                <a:solidFill>
                  <a:srgbClr val="F2CD83"/>
                </a:solidFill>
                <a:latin typeface="Calibri" pitchFamily="34" charset="0"/>
                <a:ea typeface="Calibri" pitchFamily="34" charset="-122"/>
                <a:cs typeface="Calibri" pitchFamily="34" charset="-120"/>
              </a:rPr>
              <a:t>Clinical judgement</a:t>
            </a:r>
            <a:endParaRPr lang="en-US" sz="1600" dirty="0"/>
          </a:p>
        </p:txBody>
      </p:sp>
      <p:sp>
        <p:nvSpPr>
          <p:cNvPr id="16" name="Text 11"/>
          <p:cNvSpPr txBox="1"/>
          <p:nvPr/>
        </p:nvSpPr>
        <p:spPr>
          <a:xfrm>
            <a:off x="6766560" y="2798064"/>
            <a:ext cx="4754880" cy="365760"/>
          </a:xfrm>
          <a:prstGeom prst="rect">
            <a:avLst/>
          </a:prstGeom>
          <a:noFill/>
          <a:ln/>
        </p:spPr>
        <p:txBody>
          <a:bodyPr wrap="square" lIns="0" tIns="0" rIns="0" bIns="0" rtlCol="0" anchor="t"/>
          <a:lstStyle/>
          <a:p>
            <a:pPr indent="0" marL="0">
              <a:buNone/>
            </a:pPr>
            <a:r>
              <a:rPr lang="en-US" sz="1300" dirty="0">
                <a:solidFill>
                  <a:srgbClr val="A89A86"/>
                </a:solidFill>
                <a:latin typeface="Calibri" pitchFamily="34" charset="0"/>
                <a:ea typeface="Calibri" pitchFamily="34" charset="-122"/>
                <a:cs typeface="Calibri" pitchFamily="34" charset="-120"/>
              </a:rPr>
              <a:t>Every patient is different; experience reads what data misses.</a:t>
            </a:r>
            <a:endParaRPr lang="en-US" sz="1300" dirty="0"/>
          </a:p>
        </p:txBody>
      </p:sp>
      <p:sp>
        <p:nvSpPr>
          <p:cNvPr id="17" name="Shape 12"/>
          <p:cNvSpPr/>
          <p:nvPr/>
        </p:nvSpPr>
        <p:spPr>
          <a:xfrm>
            <a:off x="6035040" y="3337560"/>
            <a:ext cx="566928" cy="566928"/>
          </a:xfrm>
          <a:prstGeom prst="ellipse">
            <a:avLst/>
          </a:prstGeom>
          <a:solidFill>
            <a:srgbClr val="241C16"/>
          </a:solidFill>
          <a:ln w="15875">
            <a:solidFill>
              <a:srgbClr val="F2CD83"/>
            </a:solidFill>
            <a:prstDash val="solid"/>
          </a:ln>
        </p:spPr>
      </p:sp>
      <p:pic>
        <p:nvPicPr>
          <p:cNvPr id="18" name="Image 3" descr="preencoded.png">    </p:cNvPr>
          <p:cNvPicPr>
            <a:picLocks noChangeAspect="1"/>
          </p:cNvPicPr>
          <p:nvPr/>
        </p:nvPicPr>
        <p:blipFill>
          <a:blip r:embed="rId4"/>
          <a:stretch>
            <a:fillRect/>
          </a:stretch>
        </p:blipFill>
        <p:spPr>
          <a:xfrm>
            <a:off x="6176772" y="3479292"/>
            <a:ext cx="283464" cy="283464"/>
          </a:xfrm>
          <a:prstGeom prst="rect">
            <a:avLst/>
          </a:prstGeom>
        </p:spPr>
      </p:pic>
      <p:sp>
        <p:nvSpPr>
          <p:cNvPr id="19" name="Text 13"/>
          <p:cNvSpPr txBox="1"/>
          <p:nvPr/>
        </p:nvSpPr>
        <p:spPr>
          <a:xfrm>
            <a:off x="6766560" y="3337560"/>
            <a:ext cx="4754880" cy="320040"/>
          </a:xfrm>
          <a:prstGeom prst="rect">
            <a:avLst/>
          </a:prstGeom>
          <a:noFill/>
          <a:ln/>
        </p:spPr>
        <p:txBody>
          <a:bodyPr wrap="square" lIns="0" tIns="0" rIns="0" bIns="0" rtlCol="0" anchor="t"/>
          <a:lstStyle/>
          <a:p>
            <a:pPr indent="0" marL="0">
              <a:buNone/>
            </a:pPr>
            <a:r>
              <a:rPr lang="en-US" sz="1600" b="1" dirty="0">
                <a:solidFill>
                  <a:srgbClr val="F2CD83"/>
                </a:solidFill>
                <a:latin typeface="Calibri" pitchFamily="34" charset="0"/>
                <a:ea typeface="Calibri" pitchFamily="34" charset="-122"/>
                <a:cs typeface="Calibri" pitchFamily="34" charset="-120"/>
              </a:rPr>
              <a:t>Accountability</a:t>
            </a:r>
            <a:endParaRPr lang="en-US" sz="1600" dirty="0"/>
          </a:p>
        </p:txBody>
      </p:sp>
      <p:sp>
        <p:nvSpPr>
          <p:cNvPr id="20" name="Text 14"/>
          <p:cNvSpPr txBox="1"/>
          <p:nvPr/>
        </p:nvSpPr>
        <p:spPr>
          <a:xfrm>
            <a:off x="6766560" y="3666744"/>
            <a:ext cx="4754880" cy="365760"/>
          </a:xfrm>
          <a:prstGeom prst="rect">
            <a:avLst/>
          </a:prstGeom>
          <a:noFill/>
          <a:ln/>
        </p:spPr>
        <p:txBody>
          <a:bodyPr wrap="square" lIns="0" tIns="0" rIns="0" bIns="0" rtlCol="0" anchor="t"/>
          <a:lstStyle/>
          <a:p>
            <a:pPr indent="0" marL="0">
              <a:buNone/>
            </a:pPr>
            <a:r>
              <a:rPr lang="en-US" sz="1300" dirty="0">
                <a:solidFill>
                  <a:srgbClr val="A89A86"/>
                </a:solidFill>
                <a:latin typeface="Calibri" pitchFamily="34" charset="0"/>
                <a:ea typeface="Calibri" pitchFamily="34" charset="-122"/>
                <a:cs typeface="Calibri" pitchFamily="34" charset="-120"/>
              </a:rPr>
              <a:t>Legally and ethically, only a doctor can be responsible.</a:t>
            </a:r>
            <a:endParaRPr lang="en-US" sz="1300" dirty="0"/>
          </a:p>
        </p:txBody>
      </p:sp>
      <p:sp>
        <p:nvSpPr>
          <p:cNvPr id="21" name="Shape 15"/>
          <p:cNvSpPr/>
          <p:nvPr/>
        </p:nvSpPr>
        <p:spPr>
          <a:xfrm>
            <a:off x="6035040" y="4206240"/>
            <a:ext cx="566928" cy="566928"/>
          </a:xfrm>
          <a:prstGeom prst="ellipse">
            <a:avLst/>
          </a:prstGeom>
          <a:solidFill>
            <a:srgbClr val="241C16"/>
          </a:solidFill>
          <a:ln w="15875">
            <a:solidFill>
              <a:srgbClr val="F2CD83"/>
            </a:solidFill>
            <a:prstDash val="solid"/>
          </a:ln>
        </p:spPr>
      </p:sp>
      <p:pic>
        <p:nvPicPr>
          <p:cNvPr id="22" name="Image 4" descr="preencoded.png">    </p:cNvPr>
          <p:cNvPicPr>
            <a:picLocks noChangeAspect="1"/>
          </p:cNvPicPr>
          <p:nvPr/>
        </p:nvPicPr>
        <p:blipFill>
          <a:blip r:embed="rId5"/>
          <a:stretch>
            <a:fillRect/>
          </a:stretch>
        </p:blipFill>
        <p:spPr>
          <a:xfrm>
            <a:off x="6176772" y="4347972"/>
            <a:ext cx="283464" cy="283464"/>
          </a:xfrm>
          <a:prstGeom prst="rect">
            <a:avLst/>
          </a:prstGeom>
        </p:spPr>
      </p:pic>
      <p:sp>
        <p:nvSpPr>
          <p:cNvPr id="23" name="Text 16"/>
          <p:cNvSpPr txBox="1"/>
          <p:nvPr/>
        </p:nvSpPr>
        <p:spPr>
          <a:xfrm>
            <a:off x="6766560" y="4206240"/>
            <a:ext cx="4754880" cy="320040"/>
          </a:xfrm>
          <a:prstGeom prst="rect">
            <a:avLst/>
          </a:prstGeom>
          <a:noFill/>
          <a:ln/>
        </p:spPr>
        <p:txBody>
          <a:bodyPr wrap="square" lIns="0" tIns="0" rIns="0" bIns="0" rtlCol="0" anchor="t"/>
          <a:lstStyle/>
          <a:p>
            <a:pPr indent="0" marL="0">
              <a:buNone/>
            </a:pPr>
            <a:r>
              <a:rPr lang="en-US" sz="1600" b="1" dirty="0">
                <a:solidFill>
                  <a:srgbClr val="F2CD83"/>
                </a:solidFill>
                <a:latin typeface="Calibri" pitchFamily="34" charset="0"/>
                <a:ea typeface="Calibri" pitchFamily="34" charset="-122"/>
                <a:cs typeface="Calibri" pitchFamily="34" charset="-120"/>
              </a:rPr>
              <a:t>Empathy</a:t>
            </a:r>
            <a:endParaRPr lang="en-US" sz="1600" dirty="0"/>
          </a:p>
        </p:txBody>
      </p:sp>
      <p:sp>
        <p:nvSpPr>
          <p:cNvPr id="24" name="Text 17"/>
          <p:cNvSpPr txBox="1"/>
          <p:nvPr/>
        </p:nvSpPr>
        <p:spPr>
          <a:xfrm>
            <a:off x="6766560" y="4535424"/>
            <a:ext cx="4754880" cy="365760"/>
          </a:xfrm>
          <a:prstGeom prst="rect">
            <a:avLst/>
          </a:prstGeom>
          <a:noFill/>
          <a:ln/>
        </p:spPr>
        <p:txBody>
          <a:bodyPr wrap="square" lIns="0" tIns="0" rIns="0" bIns="0" rtlCol="0" anchor="t"/>
          <a:lstStyle/>
          <a:p>
            <a:pPr indent="0" marL="0">
              <a:buNone/>
            </a:pPr>
            <a:r>
              <a:rPr lang="en-US" sz="1300" dirty="0">
                <a:solidFill>
                  <a:srgbClr val="A89A86"/>
                </a:solidFill>
                <a:latin typeface="Calibri" pitchFamily="34" charset="0"/>
                <a:ea typeface="Calibri" pitchFamily="34" charset="-122"/>
                <a:cs typeface="Calibri" pitchFamily="34" charset="-120"/>
              </a:rPr>
              <a:t>Bad news and fears need a human voice.</a:t>
            </a:r>
            <a:endParaRPr lang="en-US" sz="1300" dirty="0"/>
          </a:p>
        </p:txBody>
      </p:sp>
      <p:sp>
        <p:nvSpPr>
          <p:cNvPr id="25" name="Shape 18"/>
          <p:cNvSpPr/>
          <p:nvPr/>
        </p:nvSpPr>
        <p:spPr>
          <a:xfrm>
            <a:off x="6035040" y="5074920"/>
            <a:ext cx="566928" cy="566928"/>
          </a:xfrm>
          <a:prstGeom prst="ellipse">
            <a:avLst/>
          </a:prstGeom>
          <a:solidFill>
            <a:srgbClr val="241C16"/>
          </a:solidFill>
          <a:ln w="15875">
            <a:solidFill>
              <a:srgbClr val="F2CD83"/>
            </a:solidFill>
            <a:prstDash val="solid"/>
          </a:ln>
        </p:spPr>
      </p:sp>
      <p:pic>
        <p:nvPicPr>
          <p:cNvPr id="26" name="Image 5" descr="preencoded.png">    </p:cNvPr>
          <p:cNvPicPr>
            <a:picLocks noChangeAspect="1"/>
          </p:cNvPicPr>
          <p:nvPr/>
        </p:nvPicPr>
        <p:blipFill>
          <a:blip r:embed="rId6"/>
          <a:stretch>
            <a:fillRect/>
          </a:stretch>
        </p:blipFill>
        <p:spPr>
          <a:xfrm>
            <a:off x="6176772" y="5216652"/>
            <a:ext cx="283464" cy="283464"/>
          </a:xfrm>
          <a:prstGeom prst="rect">
            <a:avLst/>
          </a:prstGeom>
        </p:spPr>
      </p:pic>
      <p:sp>
        <p:nvSpPr>
          <p:cNvPr id="27" name="Text 19"/>
          <p:cNvSpPr txBox="1"/>
          <p:nvPr/>
        </p:nvSpPr>
        <p:spPr>
          <a:xfrm>
            <a:off x="6766560" y="5074920"/>
            <a:ext cx="4754880" cy="320040"/>
          </a:xfrm>
          <a:prstGeom prst="rect">
            <a:avLst/>
          </a:prstGeom>
          <a:noFill/>
          <a:ln/>
        </p:spPr>
        <p:txBody>
          <a:bodyPr wrap="square" lIns="0" tIns="0" rIns="0" bIns="0" rtlCol="0" anchor="t"/>
          <a:lstStyle/>
          <a:p>
            <a:pPr indent="0" marL="0">
              <a:buNone/>
            </a:pPr>
            <a:r>
              <a:rPr lang="en-US" sz="1600" b="1" dirty="0">
                <a:solidFill>
                  <a:srgbClr val="F2CD83"/>
                </a:solidFill>
                <a:latin typeface="Calibri" pitchFamily="34" charset="0"/>
                <a:ea typeface="Calibri" pitchFamily="34" charset="-122"/>
                <a:cs typeface="Calibri" pitchFamily="34" charset="-120"/>
              </a:rPr>
              <a:t>Patient consent</a:t>
            </a:r>
            <a:endParaRPr lang="en-US" sz="1600" dirty="0"/>
          </a:p>
        </p:txBody>
      </p:sp>
      <p:sp>
        <p:nvSpPr>
          <p:cNvPr id="28" name="Text 20"/>
          <p:cNvSpPr txBox="1"/>
          <p:nvPr/>
        </p:nvSpPr>
        <p:spPr>
          <a:xfrm>
            <a:off x="6766560" y="5404104"/>
            <a:ext cx="4754880" cy="365760"/>
          </a:xfrm>
          <a:prstGeom prst="rect">
            <a:avLst/>
          </a:prstGeom>
          <a:noFill/>
          <a:ln/>
        </p:spPr>
        <p:txBody>
          <a:bodyPr wrap="square" lIns="0" tIns="0" rIns="0" bIns="0" rtlCol="0" anchor="t"/>
          <a:lstStyle/>
          <a:p>
            <a:pPr indent="0" marL="0">
              <a:buNone/>
            </a:pPr>
            <a:r>
              <a:rPr lang="en-US" sz="1300" dirty="0">
                <a:solidFill>
                  <a:srgbClr val="A89A86"/>
                </a:solidFill>
                <a:latin typeface="Calibri" pitchFamily="34" charset="0"/>
                <a:ea typeface="Calibri" pitchFamily="34" charset="-122"/>
                <a:cs typeface="Calibri" pitchFamily="34" charset="-120"/>
              </a:rPr>
              <a:t>Treatment is agreed between doctor and patient.</a:t>
            </a:r>
            <a:endParaRPr lang="en-US" sz="1300" dirty="0"/>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A08"/>
        </a:solidFill>
      </p:bgPr>
    </p:bg>
    <p:spTree>
      <p:nvGrpSpPr>
        <p:cNvPr id="1" name=""/>
        <p:cNvGrpSpPr/>
        <p:nvPr/>
      </p:nvGrpSpPr>
      <p:grpSpPr>
        <a:xfrm>
          <a:off x="0" y="0"/>
          <a:ext cx="0" cy="0"/>
          <a:chOff x="0" y="0"/>
          <a:chExt cx="0" cy="0"/>
        </a:xfrm>
      </p:grpSpPr>
      <p:pic>
        <p:nvPicPr>
          <p:cNvPr id="2" name="Image 0" descr="bg/bl.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13</a:t>
            </a:r>
            <a:endParaRPr lang="en-US" sz="900" dirty="0"/>
          </a:p>
        </p:txBody>
      </p:sp>
      <p:sp>
        <p:nvSpPr>
          <p:cNvPr id="4" name="Text 1"/>
          <p:cNvSpPr txBox="1"/>
          <p:nvPr/>
        </p:nvSpPr>
        <p:spPr>
          <a:xfrm>
            <a:off x="7863840" y="3017520"/>
            <a:ext cx="4114800" cy="3840480"/>
          </a:xfrm>
          <a:prstGeom prst="rect">
            <a:avLst/>
          </a:prstGeom>
          <a:noFill/>
          <a:ln/>
        </p:spPr>
        <p:txBody>
          <a:bodyPr wrap="square" lIns="0" tIns="0" rIns="0" bIns="0" rtlCol="0" anchor="t"/>
          <a:lstStyle/>
          <a:p>
            <a:pPr algn="r" indent="0" marL="0">
              <a:buNone/>
            </a:pPr>
            <a:r>
              <a:rPr lang="en-US" sz="25000" b="1" i="1" dirty="0">
                <a:solidFill>
                  <a:srgbClr val="1C1611"/>
                </a:solidFill>
                <a:latin typeface="Cambria" pitchFamily="34" charset="0"/>
                <a:ea typeface="Cambria" pitchFamily="34" charset="-122"/>
                <a:cs typeface="Cambria" pitchFamily="34" charset="-120"/>
              </a:rPr>
              <a:t>7–8</a:t>
            </a:r>
            <a:endParaRPr lang="en-US" sz="25000" dirty="0"/>
          </a:p>
        </p:txBody>
      </p:sp>
      <p:sp>
        <p:nvSpPr>
          <p:cNvPr id="5" name="Text 2"/>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STEPS 7–8  ·  EXIT &amp; FOLLOW-UP</a:t>
            </a:r>
            <a:endParaRPr lang="en-US" sz="1200" dirty="0"/>
          </a:p>
        </p:txBody>
      </p:sp>
      <p:sp>
        <p:nvSpPr>
          <p:cNvPr id="6" name="Text 3"/>
          <p:cNvSpPr txBox="1"/>
          <p:nvPr/>
        </p:nvSpPr>
        <p:spPr>
          <a:xfrm>
            <a:off x="640080" y="868680"/>
            <a:ext cx="10515600" cy="91440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Leaving is fast. Care </a:t>
            </a:r>
            <a:pPr indent="0" marL="0">
              <a:buNone/>
            </a:pPr>
            <a:r>
              <a:rPr lang="en-US" sz="3800" b="1" i="1" dirty="0">
                <a:solidFill>
                  <a:srgbClr val="F2CD83"/>
                </a:solidFill>
                <a:latin typeface="Cambria" pitchFamily="34" charset="0"/>
                <a:ea typeface="Cambria" pitchFamily="34" charset="-122"/>
                <a:cs typeface="Cambria" pitchFamily="34" charset="-120"/>
              </a:rPr>
              <a:t>continues.</a:t>
            </a:r>
            <a:endParaRPr lang="en-US" sz="3800" dirty="0"/>
          </a:p>
        </p:txBody>
      </p:sp>
      <p:sp>
        <p:nvSpPr>
          <p:cNvPr id="7" name="Shape 4"/>
          <p:cNvSpPr/>
          <p:nvPr/>
        </p:nvSpPr>
        <p:spPr>
          <a:xfrm>
            <a:off x="640080" y="1965960"/>
            <a:ext cx="5349240" cy="3977640"/>
          </a:xfrm>
          <a:prstGeom prst="roundRect">
            <a:avLst>
              <a:gd name="adj" fmla="val 2759"/>
            </a:avLst>
          </a:prstGeom>
          <a:solidFill>
            <a:srgbClr val="1A1410"/>
          </a:solidFill>
          <a:ln w="12700">
            <a:solidFill>
              <a:srgbClr val="3A2F26"/>
            </a:solidFill>
            <a:prstDash val="solid"/>
          </a:ln>
        </p:spPr>
      </p:sp>
      <p:sp>
        <p:nvSpPr>
          <p:cNvPr id="8" name="Shape 5"/>
          <p:cNvSpPr/>
          <p:nvPr/>
        </p:nvSpPr>
        <p:spPr>
          <a:xfrm>
            <a:off x="960120" y="2240280"/>
            <a:ext cx="777240" cy="777240"/>
          </a:xfrm>
          <a:prstGeom prst="ellipse">
            <a:avLst/>
          </a:prstGeom>
          <a:solidFill>
            <a:srgbClr val="241C16"/>
          </a:solidFill>
          <a:ln w="15875">
            <a:solidFill>
              <a:srgbClr val="6CC7B8"/>
            </a:solidFill>
            <a:prstDash val="solid"/>
          </a:ln>
        </p:spPr>
      </p:sp>
      <p:pic>
        <p:nvPicPr>
          <p:cNvPr id="9" name="Image 1" descr="preencoded.png">    </p:cNvPr>
          <p:cNvPicPr>
            <a:picLocks noChangeAspect="1"/>
          </p:cNvPicPr>
          <p:nvPr/>
        </p:nvPicPr>
        <p:blipFill>
          <a:blip r:embed="rId2"/>
          <a:stretch>
            <a:fillRect/>
          </a:stretch>
        </p:blipFill>
        <p:spPr>
          <a:xfrm>
            <a:off x="1154430" y="2434590"/>
            <a:ext cx="388620" cy="388620"/>
          </a:xfrm>
          <a:prstGeom prst="rect">
            <a:avLst/>
          </a:prstGeom>
        </p:spPr>
      </p:pic>
      <p:sp>
        <p:nvSpPr>
          <p:cNvPr id="10" name="Text 6"/>
          <p:cNvSpPr txBox="1"/>
          <p:nvPr/>
        </p:nvSpPr>
        <p:spPr>
          <a:xfrm>
            <a:off x="1965960" y="2286000"/>
            <a:ext cx="3840480" cy="228600"/>
          </a:xfrm>
          <a:prstGeom prst="rect">
            <a:avLst/>
          </a:prstGeom>
          <a:noFill/>
          <a:ln/>
        </p:spPr>
        <p:txBody>
          <a:bodyPr wrap="square" lIns="0" tIns="0" rIns="0" bIns="0" rtlCol="0" anchor="t"/>
          <a:lstStyle/>
          <a:p>
            <a:pPr indent="0" marL="0">
              <a:buNone/>
            </a:pPr>
            <a:r>
              <a:rPr lang="en-US" sz="1100" b="1" spc="300" kern="0" dirty="0">
                <a:solidFill>
                  <a:srgbClr val="6CC7B8"/>
                </a:solidFill>
                <a:latin typeface="Calibri" pitchFamily="34" charset="0"/>
                <a:ea typeface="Calibri" pitchFamily="34" charset="-122"/>
                <a:cs typeface="Calibri" pitchFamily="34" charset="-120"/>
              </a:rPr>
              <a:t>STEP 7  ·  3 MIN</a:t>
            </a:r>
            <a:endParaRPr lang="en-US" sz="1100" dirty="0"/>
          </a:p>
        </p:txBody>
      </p:sp>
      <p:sp>
        <p:nvSpPr>
          <p:cNvPr id="11" name="Text 7"/>
          <p:cNvSpPr txBox="1"/>
          <p:nvPr/>
        </p:nvSpPr>
        <p:spPr>
          <a:xfrm>
            <a:off x="1965960" y="2560320"/>
            <a:ext cx="3840480" cy="731520"/>
          </a:xfrm>
          <a:prstGeom prst="rect">
            <a:avLst/>
          </a:prstGeom>
          <a:noFill/>
          <a:ln/>
        </p:spPr>
        <p:txBody>
          <a:bodyPr wrap="square" lIns="0" tIns="0" rIns="0" bIns="0" rtlCol="0" anchor="t"/>
          <a:lstStyle/>
          <a:p>
            <a:pPr indent="0" marL="0">
              <a:buNone/>
            </a:pPr>
            <a:r>
              <a:rPr lang="en-US" sz="2200" b="1" dirty="0">
                <a:solidFill>
                  <a:srgbClr val="EFE4D2"/>
                </a:solidFill>
                <a:latin typeface="Cambria" pitchFamily="34" charset="0"/>
                <a:ea typeface="Cambria" pitchFamily="34" charset="-122"/>
                <a:cs typeface="Cambria" pitchFamily="34" charset="-120"/>
              </a:rPr>
              <a:t>Fast Discharge &amp; Room Turnover</a:t>
            </a:r>
            <a:endParaRPr lang="en-US" sz="2200" dirty="0"/>
          </a:p>
        </p:txBody>
      </p:sp>
      <p:sp>
        <p:nvSpPr>
          <p:cNvPr id="12" name="Text 8"/>
          <p:cNvSpPr txBox="1"/>
          <p:nvPr/>
        </p:nvSpPr>
        <p:spPr>
          <a:xfrm>
            <a:off x="1051560" y="3520440"/>
            <a:ext cx="4663440"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EFE4D2"/>
                </a:solidFill>
                <a:latin typeface="Calibri" pitchFamily="34" charset="0"/>
                <a:ea typeface="Calibri" pitchFamily="34" charset="-122"/>
                <a:cs typeface="Calibri" pitchFamily="34" charset="-120"/>
              </a:rPr>
              <a:t>AI drafts the discharge note; the doctor signs</a:t>
            </a:r>
            <a:endParaRPr lang="en-US" sz="1500" dirty="0"/>
          </a:p>
          <a:p>
            <a:pPr marL="342900" indent="-342900">
              <a:spcAft>
                <a:spcPts val="1000"/>
              </a:spcAft>
              <a:buSzPct val="100000"/>
              <a:buChar char="•"/>
            </a:pPr>
            <a:r>
              <a:rPr lang="en-US" sz="1500" dirty="0">
                <a:solidFill>
                  <a:srgbClr val="EFE4D2"/>
                </a:solidFill>
                <a:latin typeface="Calibri" pitchFamily="34" charset="0"/>
                <a:ea typeface="Calibri" pitchFamily="34" charset="-122"/>
                <a:cs typeface="Calibri" pitchFamily="34" charset="-120"/>
              </a:rPr>
              <a:t>Prescription goes straight to the pharmacy</a:t>
            </a:r>
            <a:endParaRPr lang="en-US" sz="1500" dirty="0"/>
          </a:p>
          <a:p>
            <a:pPr marL="342900" indent="-342900">
              <a:spcAft>
                <a:spcPts val="1000"/>
              </a:spcAft>
              <a:buSzPct val="100000"/>
              <a:buChar char="•"/>
            </a:pPr>
            <a:r>
              <a:rPr lang="en-US" sz="1500" dirty="0">
                <a:solidFill>
                  <a:srgbClr val="EFE4D2"/>
                </a:solidFill>
                <a:latin typeface="Calibri" pitchFamily="34" charset="0"/>
                <a:ea typeface="Calibri" pitchFamily="34" charset="-122"/>
                <a:cs typeface="Calibri" pitchFamily="34" charset="-120"/>
              </a:rPr>
              <a:t>Follow-up appointment is booked automatically</a:t>
            </a:r>
            <a:endParaRPr lang="en-US" sz="1500" dirty="0"/>
          </a:p>
          <a:p>
            <a:pPr marL="342900" indent="-342900">
              <a:spcAft>
                <a:spcPts val="1000"/>
              </a:spcAft>
              <a:buSzPct val="100000"/>
              <a:buChar char="•"/>
            </a:pPr>
            <a:r>
              <a:rPr lang="en-US" sz="1500" dirty="0">
                <a:solidFill>
                  <a:srgbClr val="EFE4D2"/>
                </a:solidFill>
                <a:latin typeface="Calibri" pitchFamily="34" charset="0"/>
                <a:ea typeface="Calibri" pitchFamily="34" charset="-122"/>
                <a:cs typeface="Calibri" pitchFamily="34" charset="-120"/>
              </a:rPr>
              <a:t>Room is freed and the next patient is called</a:t>
            </a:r>
            <a:endParaRPr lang="en-US" sz="1500" dirty="0"/>
          </a:p>
        </p:txBody>
      </p:sp>
      <p:sp>
        <p:nvSpPr>
          <p:cNvPr id="13" name="Shape 9"/>
          <p:cNvSpPr/>
          <p:nvPr/>
        </p:nvSpPr>
        <p:spPr>
          <a:xfrm>
            <a:off x="6172200" y="1965960"/>
            <a:ext cx="5349240" cy="3977640"/>
          </a:xfrm>
          <a:prstGeom prst="roundRect">
            <a:avLst>
              <a:gd name="adj" fmla="val 2759"/>
            </a:avLst>
          </a:prstGeom>
          <a:solidFill>
            <a:srgbClr val="1A1410"/>
          </a:solidFill>
          <a:ln w="12700">
            <a:solidFill>
              <a:srgbClr val="3A2F26"/>
            </a:solidFill>
            <a:prstDash val="solid"/>
          </a:ln>
        </p:spPr>
      </p:sp>
      <p:sp>
        <p:nvSpPr>
          <p:cNvPr id="14" name="Shape 10"/>
          <p:cNvSpPr/>
          <p:nvPr/>
        </p:nvSpPr>
        <p:spPr>
          <a:xfrm>
            <a:off x="6492240" y="2240280"/>
            <a:ext cx="777240" cy="777240"/>
          </a:xfrm>
          <a:prstGeom prst="ellipse">
            <a:avLst/>
          </a:prstGeom>
          <a:solidFill>
            <a:srgbClr val="241C16"/>
          </a:solidFill>
          <a:ln w="15875">
            <a:solidFill>
              <a:srgbClr val="6CC7B8"/>
            </a:solidFill>
            <a:prstDash val="solid"/>
          </a:ln>
        </p:spPr>
      </p:sp>
      <p:pic>
        <p:nvPicPr>
          <p:cNvPr id="15" name="Image 2" descr="preencoded.png">    </p:cNvPr>
          <p:cNvPicPr>
            <a:picLocks noChangeAspect="1"/>
          </p:cNvPicPr>
          <p:nvPr/>
        </p:nvPicPr>
        <p:blipFill>
          <a:blip r:embed="rId3"/>
          <a:stretch>
            <a:fillRect/>
          </a:stretch>
        </p:blipFill>
        <p:spPr>
          <a:xfrm>
            <a:off x="6686550" y="2434590"/>
            <a:ext cx="388620" cy="388620"/>
          </a:xfrm>
          <a:prstGeom prst="rect">
            <a:avLst/>
          </a:prstGeom>
        </p:spPr>
      </p:pic>
      <p:sp>
        <p:nvSpPr>
          <p:cNvPr id="16" name="Text 11"/>
          <p:cNvSpPr txBox="1"/>
          <p:nvPr/>
        </p:nvSpPr>
        <p:spPr>
          <a:xfrm>
            <a:off x="7498080" y="2286000"/>
            <a:ext cx="3840480" cy="228600"/>
          </a:xfrm>
          <a:prstGeom prst="rect">
            <a:avLst/>
          </a:prstGeom>
          <a:noFill/>
          <a:ln/>
        </p:spPr>
        <p:txBody>
          <a:bodyPr wrap="square" lIns="0" tIns="0" rIns="0" bIns="0" rtlCol="0" anchor="t"/>
          <a:lstStyle/>
          <a:p>
            <a:pPr indent="0" marL="0">
              <a:buNone/>
            </a:pPr>
            <a:r>
              <a:rPr lang="en-US" sz="1100" b="1" spc="300" kern="0" dirty="0">
                <a:solidFill>
                  <a:srgbClr val="6CC7B8"/>
                </a:solidFill>
                <a:latin typeface="Calibri" pitchFamily="34" charset="0"/>
                <a:ea typeface="Calibri" pitchFamily="34" charset="-122"/>
                <a:cs typeface="Calibri" pitchFamily="34" charset="-120"/>
              </a:rPr>
              <a:t>STEP 8  ·  AFTER THE VISIT</a:t>
            </a:r>
            <a:endParaRPr lang="en-US" sz="1100" dirty="0"/>
          </a:p>
        </p:txBody>
      </p:sp>
      <p:sp>
        <p:nvSpPr>
          <p:cNvPr id="17" name="Text 12"/>
          <p:cNvSpPr txBox="1"/>
          <p:nvPr/>
        </p:nvSpPr>
        <p:spPr>
          <a:xfrm>
            <a:off x="7498080" y="2560320"/>
            <a:ext cx="3840480" cy="731520"/>
          </a:xfrm>
          <a:prstGeom prst="rect">
            <a:avLst/>
          </a:prstGeom>
          <a:noFill/>
          <a:ln/>
        </p:spPr>
        <p:txBody>
          <a:bodyPr wrap="square" lIns="0" tIns="0" rIns="0" bIns="0" rtlCol="0" anchor="t"/>
          <a:lstStyle/>
          <a:p>
            <a:pPr indent="0" marL="0">
              <a:buNone/>
            </a:pPr>
            <a:r>
              <a:rPr lang="en-US" sz="2200" b="1" dirty="0">
                <a:solidFill>
                  <a:srgbClr val="EFE4D2"/>
                </a:solidFill>
                <a:latin typeface="Cambria" pitchFamily="34" charset="0"/>
                <a:ea typeface="Cambria" pitchFamily="34" charset="-122"/>
                <a:cs typeface="Cambria" pitchFamily="34" charset="-120"/>
              </a:rPr>
              <a:t>Follow-up &amp; Learning Loop</a:t>
            </a:r>
            <a:endParaRPr lang="en-US" sz="2200" dirty="0"/>
          </a:p>
        </p:txBody>
      </p:sp>
      <p:sp>
        <p:nvSpPr>
          <p:cNvPr id="18" name="Text 13"/>
          <p:cNvSpPr txBox="1"/>
          <p:nvPr/>
        </p:nvSpPr>
        <p:spPr>
          <a:xfrm>
            <a:off x="6583680" y="3520440"/>
            <a:ext cx="4663440"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EFE4D2"/>
                </a:solidFill>
                <a:latin typeface="Calibri" pitchFamily="34" charset="0"/>
                <a:ea typeface="Calibri" pitchFamily="34" charset="-122"/>
                <a:cs typeface="Calibri" pitchFamily="34" charset="-120"/>
              </a:rPr>
              <a:t>Medicine and appointment reminders</a:t>
            </a:r>
            <a:endParaRPr lang="en-US" sz="1500" dirty="0"/>
          </a:p>
          <a:p>
            <a:pPr marL="342900" indent="-342900">
              <a:spcAft>
                <a:spcPts val="1000"/>
              </a:spcAft>
              <a:buSzPct val="100000"/>
              <a:buChar char="•"/>
            </a:pPr>
            <a:r>
              <a:rPr lang="en-US" sz="1500" dirty="0">
                <a:solidFill>
                  <a:srgbClr val="EFE4D2"/>
                </a:solidFill>
                <a:latin typeface="Calibri" pitchFamily="34" charset="0"/>
                <a:ea typeface="Calibri" pitchFamily="34" charset="-122"/>
                <a:cs typeface="Calibri" pitchFamily="34" charset="-120"/>
              </a:rPr>
              <a:t>Short recovery check-in questions</a:t>
            </a:r>
            <a:endParaRPr lang="en-US" sz="1500" dirty="0"/>
          </a:p>
          <a:p>
            <a:pPr marL="342900" indent="-342900">
              <a:spcAft>
                <a:spcPts val="1000"/>
              </a:spcAft>
              <a:buSzPct val="100000"/>
              <a:buChar char="•"/>
            </a:pPr>
            <a:r>
              <a:rPr lang="en-US" sz="1500" dirty="0">
                <a:solidFill>
                  <a:srgbClr val="EFE4D2"/>
                </a:solidFill>
                <a:latin typeface="Calibri" pitchFamily="34" charset="0"/>
                <a:ea typeface="Calibri" pitchFamily="34" charset="-122"/>
                <a:cs typeface="Calibri" pitchFamily="34" charset="-120"/>
              </a:rPr>
              <a:t>Worrying answers flagged to staff</a:t>
            </a:r>
            <a:endParaRPr lang="en-US" sz="1500" dirty="0"/>
          </a:p>
          <a:p>
            <a:pPr marL="342900" indent="-342900">
              <a:spcAft>
                <a:spcPts val="1000"/>
              </a:spcAft>
              <a:buSzPct val="100000"/>
              <a:buChar char="•"/>
            </a:pPr>
            <a:r>
              <a:rPr lang="en-US" sz="1500" dirty="0">
                <a:solidFill>
                  <a:srgbClr val="EFE4D2"/>
                </a:solidFill>
                <a:latin typeface="Calibri" pitchFamily="34" charset="0"/>
                <a:ea typeface="Calibri" pitchFamily="34" charset="-122"/>
                <a:cs typeface="Calibri" pitchFamily="34" charset="-120"/>
              </a:rPr>
              <a:t>Results help the AI improve over time</a:t>
            </a:r>
            <a:endParaRPr lang="en-US" sz="1500" dirty="0"/>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A08"/>
        </a:solidFill>
      </p:bgPr>
    </p:bg>
    <p:spTree>
      <p:nvGrpSpPr>
        <p:cNvPr id="1" name=""/>
        <p:cNvGrpSpPr/>
        <p:nvPr/>
      </p:nvGrpSpPr>
      <p:grpSpPr>
        <a:xfrm>
          <a:off x="0" y="0"/>
          <a:ext cx="0" cy="0"/>
          <a:chOff x="0" y="0"/>
          <a:chExt cx="0" cy="0"/>
        </a:xfrm>
      </p:grpSpPr>
      <p:pic>
        <p:nvPicPr>
          <p:cNvPr id="2" name="Image 0" descr="bg/plain.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14</a:t>
            </a:r>
            <a:endParaRPr lang="en-US" sz="900" dirty="0"/>
          </a:p>
        </p:txBody>
      </p:sp>
      <p:sp>
        <p:nvSpPr>
          <p:cNvPr id="4" name="Text 1"/>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THE COMPLETE PICTURE</a:t>
            </a:r>
            <a:endParaRPr lang="en-US" sz="1200" dirty="0"/>
          </a:p>
        </p:txBody>
      </p:sp>
      <p:sp>
        <p:nvSpPr>
          <p:cNvPr id="5" name="Text 2"/>
          <p:cNvSpPr txBox="1"/>
          <p:nvPr/>
        </p:nvSpPr>
        <p:spPr>
          <a:xfrm>
            <a:off x="640080" y="868680"/>
            <a:ext cx="5486400" cy="91440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The full </a:t>
            </a:r>
            <a:pPr indent="0" marL="0">
              <a:buNone/>
            </a:pPr>
            <a:r>
              <a:rPr lang="en-US" sz="3800" b="1" i="1" dirty="0">
                <a:solidFill>
                  <a:srgbClr val="F2CD83"/>
                </a:solidFill>
                <a:latin typeface="Cambria" pitchFamily="34" charset="0"/>
                <a:ea typeface="Cambria" pitchFamily="34" charset="-122"/>
                <a:cs typeface="Cambria" pitchFamily="34" charset="-120"/>
              </a:rPr>
              <a:t>flowchart</a:t>
            </a:r>
            <a:endParaRPr lang="en-US" sz="3800" dirty="0"/>
          </a:p>
        </p:txBody>
      </p:sp>
      <p:sp>
        <p:nvSpPr>
          <p:cNvPr id="6" name="Text 3"/>
          <p:cNvSpPr txBox="1"/>
          <p:nvPr/>
        </p:nvSpPr>
        <p:spPr>
          <a:xfrm>
            <a:off x="640080" y="1965960"/>
            <a:ext cx="5303520" cy="320040"/>
          </a:xfrm>
          <a:prstGeom prst="rect">
            <a:avLst/>
          </a:prstGeom>
          <a:noFill/>
          <a:ln/>
        </p:spPr>
        <p:txBody>
          <a:bodyPr wrap="square" lIns="0" tIns="0" rIns="0" bIns="0" rtlCol="0" anchor="t"/>
          <a:lstStyle/>
          <a:p>
            <a:pPr indent="0" marL="0">
              <a:buNone/>
            </a:pPr>
            <a:r>
              <a:rPr lang="en-US" sz="1600" b="1" dirty="0">
                <a:solidFill>
                  <a:srgbClr val="A89A86"/>
                </a:solidFill>
                <a:latin typeface="Calibri" pitchFamily="34" charset="0"/>
                <a:ea typeface="Calibri" pitchFamily="34" charset="-122"/>
                <a:cs typeface="Calibri" pitchFamily="34" charset="-120"/>
              </a:rPr>
              <a:t>Read it top to bottom:</a:t>
            </a:r>
            <a:endParaRPr lang="en-US" sz="1600" dirty="0"/>
          </a:p>
        </p:txBody>
      </p:sp>
      <p:sp>
        <p:nvSpPr>
          <p:cNvPr id="7" name="Shape 4"/>
          <p:cNvSpPr/>
          <p:nvPr/>
        </p:nvSpPr>
        <p:spPr>
          <a:xfrm>
            <a:off x="685800" y="2532888"/>
            <a:ext cx="237744" cy="237744"/>
          </a:xfrm>
          <a:prstGeom prst="ellipse">
            <a:avLst/>
          </a:prstGeom>
          <a:solidFill>
            <a:srgbClr val="6CC7B8"/>
          </a:solidFill>
          <a:ln w="15875">
            <a:solidFill>
              <a:srgbClr val="6CC7B8"/>
            </a:solidFill>
            <a:prstDash val="solid"/>
          </a:ln>
        </p:spPr>
      </p:sp>
      <p:sp>
        <p:nvSpPr>
          <p:cNvPr id="8" name="Text 5"/>
          <p:cNvSpPr txBox="1"/>
          <p:nvPr/>
        </p:nvSpPr>
        <p:spPr>
          <a:xfrm>
            <a:off x="1097280" y="2468880"/>
            <a:ext cx="4754880" cy="41148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Teal boxes: </a:t>
            </a:r>
            <a:pPr indent="0" marL="0">
              <a:buNone/>
            </a:pPr>
            <a:r>
              <a:rPr lang="en-US" sz="1500" dirty="0">
                <a:solidFill>
                  <a:srgbClr val="A89A86"/>
                </a:solidFill>
                <a:latin typeface="Calibri" pitchFamily="34" charset="0"/>
                <a:ea typeface="Calibri" pitchFamily="34" charset="-122"/>
                <a:cs typeface="Calibri" pitchFamily="34" charset="-120"/>
              </a:rPr>
              <a:t>AI steps</a:t>
            </a:r>
            <a:endParaRPr lang="en-US" sz="1500" dirty="0"/>
          </a:p>
        </p:txBody>
      </p:sp>
      <p:sp>
        <p:nvSpPr>
          <p:cNvPr id="9" name="Shape 6"/>
          <p:cNvSpPr/>
          <p:nvPr/>
        </p:nvSpPr>
        <p:spPr>
          <a:xfrm>
            <a:off x="685800" y="3191256"/>
            <a:ext cx="237744" cy="237744"/>
          </a:xfrm>
          <a:prstGeom prst="ellipse">
            <a:avLst/>
          </a:prstGeom>
          <a:solidFill>
            <a:srgbClr val="E8A857"/>
          </a:solidFill>
          <a:ln w="15875">
            <a:solidFill>
              <a:srgbClr val="E8A857"/>
            </a:solidFill>
            <a:prstDash val="solid"/>
          </a:ln>
        </p:spPr>
      </p:sp>
      <p:sp>
        <p:nvSpPr>
          <p:cNvPr id="10" name="Text 7"/>
          <p:cNvSpPr txBox="1"/>
          <p:nvPr/>
        </p:nvSpPr>
        <p:spPr>
          <a:xfrm>
            <a:off x="1097280" y="3127248"/>
            <a:ext cx="4754880" cy="41148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Orange box: </a:t>
            </a:r>
            <a:pPr indent="0" marL="0">
              <a:buNone/>
            </a:pPr>
            <a:r>
              <a:rPr lang="en-US" sz="1500" dirty="0">
                <a:solidFill>
                  <a:srgbClr val="A89A86"/>
                </a:solidFill>
                <a:latin typeface="Calibri" pitchFamily="34" charset="0"/>
                <a:ea typeface="Calibri" pitchFamily="34" charset="-122"/>
                <a:cs typeface="Calibri" pitchFamily="34" charset="-120"/>
              </a:rPr>
              <a:t>the human doctor step</a:t>
            </a:r>
            <a:endParaRPr lang="en-US" sz="1500" dirty="0"/>
          </a:p>
        </p:txBody>
      </p:sp>
      <p:sp>
        <p:nvSpPr>
          <p:cNvPr id="11" name="Shape 8"/>
          <p:cNvSpPr/>
          <p:nvPr/>
        </p:nvSpPr>
        <p:spPr>
          <a:xfrm>
            <a:off x="685800" y="3849624"/>
            <a:ext cx="237744" cy="237744"/>
          </a:xfrm>
          <a:prstGeom prst="ellipse">
            <a:avLst/>
          </a:prstGeom>
          <a:solidFill>
            <a:srgbClr val="E48475"/>
          </a:solidFill>
          <a:ln w="15875">
            <a:solidFill>
              <a:srgbClr val="E48475"/>
            </a:solidFill>
            <a:prstDash val="solid"/>
          </a:ln>
        </p:spPr>
      </p:sp>
      <p:sp>
        <p:nvSpPr>
          <p:cNvPr id="12" name="Text 9"/>
          <p:cNvSpPr txBox="1"/>
          <p:nvPr/>
        </p:nvSpPr>
        <p:spPr>
          <a:xfrm>
            <a:off x="1097280" y="3785616"/>
            <a:ext cx="4754880" cy="41148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Red branch: </a:t>
            </a:r>
            <a:pPr indent="0" marL="0">
              <a:buNone/>
            </a:pPr>
            <a:r>
              <a:rPr lang="en-US" sz="1500" dirty="0">
                <a:solidFill>
                  <a:srgbClr val="A89A86"/>
                </a:solidFill>
                <a:latin typeface="Calibri" pitchFamily="34" charset="0"/>
                <a:ea typeface="Calibri" pitchFamily="34" charset="-122"/>
                <a:cs typeface="Calibri" pitchFamily="34" charset="-120"/>
              </a:rPr>
              <a:t>emergencies go straight to a human</a:t>
            </a:r>
            <a:endParaRPr lang="en-US" sz="1500" dirty="0"/>
          </a:p>
        </p:txBody>
      </p:sp>
      <p:sp>
        <p:nvSpPr>
          <p:cNvPr id="13" name="Shape 10"/>
          <p:cNvSpPr/>
          <p:nvPr/>
        </p:nvSpPr>
        <p:spPr>
          <a:xfrm>
            <a:off x="685800" y="4507992"/>
            <a:ext cx="237744" cy="237744"/>
          </a:xfrm>
          <a:prstGeom prst="ellipse">
            <a:avLst/>
          </a:prstGeom>
          <a:solidFill>
            <a:srgbClr val="A89A86"/>
          </a:solidFill>
          <a:ln w="15875">
            <a:solidFill>
              <a:srgbClr val="A89A86"/>
            </a:solidFill>
            <a:prstDash val="solid"/>
          </a:ln>
        </p:spPr>
      </p:sp>
      <p:sp>
        <p:nvSpPr>
          <p:cNvPr id="14" name="Text 11"/>
          <p:cNvSpPr txBox="1"/>
          <p:nvPr/>
        </p:nvSpPr>
        <p:spPr>
          <a:xfrm>
            <a:off x="1097280" y="4443984"/>
            <a:ext cx="4754880" cy="41148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Dashed lines: </a:t>
            </a:r>
            <a:pPr indent="0" marL="0">
              <a:buNone/>
            </a:pPr>
            <a:r>
              <a:rPr lang="en-US" sz="1500" dirty="0">
                <a:solidFill>
                  <a:srgbClr val="A89A86"/>
                </a:solidFill>
                <a:latin typeface="Calibri" pitchFamily="34" charset="0"/>
                <a:ea typeface="Calibri" pitchFamily="34" charset="-122"/>
                <a:cs typeface="Calibri" pitchFamily="34" charset="-120"/>
              </a:rPr>
              <a:t>feedback loops: re-triage and learning</a:t>
            </a:r>
            <a:endParaRPr lang="en-US" sz="1500" dirty="0"/>
          </a:p>
        </p:txBody>
      </p:sp>
      <p:sp>
        <p:nvSpPr>
          <p:cNvPr id="15" name="Shape 12"/>
          <p:cNvSpPr/>
          <p:nvPr/>
        </p:nvSpPr>
        <p:spPr>
          <a:xfrm>
            <a:off x="640080" y="5257800"/>
            <a:ext cx="5120640" cy="777240"/>
          </a:xfrm>
          <a:prstGeom prst="roundRect">
            <a:avLst>
              <a:gd name="adj" fmla="val 14118"/>
            </a:avLst>
          </a:prstGeom>
          <a:solidFill>
            <a:srgbClr val="2A2016"/>
          </a:solidFill>
          <a:ln w="12700">
            <a:solidFill>
              <a:srgbClr val="C8923C"/>
            </a:solidFill>
            <a:prstDash val="solid"/>
          </a:ln>
        </p:spPr>
      </p:sp>
      <p:sp>
        <p:nvSpPr>
          <p:cNvPr id="16" name="Text 13"/>
          <p:cNvSpPr txBox="1"/>
          <p:nvPr/>
        </p:nvSpPr>
        <p:spPr>
          <a:xfrm>
            <a:off x="868680" y="5440680"/>
            <a:ext cx="4754880" cy="411480"/>
          </a:xfrm>
          <a:prstGeom prst="rect">
            <a:avLst/>
          </a:prstGeom>
          <a:noFill/>
          <a:ln/>
        </p:spPr>
        <p:txBody>
          <a:bodyPr wrap="square" lIns="0" tIns="0" rIns="0" bIns="0" rtlCol="0" anchor="t"/>
          <a:lstStyle/>
          <a:p>
            <a:pPr indent="0" marL="0">
              <a:buNone/>
            </a:pPr>
            <a:r>
              <a:rPr lang="en-US" sz="1600" b="1" dirty="0">
                <a:solidFill>
                  <a:srgbClr val="F2CD83"/>
                </a:solidFill>
                <a:latin typeface="Calibri" pitchFamily="34" charset="0"/>
                <a:ea typeface="Calibri" pitchFamily="34" charset="-122"/>
                <a:cs typeface="Calibri" pitchFamily="34" charset="-120"/>
              </a:rPr>
              <a:t>In hospital: </a:t>
            </a:r>
            <a:pPr indent="0" marL="0">
              <a:buNone/>
            </a:pPr>
            <a:r>
              <a:rPr lang="en-US" sz="1600" dirty="0">
                <a:solidFill>
                  <a:srgbClr val="EFE4D2"/>
                </a:solidFill>
                <a:latin typeface="Calibri" pitchFamily="34" charset="0"/>
                <a:ea typeface="Calibri" pitchFamily="34" charset="-122"/>
                <a:cs typeface="Calibri" pitchFamily="34" charset="-120"/>
              </a:rPr>
              <a:t>2 + 30 + 10 + 3 = about 45 min</a:t>
            </a:r>
            <a:endParaRPr lang="en-US" sz="1600" dirty="0"/>
          </a:p>
        </p:txBody>
      </p:sp>
      <p:sp>
        <p:nvSpPr>
          <p:cNvPr id="17" name="Shape 14"/>
          <p:cNvSpPr/>
          <p:nvPr/>
        </p:nvSpPr>
        <p:spPr>
          <a:xfrm>
            <a:off x="7196328" y="292608"/>
            <a:ext cx="4425696" cy="6318504"/>
          </a:xfrm>
          <a:prstGeom prst="rect">
            <a:avLst/>
          </a:prstGeom>
          <a:solidFill>
            <a:srgbClr val="FFFFFF"/>
          </a:solidFill>
          <a:ln w="12700">
            <a:solidFill>
              <a:srgbClr val="C8923C"/>
            </a:solidFill>
            <a:prstDash val="solid"/>
          </a:ln>
          <a:effectLst>
            <a:outerShdw sx="100000" sy="100000" kx="0" ky="0" algn="bl" rotWithShape="0" blurRad="152400" dist="50800" dir="5400000">
              <a:srgbClr val="000000">
                <a:alpha val="50000"/>
              </a:srgbClr>
            </a:outerShdw>
          </a:effectLst>
        </p:spPr>
      </p:sp>
      <p:pic>
        <p:nvPicPr>
          <p:cNvPr id="18" name="Image 1" descr="/tmp/claude-0/-home-claude/ec2d526d-e7c1-5103-86bf-9f4a5b94cdd1/scratchpad/Enhanced_Workflow_Flowchart.png">    </p:cNvPr>
          <p:cNvPicPr>
            <a:picLocks noChangeAspect="1"/>
          </p:cNvPicPr>
          <p:nvPr/>
        </p:nvPicPr>
        <p:blipFill>
          <a:blip r:embed="rId2"/>
          <a:stretch>
            <a:fillRect/>
          </a:stretch>
        </p:blipFill>
        <p:spPr>
          <a:xfrm>
            <a:off x="7269480" y="365760"/>
            <a:ext cx="4279392" cy="6172200"/>
          </a:xfrm>
          <a:prstGeom prst="rect">
            <a:avLst/>
          </a:prstGeom>
        </p:spPr>
      </p:pic>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A08"/>
        </a:solidFill>
      </p:bgPr>
    </p:bg>
    <p:spTree>
      <p:nvGrpSpPr>
        <p:cNvPr id="1" name=""/>
        <p:cNvGrpSpPr/>
        <p:nvPr/>
      </p:nvGrpSpPr>
      <p:grpSpPr>
        <a:xfrm>
          <a:off x="0" y="0"/>
          <a:ext cx="0" cy="0"/>
          <a:chOff x="0" y="0"/>
          <a:chExt cx="0" cy="0"/>
        </a:xfrm>
      </p:grpSpPr>
      <p:pic>
        <p:nvPicPr>
          <p:cNvPr id="2" name="Image 0" descr="bg/cente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15</a:t>
            </a:r>
            <a:endParaRPr lang="en-US" sz="900" dirty="0"/>
          </a:p>
        </p:txBody>
      </p:sp>
      <p:sp>
        <p:nvSpPr>
          <p:cNvPr id="4" name="Text 1"/>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RESULTS</a:t>
            </a:r>
            <a:endParaRPr lang="en-US" sz="1200" dirty="0"/>
          </a:p>
        </p:txBody>
      </p:sp>
      <p:sp>
        <p:nvSpPr>
          <p:cNvPr id="5" name="Text 2"/>
          <p:cNvSpPr txBox="1"/>
          <p:nvPr/>
        </p:nvSpPr>
        <p:spPr>
          <a:xfrm>
            <a:off x="640080" y="868680"/>
            <a:ext cx="10515600" cy="91440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From 200 minutes to </a:t>
            </a:r>
            <a:pPr indent="0" marL="0">
              <a:buNone/>
            </a:pPr>
            <a:r>
              <a:rPr lang="en-US" sz="3800" b="1" i="1" dirty="0">
                <a:solidFill>
                  <a:srgbClr val="F2CD83"/>
                </a:solidFill>
                <a:latin typeface="Cambria" pitchFamily="34" charset="0"/>
                <a:ea typeface="Cambria" pitchFamily="34" charset="-122"/>
                <a:cs typeface="Cambria" pitchFamily="34" charset="-120"/>
              </a:rPr>
              <a:t>45</a:t>
            </a:r>
            <a:endParaRPr lang="en-US" sz="3800" dirty="0"/>
          </a:p>
        </p:txBody>
      </p:sp>
      <p:sp>
        <p:nvSpPr>
          <p:cNvPr id="6" name="Text 3"/>
          <p:cNvSpPr txBox="1"/>
          <p:nvPr/>
        </p:nvSpPr>
        <p:spPr>
          <a:xfrm>
            <a:off x="640080" y="1920240"/>
            <a:ext cx="2103120" cy="1005840"/>
          </a:xfrm>
          <a:prstGeom prst="rect">
            <a:avLst/>
          </a:prstGeom>
          <a:noFill/>
          <a:ln/>
        </p:spPr>
        <p:txBody>
          <a:bodyPr wrap="square" lIns="0" tIns="0" rIns="0" bIns="0" rtlCol="0" anchor="t"/>
          <a:lstStyle/>
          <a:p>
            <a:pPr indent="0" marL="0">
              <a:buNone/>
            </a:pPr>
            <a:r>
              <a:rPr lang="en-US" sz="6400" b="1" i="1" dirty="0">
                <a:solidFill>
                  <a:srgbClr val="F2CD83"/>
                </a:solidFill>
                <a:latin typeface="Cambria" pitchFamily="34" charset="0"/>
                <a:ea typeface="Cambria" pitchFamily="34" charset="-122"/>
                <a:cs typeface="Cambria" pitchFamily="34" charset="-120"/>
              </a:rPr>
              <a:t>45</a:t>
            </a:r>
            <a:pPr indent="0" marL="0">
              <a:buNone/>
            </a:pPr>
            <a:r>
              <a:rPr lang="en-US" sz="2400" b="1" i="1" dirty="0">
                <a:solidFill>
                  <a:srgbClr val="A89A86"/>
                </a:solidFill>
                <a:latin typeface="Cambria" pitchFamily="34" charset="0"/>
                <a:ea typeface="Cambria" pitchFamily="34" charset="-122"/>
                <a:cs typeface="Cambria" pitchFamily="34" charset="-120"/>
              </a:rPr>
              <a:t>min</a:t>
            </a:r>
            <a:endParaRPr lang="en-US" sz="6400" dirty="0"/>
          </a:p>
        </p:txBody>
      </p:sp>
      <p:sp>
        <p:nvSpPr>
          <p:cNvPr id="7" name="Text 4"/>
          <p:cNvSpPr txBox="1"/>
          <p:nvPr/>
        </p:nvSpPr>
        <p:spPr>
          <a:xfrm>
            <a:off x="640080" y="2971800"/>
            <a:ext cx="2011680" cy="320040"/>
          </a:xfrm>
          <a:prstGeom prst="rect">
            <a:avLst/>
          </a:prstGeom>
          <a:noFill/>
          <a:ln/>
        </p:spPr>
        <p:txBody>
          <a:bodyPr wrap="square" lIns="0" tIns="0" rIns="0" bIns="0" rtlCol="0" anchor="t"/>
          <a:lstStyle/>
          <a:p>
            <a:pPr indent="0" marL="0">
              <a:buNone/>
            </a:pPr>
            <a:r>
              <a:rPr lang="en-US" sz="1400" b="1" dirty="0">
                <a:solidFill>
                  <a:srgbClr val="EFE4D2"/>
                </a:solidFill>
                <a:latin typeface="Calibri" pitchFamily="34" charset="0"/>
                <a:ea typeface="Calibri" pitchFamily="34" charset="-122"/>
                <a:cs typeface="Calibri" pitchFamily="34" charset="-120"/>
              </a:rPr>
              <a:t>on a normal day</a:t>
            </a:r>
            <a:endParaRPr lang="en-US" sz="1400" dirty="0"/>
          </a:p>
        </p:txBody>
      </p:sp>
      <p:sp>
        <p:nvSpPr>
          <p:cNvPr id="8" name="Text 5"/>
          <p:cNvSpPr txBox="1"/>
          <p:nvPr/>
        </p:nvSpPr>
        <p:spPr>
          <a:xfrm>
            <a:off x="640080" y="3291840"/>
            <a:ext cx="2011680" cy="320040"/>
          </a:xfrm>
          <a:prstGeom prst="rect">
            <a:avLst/>
          </a:prstGeom>
          <a:noFill/>
          <a:ln/>
        </p:spPr>
        <p:txBody>
          <a:bodyPr wrap="square" lIns="0" tIns="0" rIns="0" bIns="0" rtlCol="0" anchor="t"/>
          <a:lstStyle/>
          <a:p>
            <a:pPr indent="0" marL="0">
              <a:buNone/>
            </a:pPr>
            <a:r>
              <a:rPr lang="en-US" sz="1300" dirty="0">
                <a:solidFill>
                  <a:srgbClr val="A89A86"/>
                </a:solidFill>
                <a:latin typeface="Calibri" pitchFamily="34" charset="0"/>
                <a:ea typeface="Calibri" pitchFamily="34" charset="-122"/>
                <a:cs typeface="Calibri" pitchFamily="34" charset="-120"/>
              </a:rPr>
              <a:t>down from 200</a:t>
            </a:r>
            <a:endParaRPr lang="en-US" sz="1300" dirty="0"/>
          </a:p>
        </p:txBody>
      </p:sp>
      <p:sp>
        <p:nvSpPr>
          <p:cNvPr id="9" name="Text 6"/>
          <p:cNvSpPr txBox="1"/>
          <p:nvPr/>
        </p:nvSpPr>
        <p:spPr>
          <a:xfrm>
            <a:off x="2788920" y="1920240"/>
            <a:ext cx="2103120" cy="1005840"/>
          </a:xfrm>
          <a:prstGeom prst="rect">
            <a:avLst/>
          </a:prstGeom>
          <a:noFill/>
          <a:ln/>
        </p:spPr>
        <p:txBody>
          <a:bodyPr wrap="square" lIns="0" tIns="0" rIns="0" bIns="0" rtlCol="0" anchor="t"/>
          <a:lstStyle/>
          <a:p>
            <a:pPr indent="0" marL="0">
              <a:buNone/>
            </a:pPr>
            <a:r>
              <a:rPr lang="en-US" sz="6400" b="1" i="1" dirty="0">
                <a:solidFill>
                  <a:srgbClr val="F2CD83"/>
                </a:solidFill>
                <a:latin typeface="Cambria" pitchFamily="34" charset="0"/>
                <a:ea typeface="Cambria" pitchFamily="34" charset="-122"/>
                <a:cs typeface="Cambria" pitchFamily="34" charset="-120"/>
              </a:rPr>
              <a:t>55</a:t>
            </a:r>
            <a:pPr indent="0" marL="0">
              <a:buNone/>
            </a:pPr>
            <a:r>
              <a:rPr lang="en-US" sz="2400" b="1" i="1" dirty="0">
                <a:solidFill>
                  <a:srgbClr val="A89A86"/>
                </a:solidFill>
                <a:latin typeface="Cambria" pitchFamily="34" charset="0"/>
                <a:ea typeface="Cambria" pitchFamily="34" charset="-122"/>
                <a:cs typeface="Cambria" pitchFamily="34" charset="-120"/>
              </a:rPr>
              <a:t>min</a:t>
            </a:r>
            <a:endParaRPr lang="en-US" sz="6400" dirty="0"/>
          </a:p>
        </p:txBody>
      </p:sp>
      <p:sp>
        <p:nvSpPr>
          <p:cNvPr id="10" name="Text 7"/>
          <p:cNvSpPr txBox="1"/>
          <p:nvPr/>
        </p:nvSpPr>
        <p:spPr>
          <a:xfrm>
            <a:off x="2788920" y="2971800"/>
            <a:ext cx="2011680" cy="320040"/>
          </a:xfrm>
          <a:prstGeom prst="rect">
            <a:avLst/>
          </a:prstGeom>
          <a:noFill/>
          <a:ln/>
        </p:spPr>
        <p:txBody>
          <a:bodyPr wrap="square" lIns="0" tIns="0" rIns="0" bIns="0" rtlCol="0" anchor="t"/>
          <a:lstStyle/>
          <a:p>
            <a:pPr indent="0" marL="0">
              <a:buNone/>
            </a:pPr>
            <a:r>
              <a:rPr lang="en-US" sz="1400" b="1" dirty="0">
                <a:solidFill>
                  <a:srgbClr val="EFE4D2"/>
                </a:solidFill>
                <a:latin typeface="Calibri" pitchFamily="34" charset="0"/>
                <a:ea typeface="Calibri" pitchFamily="34" charset="-122"/>
                <a:cs typeface="Calibri" pitchFamily="34" charset="-120"/>
              </a:rPr>
              <a:t>on a busy day</a:t>
            </a:r>
            <a:endParaRPr lang="en-US" sz="1400" dirty="0"/>
          </a:p>
        </p:txBody>
      </p:sp>
      <p:sp>
        <p:nvSpPr>
          <p:cNvPr id="11" name="Text 8"/>
          <p:cNvSpPr txBox="1"/>
          <p:nvPr/>
        </p:nvSpPr>
        <p:spPr>
          <a:xfrm>
            <a:off x="2788920" y="3291840"/>
            <a:ext cx="2011680" cy="320040"/>
          </a:xfrm>
          <a:prstGeom prst="rect">
            <a:avLst/>
          </a:prstGeom>
          <a:noFill/>
          <a:ln/>
        </p:spPr>
        <p:txBody>
          <a:bodyPr wrap="square" lIns="0" tIns="0" rIns="0" bIns="0" rtlCol="0" anchor="t"/>
          <a:lstStyle/>
          <a:p>
            <a:pPr indent="0" marL="0">
              <a:buNone/>
            </a:pPr>
            <a:r>
              <a:rPr lang="en-US" sz="1300" dirty="0">
                <a:solidFill>
                  <a:srgbClr val="A89A86"/>
                </a:solidFill>
                <a:latin typeface="Calibri" pitchFamily="34" charset="0"/>
                <a:ea typeface="Calibri" pitchFamily="34" charset="-122"/>
                <a:cs typeface="Calibri" pitchFamily="34" charset="-120"/>
              </a:rPr>
              <a:t>down from 290</a:t>
            </a:r>
            <a:endParaRPr lang="en-US" sz="1300" dirty="0"/>
          </a:p>
        </p:txBody>
      </p:sp>
      <p:sp>
        <p:nvSpPr>
          <p:cNvPr id="12" name="Text 9"/>
          <p:cNvSpPr txBox="1"/>
          <p:nvPr/>
        </p:nvSpPr>
        <p:spPr>
          <a:xfrm>
            <a:off x="4937760" y="1920240"/>
            <a:ext cx="2103120" cy="1005840"/>
          </a:xfrm>
          <a:prstGeom prst="rect">
            <a:avLst/>
          </a:prstGeom>
          <a:noFill/>
          <a:ln/>
        </p:spPr>
        <p:txBody>
          <a:bodyPr wrap="square" lIns="0" tIns="0" rIns="0" bIns="0" rtlCol="0" anchor="t"/>
          <a:lstStyle/>
          <a:p>
            <a:pPr indent="0" marL="0">
              <a:buNone/>
            </a:pPr>
            <a:r>
              <a:rPr lang="en-US" sz="6400" b="1" i="1" dirty="0">
                <a:solidFill>
                  <a:srgbClr val="F2CD83"/>
                </a:solidFill>
                <a:latin typeface="Cambria" pitchFamily="34" charset="0"/>
                <a:ea typeface="Cambria" pitchFamily="34" charset="-122"/>
                <a:cs typeface="Cambria" pitchFamily="34" charset="-120"/>
              </a:rPr>
              <a:t>78</a:t>
            </a:r>
            <a:pPr indent="0" marL="0">
              <a:buNone/>
            </a:pPr>
            <a:r>
              <a:rPr lang="en-US" sz="2400" b="1" i="1" dirty="0">
                <a:solidFill>
                  <a:srgbClr val="A89A86"/>
                </a:solidFill>
                <a:latin typeface="Cambria" pitchFamily="34" charset="0"/>
                <a:ea typeface="Cambria" pitchFamily="34" charset="-122"/>
                <a:cs typeface="Cambria" pitchFamily="34" charset="-120"/>
              </a:rPr>
              <a:t>%</a:t>
            </a:r>
            <a:endParaRPr lang="en-US" sz="6400" dirty="0"/>
          </a:p>
        </p:txBody>
      </p:sp>
      <p:sp>
        <p:nvSpPr>
          <p:cNvPr id="13" name="Text 10"/>
          <p:cNvSpPr txBox="1"/>
          <p:nvPr/>
        </p:nvSpPr>
        <p:spPr>
          <a:xfrm>
            <a:off x="4937760" y="2971800"/>
            <a:ext cx="2011680" cy="320040"/>
          </a:xfrm>
          <a:prstGeom prst="rect">
            <a:avLst/>
          </a:prstGeom>
          <a:noFill/>
          <a:ln/>
        </p:spPr>
        <p:txBody>
          <a:bodyPr wrap="square" lIns="0" tIns="0" rIns="0" bIns="0" rtlCol="0" anchor="t"/>
          <a:lstStyle/>
          <a:p>
            <a:pPr indent="0" marL="0">
              <a:buNone/>
            </a:pPr>
            <a:r>
              <a:rPr lang="en-US" sz="1400" b="1" dirty="0">
                <a:solidFill>
                  <a:srgbClr val="EFE4D2"/>
                </a:solidFill>
                <a:latin typeface="Calibri" pitchFamily="34" charset="0"/>
                <a:ea typeface="Calibri" pitchFamily="34" charset="-122"/>
                <a:cs typeface="Calibri" pitchFamily="34" charset="-120"/>
              </a:rPr>
              <a:t>less time in hospital</a:t>
            </a:r>
            <a:endParaRPr lang="en-US" sz="1400" dirty="0"/>
          </a:p>
        </p:txBody>
      </p:sp>
      <p:sp>
        <p:nvSpPr>
          <p:cNvPr id="14" name="Text 11"/>
          <p:cNvSpPr txBox="1"/>
          <p:nvPr/>
        </p:nvSpPr>
        <p:spPr>
          <a:xfrm>
            <a:off x="4937760" y="3291840"/>
            <a:ext cx="2011680" cy="320040"/>
          </a:xfrm>
          <a:prstGeom prst="rect">
            <a:avLst/>
          </a:prstGeom>
          <a:noFill/>
          <a:ln/>
        </p:spPr>
        <p:txBody>
          <a:bodyPr wrap="square" lIns="0" tIns="0" rIns="0" bIns="0" rtlCol="0" anchor="t"/>
          <a:lstStyle/>
          <a:p>
            <a:pPr indent="0" marL="0">
              <a:buNone/>
            </a:pPr>
            <a:r>
              <a:rPr lang="en-US" sz="1300" dirty="0">
                <a:solidFill>
                  <a:srgbClr val="A89A86"/>
                </a:solidFill>
                <a:latin typeface="Calibri" pitchFamily="34" charset="0"/>
                <a:ea typeface="Calibri" pitchFamily="34" charset="-122"/>
                <a:cs typeface="Calibri" pitchFamily="34" charset="-120"/>
              </a:rPr>
              <a:t>on a normal day</a:t>
            </a:r>
            <a:endParaRPr lang="en-US" sz="1300" dirty="0"/>
          </a:p>
        </p:txBody>
      </p:sp>
      <p:sp>
        <p:nvSpPr>
          <p:cNvPr id="15" name="Text 12"/>
          <p:cNvSpPr txBox="1"/>
          <p:nvPr/>
        </p:nvSpPr>
        <p:spPr>
          <a:xfrm>
            <a:off x="640080" y="3977640"/>
            <a:ext cx="5943600" cy="320040"/>
          </a:xfrm>
          <a:prstGeom prst="rect">
            <a:avLst/>
          </a:prstGeom>
          <a:noFill/>
          <a:ln/>
        </p:spPr>
        <p:txBody>
          <a:bodyPr wrap="square" lIns="0" tIns="0" rIns="0" bIns="0" rtlCol="0" anchor="t"/>
          <a:lstStyle/>
          <a:p>
            <a:pPr indent="0" marL="0">
              <a:buNone/>
            </a:pPr>
            <a:r>
              <a:rPr lang="en-US" sz="1500" b="1" dirty="0">
                <a:solidFill>
                  <a:srgbClr val="A89A86"/>
                </a:solidFill>
                <a:latin typeface="Calibri" pitchFamily="34" charset="0"/>
                <a:ea typeface="Calibri" pitchFamily="34" charset="-122"/>
                <a:cs typeface="Calibri" pitchFamily="34" charset="-120"/>
              </a:rPr>
              <a:t>Where the time is saved</a:t>
            </a:r>
            <a:endParaRPr lang="en-US" sz="1500" dirty="0"/>
          </a:p>
        </p:txBody>
      </p:sp>
      <p:sp>
        <p:nvSpPr>
          <p:cNvPr id="16" name="Text 13"/>
          <p:cNvSpPr txBox="1"/>
          <p:nvPr/>
        </p:nvSpPr>
        <p:spPr>
          <a:xfrm>
            <a:off x="640080" y="4389120"/>
            <a:ext cx="1737360" cy="274320"/>
          </a:xfrm>
          <a:prstGeom prst="rect">
            <a:avLst/>
          </a:prstGeom>
          <a:noFill/>
          <a:ln/>
        </p:spPr>
        <p:txBody>
          <a:bodyPr wrap="square" lIns="0" tIns="0" rIns="0" bIns="0" rtlCol="0" anchor="t"/>
          <a:lstStyle/>
          <a:p>
            <a:pPr indent="0" marL="0">
              <a:buNone/>
            </a:pPr>
            <a:r>
              <a:rPr lang="en-US" sz="1200" dirty="0">
                <a:solidFill>
                  <a:srgbClr val="EFE4D2"/>
                </a:solidFill>
                <a:latin typeface="Calibri" pitchFamily="34" charset="0"/>
                <a:ea typeface="Calibri" pitchFamily="34" charset="-122"/>
                <a:cs typeface="Calibri" pitchFamily="34" charset="-120"/>
              </a:rPr>
              <a:t>Registration</a:t>
            </a:r>
            <a:endParaRPr lang="en-US" sz="1200" dirty="0"/>
          </a:p>
        </p:txBody>
      </p:sp>
      <p:sp>
        <p:nvSpPr>
          <p:cNvPr id="17" name="Shape 14"/>
          <p:cNvSpPr/>
          <p:nvPr/>
        </p:nvSpPr>
        <p:spPr>
          <a:xfrm>
            <a:off x="2423160" y="4416552"/>
            <a:ext cx="822960" cy="109728"/>
          </a:xfrm>
          <a:prstGeom prst="rect">
            <a:avLst/>
          </a:prstGeom>
          <a:solidFill>
            <a:srgbClr val="4A3E33"/>
          </a:solidFill>
          <a:ln w="12700">
            <a:solidFill>
              <a:srgbClr val="4A3E33"/>
            </a:solidFill>
            <a:prstDash val="solid"/>
          </a:ln>
        </p:spPr>
      </p:sp>
      <p:sp>
        <p:nvSpPr>
          <p:cNvPr id="18" name="Shape 15"/>
          <p:cNvSpPr/>
          <p:nvPr/>
        </p:nvSpPr>
        <p:spPr>
          <a:xfrm>
            <a:off x="2423160" y="4535424"/>
            <a:ext cx="82296" cy="109728"/>
          </a:xfrm>
          <a:prstGeom prst="rect">
            <a:avLst/>
          </a:prstGeom>
          <a:solidFill>
            <a:srgbClr val="F2CD83"/>
          </a:solidFill>
          <a:ln w="12700">
            <a:solidFill>
              <a:srgbClr val="F2CD83"/>
            </a:solidFill>
            <a:prstDash val="solid"/>
          </a:ln>
        </p:spPr>
      </p:sp>
      <p:sp>
        <p:nvSpPr>
          <p:cNvPr id="19" name="Text 16"/>
          <p:cNvSpPr txBox="1"/>
          <p:nvPr/>
        </p:nvSpPr>
        <p:spPr>
          <a:xfrm>
            <a:off x="5646420" y="4389120"/>
            <a:ext cx="1280160" cy="27432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20 → 2 min</a:t>
            </a:r>
            <a:endParaRPr lang="en-US" sz="1200" dirty="0"/>
          </a:p>
        </p:txBody>
      </p:sp>
      <p:sp>
        <p:nvSpPr>
          <p:cNvPr id="20" name="Text 17"/>
          <p:cNvSpPr txBox="1"/>
          <p:nvPr/>
        </p:nvSpPr>
        <p:spPr>
          <a:xfrm>
            <a:off x="640080" y="4718304"/>
            <a:ext cx="1737360" cy="274320"/>
          </a:xfrm>
          <a:prstGeom prst="rect">
            <a:avLst/>
          </a:prstGeom>
          <a:noFill/>
          <a:ln/>
        </p:spPr>
        <p:txBody>
          <a:bodyPr wrap="square" lIns="0" tIns="0" rIns="0" bIns="0" rtlCol="0" anchor="t"/>
          <a:lstStyle/>
          <a:p>
            <a:pPr indent="0" marL="0">
              <a:buNone/>
            </a:pPr>
            <a:r>
              <a:rPr lang="en-US" sz="1200" dirty="0">
                <a:solidFill>
                  <a:srgbClr val="EFE4D2"/>
                </a:solidFill>
                <a:latin typeface="Calibri" pitchFamily="34" charset="0"/>
                <a:ea typeface="Calibri" pitchFamily="34" charset="-122"/>
                <a:cs typeface="Calibri" pitchFamily="34" charset="-120"/>
              </a:rPr>
              <a:t>Queues &amp; triage</a:t>
            </a:r>
            <a:endParaRPr lang="en-US" sz="1200" dirty="0"/>
          </a:p>
        </p:txBody>
      </p:sp>
      <p:sp>
        <p:nvSpPr>
          <p:cNvPr id="21" name="Shape 18"/>
          <p:cNvSpPr/>
          <p:nvPr/>
        </p:nvSpPr>
        <p:spPr>
          <a:xfrm>
            <a:off x="2423160" y="4745736"/>
            <a:ext cx="3086100" cy="109728"/>
          </a:xfrm>
          <a:prstGeom prst="rect">
            <a:avLst/>
          </a:prstGeom>
          <a:solidFill>
            <a:srgbClr val="4A3E33"/>
          </a:solidFill>
          <a:ln w="12700">
            <a:solidFill>
              <a:srgbClr val="4A3E33"/>
            </a:solidFill>
            <a:prstDash val="solid"/>
          </a:ln>
        </p:spPr>
      </p:sp>
      <p:sp>
        <p:nvSpPr>
          <p:cNvPr id="22" name="Shape 19"/>
          <p:cNvSpPr/>
          <p:nvPr/>
        </p:nvSpPr>
        <p:spPr>
          <a:xfrm>
            <a:off x="2423160" y="4864608"/>
            <a:ext cx="1234440" cy="109728"/>
          </a:xfrm>
          <a:prstGeom prst="rect">
            <a:avLst/>
          </a:prstGeom>
          <a:solidFill>
            <a:srgbClr val="F2CD83"/>
          </a:solidFill>
          <a:ln w="12700">
            <a:solidFill>
              <a:srgbClr val="F2CD83"/>
            </a:solidFill>
            <a:prstDash val="solid"/>
          </a:ln>
        </p:spPr>
      </p:sp>
      <p:sp>
        <p:nvSpPr>
          <p:cNvPr id="23" name="Text 20"/>
          <p:cNvSpPr txBox="1"/>
          <p:nvPr/>
        </p:nvSpPr>
        <p:spPr>
          <a:xfrm>
            <a:off x="5646420" y="4718304"/>
            <a:ext cx="1280160" cy="27432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75 → 30 min</a:t>
            </a:r>
            <a:endParaRPr lang="en-US" sz="1200" dirty="0"/>
          </a:p>
        </p:txBody>
      </p:sp>
      <p:sp>
        <p:nvSpPr>
          <p:cNvPr id="24" name="Text 21"/>
          <p:cNvSpPr txBox="1"/>
          <p:nvPr/>
        </p:nvSpPr>
        <p:spPr>
          <a:xfrm>
            <a:off x="640080" y="5047488"/>
            <a:ext cx="1737360" cy="274320"/>
          </a:xfrm>
          <a:prstGeom prst="rect">
            <a:avLst/>
          </a:prstGeom>
          <a:noFill/>
          <a:ln/>
        </p:spPr>
        <p:txBody>
          <a:bodyPr wrap="square" lIns="0" tIns="0" rIns="0" bIns="0" rtlCol="0" anchor="t"/>
          <a:lstStyle/>
          <a:p>
            <a:pPr indent="0" marL="0">
              <a:buNone/>
            </a:pPr>
            <a:r>
              <a:rPr lang="en-US" sz="1200" dirty="0">
                <a:solidFill>
                  <a:srgbClr val="EFE4D2"/>
                </a:solidFill>
                <a:latin typeface="Calibri" pitchFamily="34" charset="0"/>
                <a:ea typeface="Calibri" pitchFamily="34" charset="-122"/>
                <a:cs typeface="Calibri" pitchFamily="34" charset="-120"/>
              </a:rPr>
              <a:t>Doctor time</a:t>
            </a:r>
            <a:endParaRPr lang="en-US" sz="1200" dirty="0"/>
          </a:p>
        </p:txBody>
      </p:sp>
      <p:sp>
        <p:nvSpPr>
          <p:cNvPr id="25" name="Shape 22"/>
          <p:cNvSpPr/>
          <p:nvPr/>
        </p:nvSpPr>
        <p:spPr>
          <a:xfrm>
            <a:off x="2423160" y="5074920"/>
            <a:ext cx="617220" cy="109728"/>
          </a:xfrm>
          <a:prstGeom prst="rect">
            <a:avLst/>
          </a:prstGeom>
          <a:solidFill>
            <a:srgbClr val="4A3E33"/>
          </a:solidFill>
          <a:ln w="12700">
            <a:solidFill>
              <a:srgbClr val="4A3E33"/>
            </a:solidFill>
            <a:prstDash val="solid"/>
          </a:ln>
        </p:spPr>
      </p:sp>
      <p:sp>
        <p:nvSpPr>
          <p:cNvPr id="26" name="Shape 23"/>
          <p:cNvSpPr/>
          <p:nvPr/>
        </p:nvSpPr>
        <p:spPr>
          <a:xfrm>
            <a:off x="2423160" y="5193792"/>
            <a:ext cx="411480" cy="109728"/>
          </a:xfrm>
          <a:prstGeom prst="rect">
            <a:avLst/>
          </a:prstGeom>
          <a:solidFill>
            <a:srgbClr val="F2CD83"/>
          </a:solidFill>
          <a:ln w="12700">
            <a:solidFill>
              <a:srgbClr val="F2CD83"/>
            </a:solidFill>
            <a:prstDash val="solid"/>
          </a:ln>
        </p:spPr>
      </p:sp>
      <p:sp>
        <p:nvSpPr>
          <p:cNvPr id="27" name="Text 24"/>
          <p:cNvSpPr txBox="1"/>
          <p:nvPr/>
        </p:nvSpPr>
        <p:spPr>
          <a:xfrm>
            <a:off x="5646420" y="5047488"/>
            <a:ext cx="1280160" cy="27432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15 → 10 min</a:t>
            </a:r>
            <a:endParaRPr lang="en-US" sz="1200" dirty="0"/>
          </a:p>
        </p:txBody>
      </p:sp>
      <p:sp>
        <p:nvSpPr>
          <p:cNvPr id="28" name="Text 25"/>
          <p:cNvSpPr txBox="1"/>
          <p:nvPr/>
        </p:nvSpPr>
        <p:spPr>
          <a:xfrm>
            <a:off x="640080" y="5376672"/>
            <a:ext cx="1737360" cy="274320"/>
          </a:xfrm>
          <a:prstGeom prst="rect">
            <a:avLst/>
          </a:prstGeom>
          <a:noFill/>
          <a:ln/>
        </p:spPr>
        <p:txBody>
          <a:bodyPr wrap="square" lIns="0" tIns="0" rIns="0" bIns="0" rtlCol="0" anchor="t"/>
          <a:lstStyle/>
          <a:p>
            <a:pPr indent="0" marL="0">
              <a:buNone/>
            </a:pPr>
            <a:r>
              <a:rPr lang="en-US" sz="1200" dirty="0">
                <a:solidFill>
                  <a:srgbClr val="EFE4D2"/>
                </a:solidFill>
                <a:latin typeface="Calibri" pitchFamily="34" charset="0"/>
                <a:ea typeface="Calibri" pitchFamily="34" charset="-122"/>
                <a:cs typeface="Calibri" pitchFamily="34" charset="-120"/>
              </a:rPr>
              <a:t>Separate test trip</a:t>
            </a:r>
            <a:endParaRPr lang="en-US" sz="1200" dirty="0"/>
          </a:p>
        </p:txBody>
      </p:sp>
      <p:sp>
        <p:nvSpPr>
          <p:cNvPr id="29" name="Shape 26"/>
          <p:cNvSpPr/>
          <p:nvPr/>
        </p:nvSpPr>
        <p:spPr>
          <a:xfrm>
            <a:off x="2423160" y="5404104"/>
            <a:ext cx="2674620" cy="109728"/>
          </a:xfrm>
          <a:prstGeom prst="rect">
            <a:avLst/>
          </a:prstGeom>
          <a:solidFill>
            <a:srgbClr val="4A3E33"/>
          </a:solidFill>
          <a:ln w="12700">
            <a:solidFill>
              <a:srgbClr val="4A3E33"/>
            </a:solidFill>
            <a:prstDash val="solid"/>
          </a:ln>
        </p:spPr>
      </p:sp>
      <p:sp>
        <p:nvSpPr>
          <p:cNvPr id="30" name="Text 27"/>
          <p:cNvSpPr txBox="1"/>
          <p:nvPr/>
        </p:nvSpPr>
        <p:spPr>
          <a:xfrm>
            <a:off x="5646420" y="5376672"/>
            <a:ext cx="1280160" cy="27432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65 → 0 min</a:t>
            </a:r>
            <a:endParaRPr lang="en-US" sz="1200" dirty="0"/>
          </a:p>
        </p:txBody>
      </p:sp>
      <p:sp>
        <p:nvSpPr>
          <p:cNvPr id="31" name="Text 28"/>
          <p:cNvSpPr txBox="1"/>
          <p:nvPr/>
        </p:nvSpPr>
        <p:spPr>
          <a:xfrm>
            <a:off x="640080" y="5705856"/>
            <a:ext cx="1737360" cy="274320"/>
          </a:xfrm>
          <a:prstGeom prst="rect">
            <a:avLst/>
          </a:prstGeom>
          <a:noFill/>
          <a:ln/>
        </p:spPr>
        <p:txBody>
          <a:bodyPr wrap="square" lIns="0" tIns="0" rIns="0" bIns="0" rtlCol="0" anchor="t"/>
          <a:lstStyle/>
          <a:p>
            <a:pPr indent="0" marL="0">
              <a:buNone/>
            </a:pPr>
            <a:r>
              <a:rPr lang="en-US" sz="1200" dirty="0">
                <a:solidFill>
                  <a:srgbClr val="EFE4D2"/>
                </a:solidFill>
                <a:latin typeface="Calibri" pitchFamily="34" charset="0"/>
                <a:ea typeface="Calibri" pitchFamily="34" charset="-122"/>
                <a:cs typeface="Calibri" pitchFamily="34" charset="-120"/>
              </a:rPr>
              <a:t>Discharge</a:t>
            </a:r>
            <a:endParaRPr lang="en-US" sz="1200" dirty="0"/>
          </a:p>
        </p:txBody>
      </p:sp>
      <p:sp>
        <p:nvSpPr>
          <p:cNvPr id="32" name="Shape 29"/>
          <p:cNvSpPr/>
          <p:nvPr/>
        </p:nvSpPr>
        <p:spPr>
          <a:xfrm>
            <a:off x="2423160" y="5733288"/>
            <a:ext cx="1028700" cy="109728"/>
          </a:xfrm>
          <a:prstGeom prst="rect">
            <a:avLst/>
          </a:prstGeom>
          <a:solidFill>
            <a:srgbClr val="4A3E33"/>
          </a:solidFill>
          <a:ln w="12700">
            <a:solidFill>
              <a:srgbClr val="4A3E33"/>
            </a:solidFill>
            <a:prstDash val="solid"/>
          </a:ln>
        </p:spPr>
      </p:sp>
      <p:sp>
        <p:nvSpPr>
          <p:cNvPr id="33" name="Shape 30"/>
          <p:cNvSpPr/>
          <p:nvPr/>
        </p:nvSpPr>
        <p:spPr>
          <a:xfrm>
            <a:off x="2423160" y="5852160"/>
            <a:ext cx="123444" cy="109728"/>
          </a:xfrm>
          <a:prstGeom prst="rect">
            <a:avLst/>
          </a:prstGeom>
          <a:solidFill>
            <a:srgbClr val="F2CD83"/>
          </a:solidFill>
          <a:ln w="12700">
            <a:solidFill>
              <a:srgbClr val="F2CD83"/>
            </a:solidFill>
            <a:prstDash val="solid"/>
          </a:ln>
        </p:spPr>
      </p:sp>
      <p:sp>
        <p:nvSpPr>
          <p:cNvPr id="34" name="Text 31"/>
          <p:cNvSpPr txBox="1"/>
          <p:nvPr/>
        </p:nvSpPr>
        <p:spPr>
          <a:xfrm>
            <a:off x="5646420" y="5705856"/>
            <a:ext cx="1280160" cy="27432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25 → 3 min</a:t>
            </a:r>
            <a:endParaRPr lang="en-US" sz="1200" dirty="0"/>
          </a:p>
        </p:txBody>
      </p:sp>
      <p:sp>
        <p:nvSpPr>
          <p:cNvPr id="35" name="Shape 32"/>
          <p:cNvSpPr/>
          <p:nvPr/>
        </p:nvSpPr>
        <p:spPr>
          <a:xfrm>
            <a:off x="7223760" y="1920240"/>
            <a:ext cx="4297680" cy="4023360"/>
          </a:xfrm>
          <a:prstGeom prst="roundRect">
            <a:avLst>
              <a:gd name="adj" fmla="val 2727"/>
            </a:avLst>
          </a:prstGeom>
          <a:solidFill>
            <a:srgbClr val="1A1410"/>
          </a:solidFill>
          <a:ln w="12700">
            <a:solidFill>
              <a:srgbClr val="3A2F26"/>
            </a:solidFill>
            <a:prstDash val="solid"/>
          </a:ln>
        </p:spPr>
      </p:sp>
      <p:sp>
        <p:nvSpPr>
          <p:cNvPr id="36" name="Text 33"/>
          <p:cNvSpPr txBox="1"/>
          <p:nvPr/>
        </p:nvSpPr>
        <p:spPr>
          <a:xfrm>
            <a:off x="7498080" y="2148840"/>
            <a:ext cx="3840480" cy="411480"/>
          </a:xfrm>
          <a:prstGeom prst="rect">
            <a:avLst/>
          </a:prstGeom>
          <a:noFill/>
          <a:ln/>
        </p:spPr>
        <p:txBody>
          <a:bodyPr wrap="square" lIns="0" tIns="0" rIns="0" bIns="0" rtlCol="0" anchor="t"/>
          <a:lstStyle/>
          <a:p>
            <a:pPr indent="0" marL="0">
              <a:buNone/>
            </a:pPr>
            <a:r>
              <a:rPr lang="en-US" sz="2000" b="1" dirty="0">
                <a:solidFill>
                  <a:srgbClr val="F2CD83"/>
                </a:solidFill>
                <a:latin typeface="Cambria" pitchFamily="34" charset="0"/>
                <a:ea typeface="Cambria" pitchFamily="34" charset="-122"/>
                <a:cs typeface="Cambria" pitchFamily="34" charset="-120"/>
              </a:rPr>
              <a:t>Why busy days matter most</a:t>
            </a:r>
            <a:endParaRPr lang="en-US" sz="2000" dirty="0"/>
          </a:p>
        </p:txBody>
      </p:sp>
      <p:sp>
        <p:nvSpPr>
          <p:cNvPr id="37" name="Text 34"/>
          <p:cNvSpPr txBox="1"/>
          <p:nvPr/>
        </p:nvSpPr>
        <p:spPr>
          <a:xfrm>
            <a:off x="7498080" y="2697480"/>
            <a:ext cx="3840480" cy="292608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EFE4D2"/>
                </a:solidFill>
                <a:latin typeface="Calibri" pitchFamily="34" charset="0"/>
                <a:ea typeface="Calibri" pitchFamily="34" charset="-122"/>
                <a:cs typeface="Calibri" pitchFamily="34" charset="-120"/>
              </a:rPr>
              <a:t>Traditional hospitals get much slower when crowded (290 min).</a:t>
            </a:r>
            <a:endParaRPr lang="en-US" sz="1500" dirty="0"/>
          </a:p>
          <a:p>
            <a:pPr marL="342900" indent="-342900">
              <a:spcAft>
                <a:spcPts val="1200"/>
              </a:spcAft>
              <a:buSzPct val="100000"/>
              <a:buChar char="•"/>
            </a:pPr>
            <a:r>
              <a:rPr lang="en-US" sz="1500" dirty="0">
                <a:solidFill>
                  <a:srgbClr val="EFE4D2"/>
                </a:solidFill>
                <a:latin typeface="Calibri" pitchFamily="34" charset="0"/>
                <a:ea typeface="Calibri" pitchFamily="34" charset="-122"/>
                <a:cs typeface="Calibri" pitchFamily="34" charset="-120"/>
              </a:rPr>
              <a:t>Predictive planning puts more staff on duty before the rush.</a:t>
            </a:r>
            <a:endParaRPr lang="en-US" sz="1500" dirty="0"/>
          </a:p>
          <a:p>
            <a:pPr marL="342900" indent="-342900">
              <a:spcAft>
                <a:spcPts val="1200"/>
              </a:spcAft>
              <a:buSzPct val="100000"/>
              <a:buChar char="•"/>
            </a:pPr>
            <a:r>
              <a:rPr lang="en-US" sz="1500" dirty="0">
                <a:solidFill>
                  <a:srgbClr val="EFE4D2"/>
                </a:solidFill>
                <a:latin typeface="Calibri" pitchFamily="34" charset="0"/>
                <a:ea typeface="Calibri" pitchFamily="34" charset="-122"/>
                <a:cs typeface="Calibri" pitchFamily="34" charset="-120"/>
              </a:rPr>
              <a:t>So the enhanced flow only rises from 45 to 55 min.</a:t>
            </a:r>
            <a:endParaRPr lang="en-US" sz="1500" dirty="0"/>
          </a:p>
        </p:txBody>
      </p:sp>
      <p:sp>
        <p:nvSpPr>
          <p:cNvPr id="38" name="Text 35"/>
          <p:cNvSpPr txBox="1"/>
          <p:nvPr/>
        </p:nvSpPr>
        <p:spPr>
          <a:xfrm>
            <a:off x="640080" y="6080760"/>
            <a:ext cx="10058400" cy="228600"/>
          </a:xfrm>
          <a:prstGeom prst="rect">
            <a:avLst/>
          </a:prstGeom>
          <a:noFill/>
          <a:ln/>
        </p:spPr>
        <p:txBody>
          <a:bodyPr wrap="square" lIns="0" tIns="0" rIns="0" bIns="0" rtlCol="0" anchor="t"/>
          <a:lstStyle/>
          <a:p>
            <a:pPr indent="0" marL="0">
              <a:buNone/>
            </a:pPr>
            <a:r>
              <a:rPr lang="en-US" sz="1000" b="1" i="1" dirty="0">
                <a:solidFill>
                  <a:srgbClr val="A89A86"/>
                </a:solidFill>
                <a:latin typeface="Calibri" pitchFamily="34" charset="0"/>
                <a:ea typeface="Calibri" pitchFamily="34" charset="-122"/>
                <a:cs typeface="Calibri" pitchFamily="34" charset="-120"/>
              </a:rPr>
              <a:t>Grey</a:t>
            </a:r>
            <a:pPr indent="0" marL="0">
              <a:buNone/>
            </a:pPr>
            <a:r>
              <a:rPr lang="en-US" sz="1000" i="1" dirty="0">
                <a:solidFill>
                  <a:srgbClr val="6E6253"/>
                </a:solidFill>
                <a:latin typeface="Calibri" pitchFamily="34" charset="0"/>
                <a:ea typeface="Calibri" pitchFamily="34" charset="-122"/>
                <a:cs typeface="Calibri" pitchFamily="34" charset="-120"/>
              </a:rPr>
              <a:t> = old time   </a:t>
            </a:r>
            <a:pPr indent="0" marL="0">
              <a:buNone/>
            </a:pPr>
            <a:r>
              <a:rPr lang="en-US" sz="1000" b="1" i="1" dirty="0">
                <a:solidFill>
                  <a:srgbClr val="F2CD83"/>
                </a:solidFill>
                <a:latin typeface="Calibri" pitchFamily="34" charset="0"/>
                <a:ea typeface="Calibri" pitchFamily="34" charset="-122"/>
                <a:cs typeface="Calibri" pitchFamily="34" charset="-120"/>
              </a:rPr>
              <a:t>Gold</a:t>
            </a:r>
            <a:pPr indent="0" marL="0">
              <a:buNone/>
            </a:pPr>
            <a:r>
              <a:rPr lang="en-US" sz="1000" i="1" dirty="0">
                <a:solidFill>
                  <a:srgbClr val="6E6253"/>
                </a:solidFill>
                <a:latin typeface="Calibri" pitchFamily="34" charset="0"/>
                <a:ea typeface="Calibri" pitchFamily="34" charset="-122"/>
                <a:cs typeface="Calibri" pitchFamily="34" charset="-120"/>
              </a:rPr>
              <a:t> = new time.  Illustrative estimates, not measured data.</a:t>
            </a:r>
            <a:endParaRPr lang="en-US" sz="1000" dirty="0"/>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A08"/>
        </a:solidFill>
      </p:bgPr>
    </p:bg>
    <p:spTree>
      <p:nvGrpSpPr>
        <p:cNvPr id="1" name=""/>
        <p:cNvGrpSpPr/>
        <p:nvPr/>
      </p:nvGrpSpPr>
      <p:grpSpPr>
        <a:xfrm>
          <a:off x="0" y="0"/>
          <a:ext cx="0" cy="0"/>
          <a:chOff x="0" y="0"/>
          <a:chExt cx="0" cy="0"/>
        </a:xfrm>
      </p:grpSpPr>
      <p:pic>
        <p:nvPicPr>
          <p:cNvPr id="2" name="Image 0" descr="bg/plain.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16</a:t>
            </a:r>
            <a:endParaRPr lang="en-US" sz="900" dirty="0"/>
          </a:p>
        </p:txBody>
      </p:sp>
      <p:sp>
        <p:nvSpPr>
          <p:cNvPr id="4" name="Text 1"/>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HOW IT HELPS</a:t>
            </a:r>
            <a:endParaRPr lang="en-US" sz="1200" dirty="0"/>
          </a:p>
        </p:txBody>
      </p:sp>
      <p:sp>
        <p:nvSpPr>
          <p:cNvPr id="5" name="Text 2"/>
          <p:cNvSpPr txBox="1"/>
          <p:nvPr/>
        </p:nvSpPr>
        <p:spPr>
          <a:xfrm>
            <a:off x="640080" y="868680"/>
            <a:ext cx="10515600" cy="91440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Better for the hospital, </a:t>
            </a:r>
            <a:pPr indent="0" marL="0">
              <a:buNone/>
            </a:pPr>
            <a:r>
              <a:rPr lang="en-US" sz="3800" b="1" i="1" dirty="0">
                <a:solidFill>
                  <a:srgbClr val="F2CD83"/>
                </a:solidFill>
                <a:latin typeface="Cambria" pitchFamily="34" charset="0"/>
                <a:ea typeface="Cambria" pitchFamily="34" charset="-122"/>
                <a:cs typeface="Cambria" pitchFamily="34" charset="-120"/>
              </a:rPr>
              <a:t>better for patients</a:t>
            </a:r>
            <a:endParaRPr lang="en-US" sz="3800" dirty="0"/>
          </a:p>
        </p:txBody>
      </p:sp>
      <p:sp>
        <p:nvSpPr>
          <p:cNvPr id="6" name="Shape 3"/>
          <p:cNvSpPr/>
          <p:nvPr/>
        </p:nvSpPr>
        <p:spPr>
          <a:xfrm>
            <a:off x="640080" y="1965960"/>
            <a:ext cx="640080" cy="640080"/>
          </a:xfrm>
          <a:prstGeom prst="ellipse">
            <a:avLst/>
          </a:prstGeom>
          <a:solidFill>
            <a:srgbClr val="241C16"/>
          </a:solidFill>
          <a:ln w="15875">
            <a:solidFill>
              <a:srgbClr val="F2CD83"/>
            </a:solidFill>
            <a:prstDash val="solid"/>
          </a:ln>
        </p:spPr>
      </p:sp>
      <p:pic>
        <p:nvPicPr>
          <p:cNvPr id="7" name="Image 1" descr="preencoded.png">    </p:cNvPr>
          <p:cNvPicPr>
            <a:picLocks noChangeAspect="1"/>
          </p:cNvPicPr>
          <p:nvPr/>
        </p:nvPicPr>
        <p:blipFill>
          <a:blip r:embed="rId2"/>
          <a:stretch>
            <a:fillRect/>
          </a:stretch>
        </p:blipFill>
        <p:spPr>
          <a:xfrm>
            <a:off x="800100" y="2125980"/>
            <a:ext cx="320040" cy="320040"/>
          </a:xfrm>
          <a:prstGeom prst="rect">
            <a:avLst/>
          </a:prstGeom>
        </p:spPr>
      </p:pic>
      <p:sp>
        <p:nvSpPr>
          <p:cNvPr id="8" name="Text 4"/>
          <p:cNvSpPr txBox="1"/>
          <p:nvPr/>
        </p:nvSpPr>
        <p:spPr>
          <a:xfrm>
            <a:off x="1463040" y="2057400"/>
            <a:ext cx="4114800" cy="457200"/>
          </a:xfrm>
          <a:prstGeom prst="rect">
            <a:avLst/>
          </a:prstGeom>
          <a:noFill/>
          <a:ln/>
        </p:spPr>
        <p:txBody>
          <a:bodyPr wrap="square" lIns="0" tIns="0" rIns="0" bIns="0" rtlCol="0" anchor="t"/>
          <a:lstStyle/>
          <a:p>
            <a:pPr indent="0" marL="0">
              <a:buNone/>
            </a:pPr>
            <a:r>
              <a:rPr lang="en-US" sz="2400" b="1" dirty="0">
                <a:solidFill>
                  <a:srgbClr val="F2CD83"/>
                </a:solidFill>
                <a:latin typeface="Cambria" pitchFamily="34" charset="0"/>
                <a:ea typeface="Cambria" pitchFamily="34" charset="-122"/>
                <a:cs typeface="Cambria" pitchFamily="34" charset="-120"/>
              </a:rPr>
              <a:t>Efficiency</a:t>
            </a:r>
            <a:endParaRPr lang="en-US" sz="2400" dirty="0"/>
          </a:p>
        </p:txBody>
      </p:sp>
      <p:sp>
        <p:nvSpPr>
          <p:cNvPr id="9" name="Shape 5"/>
          <p:cNvSpPr/>
          <p:nvPr/>
        </p:nvSpPr>
        <p:spPr>
          <a:xfrm>
            <a:off x="640080" y="2834640"/>
            <a:ext cx="5349240" cy="658368"/>
          </a:xfrm>
          <a:prstGeom prst="roundRect">
            <a:avLst>
              <a:gd name="adj" fmla="val 16667"/>
            </a:avLst>
          </a:prstGeom>
          <a:solidFill>
            <a:srgbClr val="1A1410"/>
          </a:solidFill>
          <a:ln w="12700">
            <a:solidFill>
              <a:srgbClr val="3A2F26"/>
            </a:solidFill>
            <a:prstDash val="solid"/>
          </a:ln>
        </p:spPr>
      </p:sp>
      <p:sp>
        <p:nvSpPr>
          <p:cNvPr id="10" name="Text 6"/>
          <p:cNvSpPr txBox="1"/>
          <p:nvPr/>
        </p:nvSpPr>
        <p:spPr>
          <a:xfrm>
            <a:off x="914400" y="2926080"/>
            <a:ext cx="484632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Staff matched to demand</a:t>
            </a:r>
            <a:endParaRPr lang="en-US" sz="1500" dirty="0"/>
          </a:p>
        </p:txBody>
      </p:sp>
      <p:sp>
        <p:nvSpPr>
          <p:cNvPr id="11" name="Text 7"/>
          <p:cNvSpPr txBox="1"/>
          <p:nvPr/>
        </p:nvSpPr>
        <p:spPr>
          <a:xfrm>
            <a:off x="914400" y="3200400"/>
            <a:ext cx="4846320" cy="256032"/>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No overcrowded or empty shifts.</a:t>
            </a:r>
            <a:endParaRPr lang="en-US" sz="1200" dirty="0"/>
          </a:p>
        </p:txBody>
      </p:sp>
      <p:sp>
        <p:nvSpPr>
          <p:cNvPr id="12" name="Shape 8"/>
          <p:cNvSpPr/>
          <p:nvPr/>
        </p:nvSpPr>
        <p:spPr>
          <a:xfrm>
            <a:off x="640080" y="3611880"/>
            <a:ext cx="5349240" cy="658368"/>
          </a:xfrm>
          <a:prstGeom prst="roundRect">
            <a:avLst>
              <a:gd name="adj" fmla="val 16667"/>
            </a:avLst>
          </a:prstGeom>
          <a:solidFill>
            <a:srgbClr val="1A1410"/>
          </a:solidFill>
          <a:ln w="12700">
            <a:solidFill>
              <a:srgbClr val="3A2F26"/>
            </a:solidFill>
            <a:prstDash val="solid"/>
          </a:ln>
        </p:spPr>
      </p:sp>
      <p:sp>
        <p:nvSpPr>
          <p:cNvPr id="13" name="Text 9"/>
          <p:cNvSpPr txBox="1"/>
          <p:nvPr/>
        </p:nvSpPr>
        <p:spPr>
          <a:xfrm>
            <a:off x="914400" y="3703320"/>
            <a:ext cx="484632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No idle rooms</a:t>
            </a:r>
            <a:endParaRPr lang="en-US" sz="1500" dirty="0"/>
          </a:p>
        </p:txBody>
      </p:sp>
      <p:sp>
        <p:nvSpPr>
          <p:cNvPr id="14" name="Text 10"/>
          <p:cNvSpPr txBox="1"/>
          <p:nvPr/>
        </p:nvSpPr>
        <p:spPr>
          <a:xfrm>
            <a:off x="914400" y="3977640"/>
            <a:ext cx="4846320" cy="256032"/>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The next patient is called as soon as a room frees up.</a:t>
            </a:r>
            <a:endParaRPr lang="en-US" sz="1200" dirty="0"/>
          </a:p>
        </p:txBody>
      </p:sp>
      <p:sp>
        <p:nvSpPr>
          <p:cNvPr id="15" name="Shape 11"/>
          <p:cNvSpPr/>
          <p:nvPr/>
        </p:nvSpPr>
        <p:spPr>
          <a:xfrm>
            <a:off x="640080" y="4389120"/>
            <a:ext cx="5349240" cy="658368"/>
          </a:xfrm>
          <a:prstGeom prst="roundRect">
            <a:avLst>
              <a:gd name="adj" fmla="val 16667"/>
            </a:avLst>
          </a:prstGeom>
          <a:solidFill>
            <a:srgbClr val="1A1410"/>
          </a:solidFill>
          <a:ln w="12700">
            <a:solidFill>
              <a:srgbClr val="3A2F26"/>
            </a:solidFill>
            <a:prstDash val="solid"/>
          </a:ln>
        </p:spPr>
      </p:sp>
      <p:sp>
        <p:nvSpPr>
          <p:cNvPr id="16" name="Text 12"/>
          <p:cNvSpPr txBox="1"/>
          <p:nvPr/>
        </p:nvSpPr>
        <p:spPr>
          <a:xfrm>
            <a:off x="914400" y="4480560"/>
            <a:ext cx="484632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Less paperwork</a:t>
            </a:r>
            <a:endParaRPr lang="en-US" sz="1500" dirty="0"/>
          </a:p>
        </p:txBody>
      </p:sp>
      <p:sp>
        <p:nvSpPr>
          <p:cNvPr id="17" name="Text 13"/>
          <p:cNvSpPr txBox="1"/>
          <p:nvPr/>
        </p:nvSpPr>
        <p:spPr>
          <a:xfrm>
            <a:off x="914400" y="4754880"/>
            <a:ext cx="4846320" cy="256032"/>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Doctors spend their time on patients.</a:t>
            </a:r>
            <a:endParaRPr lang="en-US" sz="1200" dirty="0"/>
          </a:p>
        </p:txBody>
      </p:sp>
      <p:sp>
        <p:nvSpPr>
          <p:cNvPr id="18" name="Shape 14"/>
          <p:cNvSpPr/>
          <p:nvPr/>
        </p:nvSpPr>
        <p:spPr>
          <a:xfrm>
            <a:off x="640080" y="5166360"/>
            <a:ext cx="5349240" cy="658368"/>
          </a:xfrm>
          <a:prstGeom prst="roundRect">
            <a:avLst>
              <a:gd name="adj" fmla="val 16667"/>
            </a:avLst>
          </a:prstGeom>
          <a:solidFill>
            <a:srgbClr val="1A1410"/>
          </a:solidFill>
          <a:ln w="12700">
            <a:solidFill>
              <a:srgbClr val="3A2F26"/>
            </a:solidFill>
            <a:prstDash val="solid"/>
          </a:ln>
        </p:spPr>
      </p:sp>
      <p:sp>
        <p:nvSpPr>
          <p:cNvPr id="19" name="Text 15"/>
          <p:cNvSpPr txBox="1"/>
          <p:nvPr/>
        </p:nvSpPr>
        <p:spPr>
          <a:xfrm>
            <a:off x="914400" y="5257800"/>
            <a:ext cx="484632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No second queue</a:t>
            </a:r>
            <a:endParaRPr lang="en-US" sz="1500" dirty="0"/>
          </a:p>
        </p:txBody>
      </p:sp>
      <p:sp>
        <p:nvSpPr>
          <p:cNvPr id="20" name="Text 16"/>
          <p:cNvSpPr txBox="1"/>
          <p:nvPr/>
        </p:nvSpPr>
        <p:spPr>
          <a:xfrm>
            <a:off x="914400" y="5532120"/>
            <a:ext cx="4846320" cy="256032"/>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Tests are done before the doctor visit.</a:t>
            </a:r>
            <a:endParaRPr lang="en-US" sz="1200" dirty="0"/>
          </a:p>
        </p:txBody>
      </p:sp>
      <p:sp>
        <p:nvSpPr>
          <p:cNvPr id="21" name="Shape 17"/>
          <p:cNvSpPr/>
          <p:nvPr/>
        </p:nvSpPr>
        <p:spPr>
          <a:xfrm>
            <a:off x="6172200" y="1965960"/>
            <a:ext cx="640080" cy="640080"/>
          </a:xfrm>
          <a:prstGeom prst="ellipse">
            <a:avLst/>
          </a:prstGeom>
          <a:solidFill>
            <a:srgbClr val="241C16"/>
          </a:solidFill>
          <a:ln w="15875">
            <a:solidFill>
              <a:srgbClr val="F2CD83"/>
            </a:solidFill>
            <a:prstDash val="solid"/>
          </a:ln>
        </p:spPr>
      </p:sp>
      <p:pic>
        <p:nvPicPr>
          <p:cNvPr id="22" name="Image 2" descr="preencoded.png">    </p:cNvPr>
          <p:cNvPicPr>
            <a:picLocks noChangeAspect="1"/>
          </p:cNvPicPr>
          <p:nvPr/>
        </p:nvPicPr>
        <p:blipFill>
          <a:blip r:embed="rId3"/>
          <a:stretch>
            <a:fillRect/>
          </a:stretch>
        </p:blipFill>
        <p:spPr>
          <a:xfrm>
            <a:off x="6332220" y="2125980"/>
            <a:ext cx="320040" cy="320040"/>
          </a:xfrm>
          <a:prstGeom prst="rect">
            <a:avLst/>
          </a:prstGeom>
        </p:spPr>
      </p:pic>
      <p:sp>
        <p:nvSpPr>
          <p:cNvPr id="23" name="Text 18"/>
          <p:cNvSpPr txBox="1"/>
          <p:nvPr/>
        </p:nvSpPr>
        <p:spPr>
          <a:xfrm>
            <a:off x="6995160" y="2057400"/>
            <a:ext cx="4114800" cy="457200"/>
          </a:xfrm>
          <a:prstGeom prst="rect">
            <a:avLst/>
          </a:prstGeom>
          <a:noFill/>
          <a:ln/>
        </p:spPr>
        <p:txBody>
          <a:bodyPr wrap="square" lIns="0" tIns="0" rIns="0" bIns="0" rtlCol="0" anchor="t"/>
          <a:lstStyle/>
          <a:p>
            <a:pPr indent="0" marL="0">
              <a:buNone/>
            </a:pPr>
            <a:r>
              <a:rPr lang="en-US" sz="2400" b="1" dirty="0">
                <a:solidFill>
                  <a:srgbClr val="F2CD83"/>
                </a:solidFill>
                <a:latin typeface="Cambria" pitchFamily="34" charset="0"/>
                <a:ea typeface="Cambria" pitchFamily="34" charset="-122"/>
                <a:cs typeface="Cambria" pitchFamily="34" charset="-120"/>
              </a:rPr>
              <a:t>Patient management</a:t>
            </a:r>
            <a:endParaRPr lang="en-US" sz="2400" dirty="0"/>
          </a:p>
        </p:txBody>
      </p:sp>
      <p:sp>
        <p:nvSpPr>
          <p:cNvPr id="24" name="Shape 19"/>
          <p:cNvSpPr/>
          <p:nvPr/>
        </p:nvSpPr>
        <p:spPr>
          <a:xfrm>
            <a:off x="6172200" y="2834640"/>
            <a:ext cx="5349240" cy="658368"/>
          </a:xfrm>
          <a:prstGeom prst="roundRect">
            <a:avLst>
              <a:gd name="adj" fmla="val 16667"/>
            </a:avLst>
          </a:prstGeom>
          <a:solidFill>
            <a:srgbClr val="1A1410"/>
          </a:solidFill>
          <a:ln w="12700">
            <a:solidFill>
              <a:srgbClr val="3A2F26"/>
            </a:solidFill>
            <a:prstDash val="solid"/>
          </a:ln>
        </p:spPr>
      </p:sp>
      <p:sp>
        <p:nvSpPr>
          <p:cNvPr id="25" name="Text 20"/>
          <p:cNvSpPr txBox="1"/>
          <p:nvPr/>
        </p:nvSpPr>
        <p:spPr>
          <a:xfrm>
            <a:off x="6446520" y="2926080"/>
            <a:ext cx="484632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Sickest seen first</a:t>
            </a:r>
            <a:endParaRPr lang="en-US" sz="1500" dirty="0"/>
          </a:p>
        </p:txBody>
      </p:sp>
      <p:sp>
        <p:nvSpPr>
          <p:cNvPr id="26" name="Text 21"/>
          <p:cNvSpPr txBox="1"/>
          <p:nvPr/>
        </p:nvSpPr>
        <p:spPr>
          <a:xfrm>
            <a:off x="6446520" y="3200400"/>
            <a:ext cx="4846320" cy="256032"/>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Urgency, not arrival time, sets the order.</a:t>
            </a:r>
            <a:endParaRPr lang="en-US" sz="1200" dirty="0"/>
          </a:p>
        </p:txBody>
      </p:sp>
      <p:sp>
        <p:nvSpPr>
          <p:cNvPr id="27" name="Shape 22"/>
          <p:cNvSpPr/>
          <p:nvPr/>
        </p:nvSpPr>
        <p:spPr>
          <a:xfrm>
            <a:off x="6172200" y="3611880"/>
            <a:ext cx="5349240" cy="658368"/>
          </a:xfrm>
          <a:prstGeom prst="roundRect">
            <a:avLst>
              <a:gd name="adj" fmla="val 16667"/>
            </a:avLst>
          </a:prstGeom>
          <a:solidFill>
            <a:srgbClr val="1A1410"/>
          </a:solidFill>
          <a:ln w="12700">
            <a:solidFill>
              <a:srgbClr val="3A2F26"/>
            </a:solidFill>
            <a:prstDash val="solid"/>
          </a:ln>
        </p:spPr>
      </p:sp>
      <p:sp>
        <p:nvSpPr>
          <p:cNvPr id="28" name="Text 23"/>
          <p:cNvSpPr txBox="1"/>
          <p:nvPr/>
        </p:nvSpPr>
        <p:spPr>
          <a:xfrm>
            <a:off x="6446520" y="3703320"/>
            <a:ext cx="484632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Live wait time</a:t>
            </a:r>
            <a:endParaRPr lang="en-US" sz="1500" dirty="0"/>
          </a:p>
        </p:txBody>
      </p:sp>
      <p:sp>
        <p:nvSpPr>
          <p:cNvPr id="29" name="Text 24"/>
          <p:cNvSpPr txBox="1"/>
          <p:nvPr/>
        </p:nvSpPr>
        <p:spPr>
          <a:xfrm>
            <a:off x="6446520" y="3977640"/>
            <a:ext cx="4846320" cy="256032"/>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Less crowding and fewer complaints.</a:t>
            </a:r>
            <a:endParaRPr lang="en-US" sz="1200" dirty="0"/>
          </a:p>
        </p:txBody>
      </p:sp>
      <p:sp>
        <p:nvSpPr>
          <p:cNvPr id="30" name="Shape 25"/>
          <p:cNvSpPr/>
          <p:nvPr/>
        </p:nvSpPr>
        <p:spPr>
          <a:xfrm>
            <a:off x="6172200" y="4389120"/>
            <a:ext cx="5349240" cy="658368"/>
          </a:xfrm>
          <a:prstGeom prst="roundRect">
            <a:avLst>
              <a:gd name="adj" fmla="val 16667"/>
            </a:avLst>
          </a:prstGeom>
          <a:solidFill>
            <a:srgbClr val="1A1410"/>
          </a:solidFill>
          <a:ln w="12700">
            <a:solidFill>
              <a:srgbClr val="3A2F26"/>
            </a:solidFill>
            <a:prstDash val="solid"/>
          </a:ln>
        </p:spPr>
      </p:sp>
      <p:sp>
        <p:nvSpPr>
          <p:cNvPr id="31" name="Text 26"/>
          <p:cNvSpPr txBox="1"/>
          <p:nvPr/>
        </p:nvSpPr>
        <p:spPr>
          <a:xfrm>
            <a:off x="6446520" y="4480560"/>
            <a:ext cx="484632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Fewer missed visits</a:t>
            </a:r>
            <a:endParaRPr lang="en-US" sz="1500" dirty="0"/>
          </a:p>
        </p:txBody>
      </p:sp>
      <p:sp>
        <p:nvSpPr>
          <p:cNvPr id="32" name="Text 27"/>
          <p:cNvSpPr txBox="1"/>
          <p:nvPr/>
        </p:nvSpPr>
        <p:spPr>
          <a:xfrm>
            <a:off x="6446520" y="4754880"/>
            <a:ext cx="4846320" cy="256032"/>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Automatic reminders and follow-ups.</a:t>
            </a:r>
            <a:endParaRPr lang="en-US" sz="1200" dirty="0"/>
          </a:p>
        </p:txBody>
      </p:sp>
      <p:sp>
        <p:nvSpPr>
          <p:cNvPr id="33" name="Shape 28"/>
          <p:cNvSpPr/>
          <p:nvPr/>
        </p:nvSpPr>
        <p:spPr>
          <a:xfrm>
            <a:off x="6172200" y="5166360"/>
            <a:ext cx="5349240" cy="658368"/>
          </a:xfrm>
          <a:prstGeom prst="roundRect">
            <a:avLst>
              <a:gd name="adj" fmla="val 16667"/>
            </a:avLst>
          </a:prstGeom>
          <a:solidFill>
            <a:srgbClr val="1A1410"/>
          </a:solidFill>
          <a:ln w="12700">
            <a:solidFill>
              <a:srgbClr val="3A2F26"/>
            </a:solidFill>
            <a:prstDash val="solid"/>
          </a:ln>
        </p:spPr>
      </p:sp>
      <p:sp>
        <p:nvSpPr>
          <p:cNvPr id="34" name="Text 29"/>
          <p:cNvSpPr txBox="1"/>
          <p:nvPr/>
        </p:nvSpPr>
        <p:spPr>
          <a:xfrm>
            <a:off x="6446520" y="5257800"/>
            <a:ext cx="484632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Problems caught early</a:t>
            </a:r>
            <a:endParaRPr lang="en-US" sz="1500" dirty="0"/>
          </a:p>
        </p:txBody>
      </p:sp>
      <p:sp>
        <p:nvSpPr>
          <p:cNvPr id="35" name="Text 30"/>
          <p:cNvSpPr txBox="1"/>
          <p:nvPr/>
        </p:nvSpPr>
        <p:spPr>
          <a:xfrm>
            <a:off x="6446520" y="5532120"/>
            <a:ext cx="4846320" cy="256032"/>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Worrying recovery answers reach staff fast.</a:t>
            </a:r>
            <a:endParaRPr lang="en-US" sz="1200" dirty="0"/>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A08"/>
        </a:solidFill>
      </p:bgPr>
    </p:bg>
    <p:spTree>
      <p:nvGrpSpPr>
        <p:cNvPr id="1" name=""/>
        <p:cNvGrpSpPr/>
        <p:nvPr/>
      </p:nvGrpSpPr>
      <p:grpSpPr>
        <a:xfrm>
          <a:off x="0" y="0"/>
          <a:ext cx="0" cy="0"/>
          <a:chOff x="0" y="0"/>
          <a:chExt cx="0" cy="0"/>
        </a:xfrm>
      </p:grpSpPr>
      <p:pic>
        <p:nvPicPr>
          <p:cNvPr id="2" name="Image 0" descr="bg/t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17</a:t>
            </a:r>
            <a:endParaRPr lang="en-US" sz="900" dirty="0"/>
          </a:p>
        </p:txBody>
      </p:sp>
      <p:sp>
        <p:nvSpPr>
          <p:cNvPr id="4" name="Text 1"/>
          <p:cNvSpPr txBox="1"/>
          <p:nvPr/>
        </p:nvSpPr>
        <p:spPr>
          <a:xfrm>
            <a:off x="640080" y="5486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MAKING IT WORK</a:t>
            </a:r>
            <a:endParaRPr lang="en-US" sz="1200" dirty="0"/>
          </a:p>
        </p:txBody>
      </p:sp>
      <p:sp>
        <p:nvSpPr>
          <p:cNvPr id="5" name="Text 2"/>
          <p:cNvSpPr txBox="1"/>
          <p:nvPr/>
        </p:nvSpPr>
        <p:spPr>
          <a:xfrm>
            <a:off x="640080" y="868680"/>
            <a:ext cx="10515600" cy="914400"/>
          </a:xfrm>
          <a:prstGeom prst="rect">
            <a:avLst/>
          </a:prstGeom>
          <a:noFill/>
          <a:ln/>
        </p:spPr>
        <p:txBody>
          <a:bodyPr wrap="square" lIns="0" tIns="0" rIns="0" bIns="0" rtlCol="0" anchor="t"/>
          <a:lstStyle/>
          <a:p>
            <a:pPr indent="0" marL="0">
              <a:buNone/>
            </a:pPr>
            <a:r>
              <a:rPr lang="en-US" sz="3800" b="1" dirty="0">
                <a:solidFill>
                  <a:srgbClr val="EFE4D2"/>
                </a:solidFill>
                <a:latin typeface="Cambria" pitchFamily="34" charset="0"/>
                <a:ea typeface="Cambria" pitchFamily="34" charset="-122"/>
                <a:cs typeface="Cambria" pitchFamily="34" charset="-120"/>
              </a:rPr>
              <a:t>Guardrails, and </a:t>
            </a:r>
            <a:pPr indent="0" marL="0">
              <a:buNone/>
            </a:pPr>
            <a:r>
              <a:rPr lang="en-US" sz="3800" b="1" i="1" dirty="0">
                <a:solidFill>
                  <a:srgbClr val="F2CD83"/>
                </a:solidFill>
                <a:latin typeface="Cambria" pitchFamily="34" charset="0"/>
                <a:ea typeface="Cambria" pitchFamily="34" charset="-122"/>
                <a:cs typeface="Cambria" pitchFamily="34" charset="-120"/>
              </a:rPr>
              <a:t>how we measure success</a:t>
            </a:r>
            <a:endParaRPr lang="en-US" sz="3800" dirty="0"/>
          </a:p>
        </p:txBody>
      </p:sp>
      <p:sp>
        <p:nvSpPr>
          <p:cNvPr id="6" name="Text 3"/>
          <p:cNvSpPr txBox="1"/>
          <p:nvPr/>
        </p:nvSpPr>
        <p:spPr>
          <a:xfrm>
            <a:off x="640080" y="1965960"/>
            <a:ext cx="4572000" cy="365760"/>
          </a:xfrm>
          <a:prstGeom prst="rect">
            <a:avLst/>
          </a:prstGeom>
          <a:noFill/>
          <a:ln/>
        </p:spPr>
        <p:txBody>
          <a:bodyPr wrap="square" lIns="0" tIns="0" rIns="0" bIns="0" rtlCol="0" anchor="t"/>
          <a:lstStyle/>
          <a:p>
            <a:pPr indent="0" marL="0">
              <a:buNone/>
            </a:pPr>
            <a:r>
              <a:rPr lang="en-US" sz="2200" b="1" dirty="0">
                <a:solidFill>
                  <a:srgbClr val="F2CD83"/>
                </a:solidFill>
                <a:latin typeface="Cambria" pitchFamily="34" charset="0"/>
                <a:ea typeface="Cambria" pitchFamily="34" charset="-122"/>
                <a:cs typeface="Cambria" pitchFamily="34" charset="-120"/>
              </a:rPr>
              <a:t>Safeguards</a:t>
            </a:r>
            <a:endParaRPr lang="en-US" sz="2200" dirty="0"/>
          </a:p>
        </p:txBody>
      </p:sp>
      <p:sp>
        <p:nvSpPr>
          <p:cNvPr id="7" name="Shape 4"/>
          <p:cNvSpPr/>
          <p:nvPr/>
        </p:nvSpPr>
        <p:spPr>
          <a:xfrm>
            <a:off x="640080" y="2514600"/>
            <a:ext cx="2560320" cy="1508760"/>
          </a:xfrm>
          <a:prstGeom prst="roundRect">
            <a:avLst>
              <a:gd name="adj" fmla="val 7273"/>
            </a:avLst>
          </a:prstGeom>
          <a:solidFill>
            <a:srgbClr val="1A1410"/>
          </a:solidFill>
          <a:ln w="12700">
            <a:solidFill>
              <a:srgbClr val="3A2F26"/>
            </a:solidFill>
            <a:prstDash val="solid"/>
          </a:ln>
        </p:spPr>
      </p:sp>
      <p:sp>
        <p:nvSpPr>
          <p:cNvPr id="8" name="Shape 5"/>
          <p:cNvSpPr/>
          <p:nvPr/>
        </p:nvSpPr>
        <p:spPr>
          <a:xfrm>
            <a:off x="868680" y="2697480"/>
            <a:ext cx="502920" cy="502920"/>
          </a:xfrm>
          <a:prstGeom prst="ellipse">
            <a:avLst/>
          </a:prstGeom>
          <a:solidFill>
            <a:srgbClr val="241C16"/>
          </a:solidFill>
          <a:ln w="15875">
            <a:solidFill>
              <a:srgbClr val="F2CD83"/>
            </a:solidFill>
            <a:prstDash val="solid"/>
          </a:ln>
        </p:spPr>
      </p:sp>
      <p:pic>
        <p:nvPicPr>
          <p:cNvPr id="9" name="Image 1" descr="preencoded.png">    </p:cNvPr>
          <p:cNvPicPr>
            <a:picLocks noChangeAspect="1"/>
          </p:cNvPicPr>
          <p:nvPr/>
        </p:nvPicPr>
        <p:blipFill>
          <a:blip r:embed="rId2"/>
          <a:stretch>
            <a:fillRect/>
          </a:stretch>
        </p:blipFill>
        <p:spPr>
          <a:xfrm>
            <a:off x="994410" y="2823210"/>
            <a:ext cx="251460" cy="251460"/>
          </a:xfrm>
          <a:prstGeom prst="rect">
            <a:avLst/>
          </a:prstGeom>
        </p:spPr>
      </p:pic>
      <p:sp>
        <p:nvSpPr>
          <p:cNvPr id="10" name="Text 6"/>
          <p:cNvSpPr txBox="1"/>
          <p:nvPr/>
        </p:nvSpPr>
        <p:spPr>
          <a:xfrm>
            <a:off x="868680" y="3291840"/>
            <a:ext cx="219456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Data privacy</a:t>
            </a:r>
            <a:endParaRPr lang="en-US" sz="1500" dirty="0"/>
          </a:p>
        </p:txBody>
      </p:sp>
      <p:sp>
        <p:nvSpPr>
          <p:cNvPr id="11" name="Text 7"/>
          <p:cNvSpPr txBox="1"/>
          <p:nvPr/>
        </p:nvSpPr>
        <p:spPr>
          <a:xfrm>
            <a:off x="868680" y="3566160"/>
            <a:ext cx="2194560" cy="41148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Patient consent and secure records.</a:t>
            </a:r>
            <a:endParaRPr lang="en-US" sz="1200" dirty="0"/>
          </a:p>
        </p:txBody>
      </p:sp>
      <p:sp>
        <p:nvSpPr>
          <p:cNvPr id="12" name="Shape 8"/>
          <p:cNvSpPr/>
          <p:nvPr/>
        </p:nvSpPr>
        <p:spPr>
          <a:xfrm>
            <a:off x="3383280" y="2514600"/>
            <a:ext cx="2560320" cy="1508760"/>
          </a:xfrm>
          <a:prstGeom prst="roundRect">
            <a:avLst>
              <a:gd name="adj" fmla="val 7273"/>
            </a:avLst>
          </a:prstGeom>
          <a:solidFill>
            <a:srgbClr val="1A1410"/>
          </a:solidFill>
          <a:ln w="12700">
            <a:solidFill>
              <a:srgbClr val="3A2F26"/>
            </a:solidFill>
            <a:prstDash val="solid"/>
          </a:ln>
        </p:spPr>
      </p:sp>
      <p:sp>
        <p:nvSpPr>
          <p:cNvPr id="13" name="Shape 9"/>
          <p:cNvSpPr/>
          <p:nvPr/>
        </p:nvSpPr>
        <p:spPr>
          <a:xfrm>
            <a:off x="3611880" y="2697480"/>
            <a:ext cx="502920" cy="502920"/>
          </a:xfrm>
          <a:prstGeom prst="ellipse">
            <a:avLst/>
          </a:prstGeom>
          <a:solidFill>
            <a:srgbClr val="241C16"/>
          </a:solidFill>
          <a:ln w="15875">
            <a:solidFill>
              <a:srgbClr val="F2CD83"/>
            </a:solidFill>
            <a:prstDash val="solid"/>
          </a:ln>
        </p:spPr>
      </p:sp>
      <p:pic>
        <p:nvPicPr>
          <p:cNvPr id="14" name="Image 2" descr="preencoded.png">    </p:cNvPr>
          <p:cNvPicPr>
            <a:picLocks noChangeAspect="1"/>
          </p:cNvPicPr>
          <p:nvPr/>
        </p:nvPicPr>
        <p:blipFill>
          <a:blip r:embed="rId3"/>
          <a:stretch>
            <a:fillRect/>
          </a:stretch>
        </p:blipFill>
        <p:spPr>
          <a:xfrm>
            <a:off x="3737610" y="2823210"/>
            <a:ext cx="251460" cy="251460"/>
          </a:xfrm>
          <a:prstGeom prst="rect">
            <a:avLst/>
          </a:prstGeom>
        </p:spPr>
      </p:pic>
      <p:sp>
        <p:nvSpPr>
          <p:cNvPr id="15" name="Text 10"/>
          <p:cNvSpPr txBox="1"/>
          <p:nvPr/>
        </p:nvSpPr>
        <p:spPr>
          <a:xfrm>
            <a:off x="3611880" y="3291840"/>
            <a:ext cx="219456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Connected systems</a:t>
            </a:r>
            <a:endParaRPr lang="en-US" sz="1500" dirty="0"/>
          </a:p>
        </p:txBody>
      </p:sp>
      <p:sp>
        <p:nvSpPr>
          <p:cNvPr id="16" name="Text 11"/>
          <p:cNvSpPr txBox="1"/>
          <p:nvPr/>
        </p:nvSpPr>
        <p:spPr>
          <a:xfrm>
            <a:off x="3611880" y="3566160"/>
            <a:ext cx="2194560" cy="41148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Records, lab and pharmacy linked together.</a:t>
            </a:r>
            <a:endParaRPr lang="en-US" sz="1200" dirty="0"/>
          </a:p>
        </p:txBody>
      </p:sp>
      <p:sp>
        <p:nvSpPr>
          <p:cNvPr id="17" name="Shape 12"/>
          <p:cNvSpPr/>
          <p:nvPr/>
        </p:nvSpPr>
        <p:spPr>
          <a:xfrm>
            <a:off x="640080" y="4206240"/>
            <a:ext cx="2560320" cy="1508760"/>
          </a:xfrm>
          <a:prstGeom prst="roundRect">
            <a:avLst>
              <a:gd name="adj" fmla="val 7273"/>
            </a:avLst>
          </a:prstGeom>
          <a:solidFill>
            <a:srgbClr val="1A1410"/>
          </a:solidFill>
          <a:ln w="12700">
            <a:solidFill>
              <a:srgbClr val="3A2F26"/>
            </a:solidFill>
            <a:prstDash val="solid"/>
          </a:ln>
        </p:spPr>
      </p:sp>
      <p:sp>
        <p:nvSpPr>
          <p:cNvPr id="18" name="Shape 13"/>
          <p:cNvSpPr/>
          <p:nvPr/>
        </p:nvSpPr>
        <p:spPr>
          <a:xfrm>
            <a:off x="868680" y="4389120"/>
            <a:ext cx="502920" cy="502920"/>
          </a:xfrm>
          <a:prstGeom prst="ellipse">
            <a:avLst/>
          </a:prstGeom>
          <a:solidFill>
            <a:srgbClr val="241C16"/>
          </a:solidFill>
          <a:ln w="15875">
            <a:solidFill>
              <a:srgbClr val="F2CD83"/>
            </a:solidFill>
            <a:prstDash val="solid"/>
          </a:ln>
        </p:spPr>
      </p:sp>
      <p:pic>
        <p:nvPicPr>
          <p:cNvPr id="19" name="Image 3" descr="preencoded.png">    </p:cNvPr>
          <p:cNvPicPr>
            <a:picLocks noChangeAspect="1"/>
          </p:cNvPicPr>
          <p:nvPr/>
        </p:nvPicPr>
        <p:blipFill>
          <a:blip r:embed="rId4"/>
          <a:stretch>
            <a:fillRect/>
          </a:stretch>
        </p:blipFill>
        <p:spPr>
          <a:xfrm>
            <a:off x="994410" y="4514850"/>
            <a:ext cx="251460" cy="251460"/>
          </a:xfrm>
          <a:prstGeom prst="rect">
            <a:avLst/>
          </a:prstGeom>
        </p:spPr>
      </p:pic>
      <p:sp>
        <p:nvSpPr>
          <p:cNvPr id="20" name="Text 14"/>
          <p:cNvSpPr txBox="1"/>
          <p:nvPr/>
        </p:nvSpPr>
        <p:spPr>
          <a:xfrm>
            <a:off x="868680" y="4983480"/>
            <a:ext cx="219456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Manual backup</a:t>
            </a:r>
            <a:endParaRPr lang="en-US" sz="1500" dirty="0"/>
          </a:p>
        </p:txBody>
      </p:sp>
      <p:sp>
        <p:nvSpPr>
          <p:cNvPr id="21" name="Text 15"/>
          <p:cNvSpPr txBox="1"/>
          <p:nvPr/>
        </p:nvSpPr>
        <p:spPr>
          <a:xfrm>
            <a:off x="868680" y="5257800"/>
            <a:ext cx="2194560" cy="41148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A paper process if the system goes down.</a:t>
            </a:r>
            <a:endParaRPr lang="en-US" sz="1200" dirty="0"/>
          </a:p>
        </p:txBody>
      </p:sp>
      <p:sp>
        <p:nvSpPr>
          <p:cNvPr id="22" name="Shape 16"/>
          <p:cNvSpPr/>
          <p:nvPr/>
        </p:nvSpPr>
        <p:spPr>
          <a:xfrm>
            <a:off x="3383280" y="4206240"/>
            <a:ext cx="2560320" cy="1508760"/>
          </a:xfrm>
          <a:prstGeom prst="roundRect">
            <a:avLst>
              <a:gd name="adj" fmla="val 7273"/>
            </a:avLst>
          </a:prstGeom>
          <a:solidFill>
            <a:srgbClr val="1A1410"/>
          </a:solidFill>
          <a:ln w="12700">
            <a:solidFill>
              <a:srgbClr val="3A2F26"/>
            </a:solidFill>
            <a:prstDash val="solid"/>
          </a:ln>
        </p:spPr>
      </p:sp>
      <p:sp>
        <p:nvSpPr>
          <p:cNvPr id="23" name="Shape 17"/>
          <p:cNvSpPr/>
          <p:nvPr/>
        </p:nvSpPr>
        <p:spPr>
          <a:xfrm>
            <a:off x="3611880" y="4389120"/>
            <a:ext cx="502920" cy="502920"/>
          </a:xfrm>
          <a:prstGeom prst="ellipse">
            <a:avLst/>
          </a:prstGeom>
          <a:solidFill>
            <a:srgbClr val="241C16"/>
          </a:solidFill>
          <a:ln w="15875">
            <a:solidFill>
              <a:srgbClr val="F2CD83"/>
            </a:solidFill>
            <a:prstDash val="solid"/>
          </a:ln>
        </p:spPr>
      </p:sp>
      <p:pic>
        <p:nvPicPr>
          <p:cNvPr id="24" name="Image 4" descr="preencoded.png">    </p:cNvPr>
          <p:cNvPicPr>
            <a:picLocks noChangeAspect="1"/>
          </p:cNvPicPr>
          <p:nvPr/>
        </p:nvPicPr>
        <p:blipFill>
          <a:blip r:embed="rId5"/>
          <a:stretch>
            <a:fillRect/>
          </a:stretch>
        </p:blipFill>
        <p:spPr>
          <a:xfrm>
            <a:off x="3737610" y="4514850"/>
            <a:ext cx="251460" cy="251460"/>
          </a:xfrm>
          <a:prstGeom prst="rect">
            <a:avLst/>
          </a:prstGeom>
        </p:spPr>
      </p:pic>
      <p:sp>
        <p:nvSpPr>
          <p:cNvPr id="25" name="Text 18"/>
          <p:cNvSpPr txBox="1"/>
          <p:nvPr/>
        </p:nvSpPr>
        <p:spPr>
          <a:xfrm>
            <a:off x="3611880" y="4983480"/>
            <a:ext cx="219456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Training &amp; audits</a:t>
            </a:r>
            <a:endParaRPr lang="en-US" sz="1500" dirty="0"/>
          </a:p>
        </p:txBody>
      </p:sp>
      <p:sp>
        <p:nvSpPr>
          <p:cNvPr id="26" name="Text 19"/>
          <p:cNvSpPr txBox="1"/>
          <p:nvPr/>
        </p:nvSpPr>
        <p:spPr>
          <a:xfrm>
            <a:off x="3611880" y="5257800"/>
            <a:ext cx="2194560" cy="41148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Staff trained; AI reviewed every month.</a:t>
            </a:r>
            <a:endParaRPr lang="en-US" sz="1200" dirty="0"/>
          </a:p>
        </p:txBody>
      </p:sp>
      <p:sp>
        <p:nvSpPr>
          <p:cNvPr id="27" name="Text 20"/>
          <p:cNvSpPr txBox="1"/>
          <p:nvPr/>
        </p:nvSpPr>
        <p:spPr>
          <a:xfrm>
            <a:off x="6492240" y="1965960"/>
            <a:ext cx="5029200" cy="365760"/>
          </a:xfrm>
          <a:prstGeom prst="rect">
            <a:avLst/>
          </a:prstGeom>
          <a:noFill/>
          <a:ln/>
        </p:spPr>
        <p:txBody>
          <a:bodyPr wrap="square" lIns="0" tIns="0" rIns="0" bIns="0" rtlCol="0" anchor="t"/>
          <a:lstStyle/>
          <a:p>
            <a:pPr indent="0" marL="0">
              <a:buNone/>
            </a:pPr>
            <a:r>
              <a:rPr lang="en-US" sz="2200" b="1" dirty="0">
                <a:solidFill>
                  <a:srgbClr val="F2CD83"/>
                </a:solidFill>
                <a:latin typeface="Cambria" pitchFamily="34" charset="0"/>
                <a:ea typeface="Cambria" pitchFamily="34" charset="-122"/>
                <a:cs typeface="Cambria" pitchFamily="34" charset="-120"/>
              </a:rPr>
              <a:t>Success measures (KPIs)</a:t>
            </a:r>
            <a:endParaRPr lang="en-US" sz="2200" dirty="0"/>
          </a:p>
        </p:txBody>
      </p:sp>
      <p:sp>
        <p:nvSpPr>
          <p:cNvPr id="28" name="Shape 21"/>
          <p:cNvSpPr/>
          <p:nvPr/>
        </p:nvSpPr>
        <p:spPr>
          <a:xfrm>
            <a:off x="6492240" y="2606040"/>
            <a:ext cx="365760" cy="365760"/>
          </a:xfrm>
          <a:prstGeom prst="ellipse">
            <a:avLst/>
          </a:prstGeom>
          <a:solidFill>
            <a:srgbClr val="241C16"/>
          </a:solidFill>
          <a:ln w="15875">
            <a:solidFill>
              <a:srgbClr val="C8923C"/>
            </a:solidFill>
            <a:prstDash val="solid"/>
          </a:ln>
        </p:spPr>
      </p:sp>
      <p:sp>
        <p:nvSpPr>
          <p:cNvPr id="29" name="Text 22"/>
          <p:cNvSpPr txBox="1"/>
          <p:nvPr/>
        </p:nvSpPr>
        <p:spPr>
          <a:xfrm>
            <a:off x="6492240" y="2606040"/>
            <a:ext cx="365760" cy="365760"/>
          </a:xfrm>
          <a:prstGeom prst="rect">
            <a:avLst/>
          </a:prstGeom>
          <a:noFill/>
          <a:ln/>
        </p:spPr>
        <p:txBody>
          <a:bodyPr wrap="square" lIns="0" tIns="0" rIns="0" bIns="0" rtlCol="0" anchor="ctr"/>
          <a:lstStyle/>
          <a:p>
            <a:pPr algn="ctr" indent="0" marL="0">
              <a:buNone/>
            </a:pPr>
            <a:r>
              <a:rPr lang="en-US" sz="1300" b="1" dirty="0">
                <a:solidFill>
                  <a:srgbClr val="F2CD83"/>
                </a:solidFill>
                <a:latin typeface="Cambria" pitchFamily="34" charset="0"/>
                <a:ea typeface="Cambria" pitchFamily="34" charset="-122"/>
                <a:cs typeface="Cambria" pitchFamily="34" charset="-120"/>
              </a:rPr>
              <a:t>1</a:t>
            </a:r>
            <a:endParaRPr lang="en-US" sz="1300" dirty="0"/>
          </a:p>
        </p:txBody>
      </p:sp>
      <p:sp>
        <p:nvSpPr>
          <p:cNvPr id="30" name="Text 23"/>
          <p:cNvSpPr txBox="1"/>
          <p:nvPr/>
        </p:nvSpPr>
        <p:spPr>
          <a:xfrm>
            <a:off x="7040880" y="2532888"/>
            <a:ext cx="448056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Door-to-doctor time</a:t>
            </a:r>
            <a:endParaRPr lang="en-US" sz="1500" dirty="0"/>
          </a:p>
        </p:txBody>
      </p:sp>
      <p:sp>
        <p:nvSpPr>
          <p:cNvPr id="31" name="Text 24"/>
          <p:cNvSpPr txBox="1"/>
          <p:nvPr/>
        </p:nvSpPr>
        <p:spPr>
          <a:xfrm>
            <a:off x="7040880" y="2816352"/>
            <a:ext cx="4480560" cy="27432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How long until the patient meets a doctor</a:t>
            </a:r>
            <a:endParaRPr lang="en-US" sz="1200" dirty="0"/>
          </a:p>
        </p:txBody>
      </p:sp>
      <p:sp>
        <p:nvSpPr>
          <p:cNvPr id="32" name="Shape 25"/>
          <p:cNvSpPr/>
          <p:nvPr/>
        </p:nvSpPr>
        <p:spPr>
          <a:xfrm>
            <a:off x="6492240" y="3273552"/>
            <a:ext cx="365760" cy="365760"/>
          </a:xfrm>
          <a:prstGeom prst="ellipse">
            <a:avLst/>
          </a:prstGeom>
          <a:solidFill>
            <a:srgbClr val="241C16"/>
          </a:solidFill>
          <a:ln w="15875">
            <a:solidFill>
              <a:srgbClr val="C8923C"/>
            </a:solidFill>
            <a:prstDash val="solid"/>
          </a:ln>
        </p:spPr>
      </p:sp>
      <p:sp>
        <p:nvSpPr>
          <p:cNvPr id="33" name="Text 26"/>
          <p:cNvSpPr txBox="1"/>
          <p:nvPr/>
        </p:nvSpPr>
        <p:spPr>
          <a:xfrm>
            <a:off x="6492240" y="3273552"/>
            <a:ext cx="365760" cy="365760"/>
          </a:xfrm>
          <a:prstGeom prst="rect">
            <a:avLst/>
          </a:prstGeom>
          <a:noFill/>
          <a:ln/>
        </p:spPr>
        <p:txBody>
          <a:bodyPr wrap="square" lIns="0" tIns="0" rIns="0" bIns="0" rtlCol="0" anchor="ctr"/>
          <a:lstStyle/>
          <a:p>
            <a:pPr algn="ctr" indent="0" marL="0">
              <a:buNone/>
            </a:pPr>
            <a:r>
              <a:rPr lang="en-US" sz="1300" b="1" dirty="0">
                <a:solidFill>
                  <a:srgbClr val="F2CD83"/>
                </a:solidFill>
                <a:latin typeface="Cambria" pitchFamily="34" charset="0"/>
                <a:ea typeface="Cambria" pitchFamily="34" charset="-122"/>
                <a:cs typeface="Cambria" pitchFamily="34" charset="-120"/>
              </a:rPr>
              <a:t>2</a:t>
            </a:r>
            <a:endParaRPr lang="en-US" sz="1300" dirty="0"/>
          </a:p>
        </p:txBody>
      </p:sp>
      <p:sp>
        <p:nvSpPr>
          <p:cNvPr id="34" name="Text 27"/>
          <p:cNvSpPr txBox="1"/>
          <p:nvPr/>
        </p:nvSpPr>
        <p:spPr>
          <a:xfrm>
            <a:off x="7040880" y="3200400"/>
            <a:ext cx="448056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Total time in hospital</a:t>
            </a:r>
            <a:endParaRPr lang="en-US" sz="1500" dirty="0"/>
          </a:p>
        </p:txBody>
      </p:sp>
      <p:sp>
        <p:nvSpPr>
          <p:cNvPr id="35" name="Text 28"/>
          <p:cNvSpPr txBox="1"/>
          <p:nvPr/>
        </p:nvSpPr>
        <p:spPr>
          <a:xfrm>
            <a:off x="7040880" y="3483864"/>
            <a:ext cx="4480560" cy="27432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Arrival to leaving</a:t>
            </a:r>
            <a:endParaRPr lang="en-US" sz="1200" dirty="0"/>
          </a:p>
        </p:txBody>
      </p:sp>
      <p:sp>
        <p:nvSpPr>
          <p:cNvPr id="36" name="Shape 29"/>
          <p:cNvSpPr/>
          <p:nvPr/>
        </p:nvSpPr>
        <p:spPr>
          <a:xfrm>
            <a:off x="6492240" y="3941064"/>
            <a:ext cx="365760" cy="365760"/>
          </a:xfrm>
          <a:prstGeom prst="ellipse">
            <a:avLst/>
          </a:prstGeom>
          <a:solidFill>
            <a:srgbClr val="241C16"/>
          </a:solidFill>
          <a:ln w="15875">
            <a:solidFill>
              <a:srgbClr val="C8923C"/>
            </a:solidFill>
            <a:prstDash val="solid"/>
          </a:ln>
        </p:spPr>
      </p:sp>
      <p:sp>
        <p:nvSpPr>
          <p:cNvPr id="37" name="Text 30"/>
          <p:cNvSpPr txBox="1"/>
          <p:nvPr/>
        </p:nvSpPr>
        <p:spPr>
          <a:xfrm>
            <a:off x="6492240" y="3941064"/>
            <a:ext cx="365760" cy="365760"/>
          </a:xfrm>
          <a:prstGeom prst="rect">
            <a:avLst/>
          </a:prstGeom>
          <a:noFill/>
          <a:ln/>
        </p:spPr>
        <p:txBody>
          <a:bodyPr wrap="square" lIns="0" tIns="0" rIns="0" bIns="0" rtlCol="0" anchor="ctr"/>
          <a:lstStyle/>
          <a:p>
            <a:pPr algn="ctr" indent="0" marL="0">
              <a:buNone/>
            </a:pPr>
            <a:r>
              <a:rPr lang="en-US" sz="1300" b="1" dirty="0">
                <a:solidFill>
                  <a:srgbClr val="F2CD83"/>
                </a:solidFill>
                <a:latin typeface="Cambria" pitchFamily="34" charset="0"/>
                <a:ea typeface="Cambria" pitchFamily="34" charset="-122"/>
                <a:cs typeface="Cambria" pitchFamily="34" charset="-120"/>
              </a:rPr>
              <a:t>3</a:t>
            </a:r>
            <a:endParaRPr lang="en-US" sz="1300" dirty="0"/>
          </a:p>
        </p:txBody>
      </p:sp>
      <p:sp>
        <p:nvSpPr>
          <p:cNvPr id="38" name="Text 31"/>
          <p:cNvSpPr txBox="1"/>
          <p:nvPr/>
        </p:nvSpPr>
        <p:spPr>
          <a:xfrm>
            <a:off x="7040880" y="3867912"/>
            <a:ext cx="448056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No-show rate</a:t>
            </a:r>
            <a:endParaRPr lang="en-US" sz="1500" dirty="0"/>
          </a:p>
        </p:txBody>
      </p:sp>
      <p:sp>
        <p:nvSpPr>
          <p:cNvPr id="39" name="Text 32"/>
          <p:cNvSpPr txBox="1"/>
          <p:nvPr/>
        </p:nvSpPr>
        <p:spPr>
          <a:xfrm>
            <a:off x="7040880" y="4151376"/>
            <a:ext cx="4480560" cy="27432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Missed appointments</a:t>
            </a:r>
            <a:endParaRPr lang="en-US" sz="1200" dirty="0"/>
          </a:p>
        </p:txBody>
      </p:sp>
      <p:sp>
        <p:nvSpPr>
          <p:cNvPr id="40" name="Shape 33"/>
          <p:cNvSpPr/>
          <p:nvPr/>
        </p:nvSpPr>
        <p:spPr>
          <a:xfrm>
            <a:off x="6492240" y="4608576"/>
            <a:ext cx="365760" cy="365760"/>
          </a:xfrm>
          <a:prstGeom prst="ellipse">
            <a:avLst/>
          </a:prstGeom>
          <a:solidFill>
            <a:srgbClr val="241C16"/>
          </a:solidFill>
          <a:ln w="15875">
            <a:solidFill>
              <a:srgbClr val="C8923C"/>
            </a:solidFill>
            <a:prstDash val="solid"/>
          </a:ln>
        </p:spPr>
      </p:sp>
      <p:sp>
        <p:nvSpPr>
          <p:cNvPr id="41" name="Text 34"/>
          <p:cNvSpPr txBox="1"/>
          <p:nvPr/>
        </p:nvSpPr>
        <p:spPr>
          <a:xfrm>
            <a:off x="6492240" y="4608576"/>
            <a:ext cx="365760" cy="365760"/>
          </a:xfrm>
          <a:prstGeom prst="rect">
            <a:avLst/>
          </a:prstGeom>
          <a:noFill/>
          <a:ln/>
        </p:spPr>
        <p:txBody>
          <a:bodyPr wrap="square" lIns="0" tIns="0" rIns="0" bIns="0" rtlCol="0" anchor="ctr"/>
          <a:lstStyle/>
          <a:p>
            <a:pPr algn="ctr" indent="0" marL="0">
              <a:buNone/>
            </a:pPr>
            <a:r>
              <a:rPr lang="en-US" sz="1300" b="1" dirty="0">
                <a:solidFill>
                  <a:srgbClr val="F2CD83"/>
                </a:solidFill>
                <a:latin typeface="Cambria" pitchFamily="34" charset="0"/>
                <a:ea typeface="Cambria" pitchFamily="34" charset="-122"/>
                <a:cs typeface="Cambria" pitchFamily="34" charset="-120"/>
              </a:rPr>
              <a:t>4</a:t>
            </a:r>
            <a:endParaRPr lang="en-US" sz="1300" dirty="0"/>
          </a:p>
        </p:txBody>
      </p:sp>
      <p:sp>
        <p:nvSpPr>
          <p:cNvPr id="42" name="Text 35"/>
          <p:cNvSpPr txBox="1"/>
          <p:nvPr/>
        </p:nvSpPr>
        <p:spPr>
          <a:xfrm>
            <a:off x="7040880" y="4535424"/>
            <a:ext cx="448056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Triage accuracy</a:t>
            </a:r>
            <a:endParaRPr lang="en-US" sz="1500" dirty="0"/>
          </a:p>
        </p:txBody>
      </p:sp>
      <p:sp>
        <p:nvSpPr>
          <p:cNvPr id="43" name="Text 36"/>
          <p:cNvSpPr txBox="1"/>
          <p:nvPr/>
        </p:nvSpPr>
        <p:spPr>
          <a:xfrm>
            <a:off x="7040880" y="4818888"/>
            <a:ext cx="4480560" cy="27432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How often the AI sorts correctly</a:t>
            </a:r>
            <a:endParaRPr lang="en-US" sz="1200" dirty="0"/>
          </a:p>
        </p:txBody>
      </p:sp>
      <p:sp>
        <p:nvSpPr>
          <p:cNvPr id="44" name="Shape 37"/>
          <p:cNvSpPr/>
          <p:nvPr/>
        </p:nvSpPr>
        <p:spPr>
          <a:xfrm>
            <a:off x="6492240" y="5276088"/>
            <a:ext cx="365760" cy="365760"/>
          </a:xfrm>
          <a:prstGeom prst="ellipse">
            <a:avLst/>
          </a:prstGeom>
          <a:solidFill>
            <a:srgbClr val="241C16"/>
          </a:solidFill>
          <a:ln w="15875">
            <a:solidFill>
              <a:srgbClr val="C8923C"/>
            </a:solidFill>
            <a:prstDash val="solid"/>
          </a:ln>
        </p:spPr>
      </p:sp>
      <p:sp>
        <p:nvSpPr>
          <p:cNvPr id="45" name="Text 38"/>
          <p:cNvSpPr txBox="1"/>
          <p:nvPr/>
        </p:nvSpPr>
        <p:spPr>
          <a:xfrm>
            <a:off x="6492240" y="5276088"/>
            <a:ext cx="365760" cy="365760"/>
          </a:xfrm>
          <a:prstGeom prst="rect">
            <a:avLst/>
          </a:prstGeom>
          <a:noFill/>
          <a:ln/>
        </p:spPr>
        <p:txBody>
          <a:bodyPr wrap="square" lIns="0" tIns="0" rIns="0" bIns="0" rtlCol="0" anchor="ctr"/>
          <a:lstStyle/>
          <a:p>
            <a:pPr algn="ctr" indent="0" marL="0">
              <a:buNone/>
            </a:pPr>
            <a:r>
              <a:rPr lang="en-US" sz="1300" b="1" dirty="0">
                <a:solidFill>
                  <a:srgbClr val="F2CD83"/>
                </a:solidFill>
                <a:latin typeface="Cambria" pitchFamily="34" charset="0"/>
                <a:ea typeface="Cambria" pitchFamily="34" charset="-122"/>
                <a:cs typeface="Cambria" pitchFamily="34" charset="-120"/>
              </a:rPr>
              <a:t>5</a:t>
            </a:r>
            <a:endParaRPr lang="en-US" sz="1300" dirty="0"/>
          </a:p>
        </p:txBody>
      </p:sp>
      <p:sp>
        <p:nvSpPr>
          <p:cNvPr id="46" name="Text 39"/>
          <p:cNvSpPr txBox="1"/>
          <p:nvPr/>
        </p:nvSpPr>
        <p:spPr>
          <a:xfrm>
            <a:off x="7040880" y="5202936"/>
            <a:ext cx="4480560" cy="274320"/>
          </a:xfrm>
          <a:prstGeom prst="rect">
            <a:avLst/>
          </a:prstGeom>
          <a:noFill/>
          <a:ln/>
        </p:spPr>
        <p:txBody>
          <a:bodyPr wrap="square" lIns="0" tIns="0" rIns="0" bIns="0" rtlCol="0" anchor="t"/>
          <a:lstStyle/>
          <a:p>
            <a:pPr indent="0" marL="0">
              <a:buNone/>
            </a:pPr>
            <a:r>
              <a:rPr lang="en-US" sz="1500" b="1" dirty="0">
                <a:solidFill>
                  <a:srgbClr val="EFE4D2"/>
                </a:solidFill>
                <a:latin typeface="Calibri" pitchFamily="34" charset="0"/>
                <a:ea typeface="Calibri" pitchFamily="34" charset="-122"/>
                <a:cs typeface="Calibri" pitchFamily="34" charset="-120"/>
              </a:rPr>
              <a:t>Patient satisfaction</a:t>
            </a:r>
            <a:endParaRPr lang="en-US" sz="1500" dirty="0"/>
          </a:p>
        </p:txBody>
      </p:sp>
      <p:sp>
        <p:nvSpPr>
          <p:cNvPr id="47" name="Text 40"/>
          <p:cNvSpPr txBox="1"/>
          <p:nvPr/>
        </p:nvSpPr>
        <p:spPr>
          <a:xfrm>
            <a:off x="7040880" y="5486400"/>
            <a:ext cx="4480560" cy="274320"/>
          </a:xfrm>
          <a:prstGeom prst="rect">
            <a:avLst/>
          </a:prstGeom>
          <a:noFill/>
          <a:ln/>
        </p:spPr>
        <p:txBody>
          <a:bodyPr wrap="square" lIns="0" tIns="0" rIns="0" bIns="0" rtlCol="0" anchor="t"/>
          <a:lstStyle/>
          <a:p>
            <a:pPr indent="0" marL="0">
              <a:buNone/>
            </a:pPr>
            <a:r>
              <a:rPr lang="en-US" sz="1200" dirty="0">
                <a:solidFill>
                  <a:srgbClr val="A89A86"/>
                </a:solidFill>
                <a:latin typeface="Calibri" pitchFamily="34" charset="0"/>
                <a:ea typeface="Calibri" pitchFamily="34" charset="-122"/>
                <a:cs typeface="Calibri" pitchFamily="34" charset="-120"/>
              </a:rPr>
              <a:t>Feedback score after each visit</a:t>
            </a:r>
            <a:endParaRPr lang="en-US" sz="1200" dirty="0"/>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A08"/>
        </a:solidFill>
      </p:bgPr>
    </p:bg>
    <p:spTree>
      <p:nvGrpSpPr>
        <p:cNvPr id="1" name=""/>
        <p:cNvGrpSpPr/>
        <p:nvPr/>
      </p:nvGrpSpPr>
      <p:grpSpPr>
        <a:xfrm>
          <a:off x="0" y="0"/>
          <a:ext cx="0" cy="0"/>
          <a:chOff x="0" y="0"/>
          <a:chExt cx="0" cy="0"/>
        </a:xfrm>
      </p:grpSpPr>
      <p:pic>
        <p:nvPicPr>
          <p:cNvPr id="2" name="Image 0" descr="bg/titl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6400800"/>
            <a:ext cx="5486400" cy="228600"/>
          </a:xfrm>
          <a:prstGeom prst="rect">
            <a:avLst/>
          </a:prstGeom>
          <a:noFill/>
          <a:ln/>
        </p:spPr>
        <p:txBody>
          <a:bodyPr wrap="square" lIns="0" tIns="0" rIns="0" bIns="0" rtlCol="0" anchor="t"/>
          <a:lstStyle/>
          <a:p>
            <a:pPr indent="0" marL="0">
              <a:buNone/>
            </a:pPr>
            <a:r>
              <a:rPr lang="en-US" sz="900" spc="300" kern="0" dirty="0">
                <a:solidFill>
                  <a:srgbClr val="6E6253"/>
                </a:solidFill>
                <a:latin typeface="Calibri" pitchFamily="34" charset="0"/>
                <a:ea typeface="Calibri" pitchFamily="34" charset="-122"/>
                <a:cs typeface="Calibri" pitchFamily="34" charset="-120"/>
              </a:rPr>
              <a:t>SMART PATIENT FLOW  ·  18</a:t>
            </a:r>
            <a:endParaRPr lang="en-US" sz="900" dirty="0"/>
          </a:p>
        </p:txBody>
      </p:sp>
      <p:sp>
        <p:nvSpPr>
          <p:cNvPr id="4" name="Text 1"/>
          <p:cNvSpPr txBox="1"/>
          <p:nvPr/>
        </p:nvSpPr>
        <p:spPr>
          <a:xfrm>
            <a:off x="640080" y="1463040"/>
            <a:ext cx="8229600" cy="274320"/>
          </a:xfrm>
          <a:prstGeom prst="rect">
            <a:avLst/>
          </a:prstGeom>
          <a:noFill/>
          <a:ln/>
        </p:spPr>
        <p:txBody>
          <a:bodyPr wrap="square" lIns="0" tIns="0" rIns="0" bIns="0" rtlCol="0" anchor="t"/>
          <a:lstStyle/>
          <a:p>
            <a:pPr indent="0" marL="0">
              <a:buNone/>
            </a:pPr>
            <a:r>
              <a:rPr lang="en-US" sz="1200" b="1" spc="400" kern="0" dirty="0">
                <a:solidFill>
                  <a:srgbClr val="C8923C"/>
                </a:solidFill>
                <a:latin typeface="Calibri" pitchFamily="34" charset="0"/>
                <a:ea typeface="Calibri" pitchFamily="34" charset="-122"/>
                <a:cs typeface="Calibri" pitchFamily="34" charset="-120"/>
              </a:rPr>
              <a:t>CONCLUSION</a:t>
            </a:r>
            <a:endParaRPr lang="en-US" sz="1200" dirty="0"/>
          </a:p>
        </p:txBody>
      </p:sp>
      <p:sp>
        <p:nvSpPr>
          <p:cNvPr id="5" name="Text 2"/>
          <p:cNvSpPr txBox="1"/>
          <p:nvPr/>
        </p:nvSpPr>
        <p:spPr>
          <a:xfrm>
            <a:off x="640080" y="1920240"/>
            <a:ext cx="10058400" cy="2011680"/>
          </a:xfrm>
          <a:prstGeom prst="rect">
            <a:avLst/>
          </a:prstGeom>
          <a:noFill/>
          <a:ln/>
        </p:spPr>
        <p:txBody>
          <a:bodyPr wrap="square" lIns="0" tIns="0" rIns="0" bIns="0" rtlCol="0" anchor="t"/>
          <a:lstStyle/>
          <a:p>
            <a:pPr indent="0" marL="0">
              <a:lnSpc>
                <a:spcPct val="100000"/>
              </a:lnSpc>
              <a:buNone/>
            </a:pPr>
            <a:r>
              <a:rPr lang="en-US" sz="5600" b="1" dirty="0">
                <a:solidFill>
                  <a:srgbClr val="EFE4D2"/>
                </a:solidFill>
                <a:latin typeface="Cambria" pitchFamily="34" charset="0"/>
                <a:ea typeface="Cambria" pitchFamily="34" charset="-122"/>
                <a:cs typeface="Cambria" pitchFamily="34" charset="-120"/>
              </a:rPr>
              <a:t>AI takes the queue.</a:t>
            </a:r>
            <a:endParaRPr lang="en-US" sz="5600" dirty="0"/>
          </a:p>
          <a:p>
            <a:pPr indent="0" marL="0">
              <a:lnSpc>
                <a:spcPct val="100000"/>
              </a:lnSpc>
              <a:buNone/>
            </a:pPr>
            <a:r>
              <a:rPr lang="en-US" sz="5600" b="1" dirty="0">
                <a:solidFill>
                  <a:srgbClr val="EFE4D2"/>
                </a:solidFill>
                <a:latin typeface="Cambria" pitchFamily="34" charset="0"/>
                <a:ea typeface="Cambria" pitchFamily="34" charset="-122"/>
                <a:cs typeface="Cambria" pitchFamily="34" charset="-120"/>
              </a:rPr>
              <a:t>Doctors take the </a:t>
            </a:r>
            <a:pPr indent="0" marL="0">
              <a:lnSpc>
                <a:spcPct val="100000"/>
              </a:lnSpc>
              <a:buNone/>
            </a:pPr>
            <a:r>
              <a:rPr lang="en-US" sz="5600" b="1" i="1" dirty="0">
                <a:solidFill>
                  <a:srgbClr val="F2CD83"/>
                </a:solidFill>
                <a:latin typeface="Cambria" pitchFamily="34" charset="0"/>
                <a:ea typeface="Cambria" pitchFamily="34" charset="-122"/>
                <a:cs typeface="Cambria" pitchFamily="34" charset="-120"/>
              </a:rPr>
              <a:t>care.</a:t>
            </a:r>
            <a:endParaRPr lang="en-US" sz="5600" dirty="0"/>
          </a:p>
        </p:txBody>
      </p:sp>
      <p:sp>
        <p:nvSpPr>
          <p:cNvPr id="6" name="Text 3"/>
          <p:cNvSpPr txBox="1"/>
          <p:nvPr/>
        </p:nvSpPr>
        <p:spPr>
          <a:xfrm>
            <a:off x="640080" y="4069080"/>
            <a:ext cx="7315200" cy="457200"/>
          </a:xfrm>
          <a:prstGeom prst="rect">
            <a:avLst/>
          </a:prstGeom>
          <a:noFill/>
          <a:ln/>
        </p:spPr>
        <p:txBody>
          <a:bodyPr wrap="square" lIns="0" tIns="0" rIns="0" bIns="0" rtlCol="0" anchor="t"/>
          <a:lstStyle/>
          <a:p>
            <a:pPr indent="0" marL="0">
              <a:buNone/>
            </a:pPr>
            <a:r>
              <a:rPr lang="en-US" sz="2000" dirty="0">
                <a:solidFill>
                  <a:srgbClr val="A89A86"/>
                </a:solidFill>
                <a:latin typeface="Calibri" pitchFamily="34" charset="0"/>
                <a:ea typeface="Calibri" pitchFamily="34" charset="-122"/>
                <a:cs typeface="Calibri" pitchFamily="34" charset="-120"/>
              </a:rPr>
              <a:t>Shorter waits, safer decisions, and more doctor time for every patient.</a:t>
            </a:r>
            <a:endParaRPr lang="en-US" sz="2000" dirty="0"/>
          </a:p>
        </p:txBody>
      </p:sp>
      <p:sp>
        <p:nvSpPr>
          <p:cNvPr id="7" name="Text 4"/>
          <p:cNvSpPr txBox="1"/>
          <p:nvPr/>
        </p:nvSpPr>
        <p:spPr>
          <a:xfrm>
            <a:off x="640080" y="5120640"/>
            <a:ext cx="8229600" cy="731520"/>
          </a:xfrm>
          <a:prstGeom prst="rect">
            <a:avLst/>
          </a:prstGeom>
          <a:noFill/>
          <a:ln/>
        </p:spPr>
        <p:txBody>
          <a:bodyPr wrap="square" lIns="0" tIns="0" rIns="0" bIns="0" rtlCol="0" anchor="t"/>
          <a:lstStyle/>
          <a:p>
            <a:pPr indent="0" marL="0">
              <a:buNone/>
            </a:pPr>
            <a:r>
              <a:rPr lang="en-US" sz="3200" b="1" i="1" dirty="0">
                <a:solidFill>
                  <a:srgbClr val="F2CD83"/>
                </a:solidFill>
                <a:latin typeface="Cambria" pitchFamily="34" charset="0"/>
                <a:ea typeface="Cambria" pitchFamily="34" charset="-122"/>
                <a:cs typeface="Cambria" pitchFamily="34" charset="-120"/>
              </a:rPr>
              <a:t>Thank you</a:t>
            </a:r>
            <a:pPr indent="0" marL="0">
              <a:buNone/>
            </a:pPr>
            <a:r>
              <a:rPr lang="en-US" sz="3200" b="1" dirty="0">
                <a:solidFill>
                  <a:srgbClr val="EFE4D2"/>
                </a:solidFill>
                <a:latin typeface="Cambria" pitchFamily="34" charset="0"/>
                <a:ea typeface="Cambria" pitchFamily="34" charset="-122"/>
                <a:cs typeface="Cambria" pitchFamily="34" charset="-120"/>
              </a:rPr>
              <a:t>   ·   Questions?</a:t>
            </a:r>
            <a:endParaRPr lang="en-US" sz="3200" dirty="0"/>
          </a:p>
        </p:txBody>
      </p:sp>
      <p:sp>
        <p:nvSpPr>
          <p:cNvPr id="8" name="Text 5"/>
          <p:cNvSpPr txBox="1"/>
          <p:nvPr/>
        </p:nvSpPr>
        <p:spPr>
          <a:xfrm>
            <a:off x="640080" y="5943600"/>
            <a:ext cx="3657600" cy="320040"/>
          </a:xfrm>
          <a:prstGeom prst="rect">
            <a:avLst/>
          </a:prstGeom>
          <a:noFill/>
          <a:ln/>
        </p:spPr>
        <p:txBody>
          <a:bodyPr wrap="square" lIns="0" tIns="0" rIns="0" bIns="0" rtlCol="0" anchor="t"/>
          <a:lstStyle/>
          <a:p>
            <a:pPr indent="0" marL="0">
              <a:buNone/>
            </a:pPr>
            <a:r>
              <a:rPr lang="en-US" sz="1400" b="1" dirty="0">
                <a:solidFill>
                  <a:srgbClr val="A89A86"/>
                </a:solidFill>
                <a:latin typeface="Calibri" pitchFamily="34" charset="0"/>
                <a:ea typeface="Calibri" pitchFamily="34" charset="-122"/>
                <a:cs typeface="Calibri" pitchFamily="34" charset="-120"/>
              </a:rPr>
              <a:t>Faraz</a:t>
            </a:r>
            <a:endParaRPr lang="en-US" sz="1400" dirty="0"/>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Patient Flow</dc:title>
  <dc:subject>PptxGenJS Presentation</dc:subject>
  <dc:creator>Faraz</dc:creator>
  <cp:lastModifiedBy>Faraz</cp:lastModifiedBy>
  <cp:revision>1</cp:revision>
  <dcterms:created xsi:type="dcterms:W3CDTF">2026-09-21T18:21:47Z</dcterms:created>
  <dcterms:modified xsi:type="dcterms:W3CDTF">2026-09-21T18:21:47Z</dcterms:modified>
</cp:coreProperties>
</file>